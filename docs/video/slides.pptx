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0:00–0:20 | Scheduled IR to RTX 5090</a:t>
            </a:r>
          </a:p>
          <a:p/>
          <a:p>
            <a:r>
              <a:t>A fast GPU still needs a good schedule. We built Deuteron to compile scheduled Emmy Kernel IR into PTX for the RTX 5090. We reduce repeated work and memory traffic while preserving each workload's original launch, inputs, and numerical tolerances.</a:t>
            </a:r>
          </a:p>
          <a:p/>
          <a:p>
            <a:r>
              <a:t>VISUAL: Show Deuteron, Scheduled Emmy Kernel IR → PTX, and RTX 5090. Reveal a short line: same launch, inputs, and tolerances. Keep the opening uncluttered.</a:t>
            </a:r>
          </a:p>
          <a:p/>
          <a:p>
            <a:r>
              <a:t>Evidence: README.md and benchmarks/*-2026-10-24-r6.json. Demo capture: docs/video/demo/capture/. Timings are rehearsal cues; align the edit to the recorded voice.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0:20–0:50 | Structure, guards, and LLVM</a:t>
            </a:r>
          </a:p>
          <a:p/>
          <a:p>
            <a:r>
              <a:t>First, we validate the kernel and launch metadata. Custom passes then recognize reusable loads, cooperative reductions, and matrix pipelines. Each rewrite checks shapes, ownership, and dependencies; if its proof fails, supported code keeps the generic path. We lower the result into typed LLVM IR. LLVM supplies optimization and the NVPTX backend; our contribution is the GPU analysis, guarded transformations, and lowering.</a:t>
            </a:r>
          </a:p>
          <a:p/>
          <a:p>
            <a:r>
              <a:t>VISUAL: Reveal the pipeline left to right: IR + launch metadata → validation and custom GPU passes → typed LLVM IR → LLVM optimization and NVPTX → PTX. Highlight reuse, reductions, and matrix staging. Keep the LLVM/NVPTX credit visible.</a:t>
            </a:r>
          </a:p>
          <a:p/>
          <a:p>
            <a:r>
              <a:t>Evidence: README.md and benchmarks/*-2026-10-24-r6.json. Demo capture: docs/video/demo/capture/. Timings are rehearsal cues; align the edit to the recorded voice.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0:50–1:25 | Tensor cores, copies, and types</a:t>
            </a:r>
          </a:p>
          <a:p/>
          <a:p>
            <a:r>
              <a:t>For matrix multiplication, we use compensated BF16x3 or TF32x3 tensor products. Buffers and accumulation stay FP32; lower precision is internal, and these modes remain approximations. Ordinary FP32 multiplication is available too. Asynchronous global-to-shared copies, with explicit waits and barriers, let computation overlap data movement. A separate FP16 storage path provides exact widening and nearest-even narrowing, with explicit FP32 arithmetic. The focus is reducing memory traffic and feeding the hardware effectively.</a:t>
            </a:r>
          </a:p>
          <a:p/>
          <a:p>
            <a:r>
              <a:t>VISUAL: Use three columns: BF16x3 / TF32x3 tensor products, cp.async + waits/barriers, and FP16 storage → FP32 arithmetic. Label tensor buffers and accumulation FP32, internal approximate operands, and the ordinary FP32 option. Optional small copy label: 4 / 8 / 16 bytes.</a:t>
            </a:r>
          </a:p>
          <a:p/>
          <a:p>
            <a:r>
              <a:t>Evidence: README.md and benchmarks/*-2026-10-24-r6.json. Demo capture: docs/video/demo/capture/. Timings are rehearsal cues; align the edit to the recorded voice.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1:25–1:50 | Compile it, inspect it</a:t>
            </a:r>
          </a:p>
          <a:p/>
          <a:p>
            <a:r>
              <a:t>Let's compile the standalone matrix example in TF32x3 mode for the 5090. Compilation runs on the CPU, using only the scheduled IR and its adjacent launch metadata. The generated PTX contains mma.sync tensor instructions and cp.async copies. These are actual compiler outputs. This command only compiles; GPU correctness is tested separately.</a:t>
            </a:r>
          </a:p>
          <a:p/>
          <a:p>
            <a:r>
              <a:t>VISUAL: Show the real terminal capture from docs/video/demo/capture/transcript.txt. Recording command: python docs/video/demo/run.py --output /tmp/deuteron-video-demo. Highlight the emitted mma.sync.aligned.m16n8k8.row.col.f32.tf32.tf32.f32 and cp.async.cg.shared.global instructions. Keep a Compile-only · SM120/O3 · TF32x3 label visible; do not imply live GPU execution or numerical checking.</a:t>
            </a:r>
          </a:p>
          <a:p/>
          <a:p>
            <a:r>
              <a:t>Evidence: README.md and benchmarks/*-2026-10-24-r6.json. Demo capture: docs/video/demo/capture/. Timings are rehearsal cues; align the edit to the recorded voice.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1:50–2:30 | Measured on the open set</a:t>
            </a:r>
          </a:p>
          <a:p/>
          <a:p>
            <a:r>
              <a:t>Across fifteen open workloads, Deuteron's geometric mean warm latency is three point seven five microseconds. That's a one point six six times speedup over generated CUDA compiled with NVCC, and one point one five times over the tested Triton baseline. We used two hundred seventy calls with balanced execution order, checking every output against the original references and tolerances. Raw samples and artifacts are included. Compilation, assembly, and network time are excluded. These are warm kernel timings on this set, with a limited Triton search.</a:t>
            </a:r>
          </a:p>
          <a:p/>
          <a:p>
            <a:r>
              <a:t>VISUAL: Show warm geometric-mean latency bars: Deuteron 3.752 µs, NVCC 6.216 µs, tested Triton 4.332 µs. Headline Deuteron speedups: 1.66× / 1.15×. Footer: 15 open workloads · 270 balanced warm calls · all original output checks pass. Small method detail: 20 warmups / 200 iterations per call. Link the round-6 raw results; do not mix in the separate cold profile.</a:t>
            </a:r>
          </a:p>
          <a:p/>
          <a:p>
            <a:r>
              <a:t>Evidence: README.md and benchmarks/*-2026-10-24-r6.json. Demo capture: docs/video/demo/capture/. Timings are rehearsal cues; align the edit to the recorded voice.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2:30–2:55 | Reliability and an explicit scope</a:t>
            </a:r>
          </a:p>
          <a:p/>
          <a:p>
            <a:r>
              <a:t>We also ship an installable command, restricted parsing, validated interfaces, and corruption-tolerant caches. All one hundred and three tests passed with GPU checks enabled on H100; eleven feature examples passed on the 5090. Scope stays explicit: supported scheduled IR and documented numerical modes. Deuteron makes GPU compiler decisions visible, reproducible, and measurable.</a:t>
            </a:r>
          </a:p>
          <a:p/>
          <a:p>
            <a:r>
              <a:t>VISUAL: Show restricted parsing, validated interfaces, bounded memory cache, and atomic checked disk records. Separate validation labels: 103 tests with GPU checks enabled on H100; 11 native RTX 5090 examples. Close with Supported scheduled IR · Reproducible evidence and a readable repository label. Keep this slide unchanged for the five-second silent end hold.</a:t>
            </a:r>
          </a:p>
          <a:p/>
          <a:p>
            <a:r>
              <a:t>Evidence: README.md and benchmarks/*-2026-10-24-r6.json. Demo capture: docs/video/demo/capture/. Timings are rehearsal cues; align the edit to the recorded voice.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C1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19100"/>
            <a:ext cx="304800" cy="444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1400" y="336550"/>
            <a:ext cx="44450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5CE4BF"/>
                </a:solidFill>
                <a:latin typeface="DejaVu Sans"/>
              </a:rPr>
              <a:t>DEUTERON</a:t>
            </a:r>
          </a:p>
        </p:txBody>
      </p:sp>
      <p:sp>
        <p:nvSpPr>
          <p:cNvPr id="5" name="TextBox 4"/>
          <p:cNvSpPr txBox="1"/>
          <p:nvPr/>
        </p:nvSpPr>
        <p:spPr>
          <a:xfrm>
            <a:off x="10572750" y="336550"/>
            <a:ext cx="952500" cy="241300"/>
          </a:xfrm>
          <a:prstGeom prst="rect">
            <a:avLst/>
          </a:prstGeom>
          <a:noFill/>
        </p:spPr>
        <p:txBody>
          <a:bodyPr wrap="none" lIns="0" rIns="0" tIns="0" bIns="0" anchor="t">
            <a:noAutofit/>
          </a:bodyPr>
          <a:lstStyle/>
          <a:p>
            <a:pPr algn="r">
              <a:lnSpc>
                <a:spcPts val="1500"/>
              </a:lnSpc>
              <a:spcBef>
                <a:spcPts val="0"/>
              </a:spcBef>
              <a:spcAft>
                <a:spcPts val="0"/>
              </a:spcAft>
            </a:pPr>
            <a:r>
              <a:rPr b="0" sz="1250">
                <a:solidFill>
                  <a:srgbClr val="A7B8CF"/>
                </a:solidFill>
                <a:latin typeface="DejaVu Sans"/>
              </a:rPr>
              <a:t>01 / 06</a:t>
            </a:r>
          </a:p>
        </p:txBody>
      </p:sp>
      <p:cxnSp>
        <p:nvCxnSpPr>
          <p:cNvPr id="6" name="Connector 5"/>
          <p:cNvCxnSpPr/>
          <p:nvPr/>
        </p:nvCxnSpPr>
        <p:spPr>
          <a:xfrm>
            <a:off x="609600" y="6375400"/>
            <a:ext cx="1097280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35000" y="6496050"/>
            <a:ext cx="6032500" cy="218440"/>
          </a:xfrm>
          <a:prstGeom prst="rect">
            <a:avLst/>
          </a:prstGeom>
          <a:noFill/>
        </p:spPr>
        <p:txBody>
          <a:bodyPr wrap="none" lIns="0" rIns="0" tIns="0" bIns="0" anchor="t">
            <a:noAutofit/>
          </a:bodyPr>
          <a:lstStyle/>
          <a:p>
            <a:pPr>
              <a:lnSpc>
                <a:spcPts val="1320"/>
              </a:lnSpc>
              <a:spcBef>
                <a:spcPts val="0"/>
              </a:spcBef>
              <a:spcAft>
                <a:spcPts val="0"/>
              </a:spcAft>
            </a:pPr>
            <a:r>
              <a:rPr b="0" sz="1100">
                <a:solidFill>
                  <a:srgbClr val="A7B8CF"/>
                </a:solidFill>
                <a:latin typeface="DejaVu Sans"/>
              </a:rPr>
              <a:t>Scheduled Emmy IR → NVIDIA PTX</a:t>
            </a:r>
          </a:p>
        </p:txBody>
      </p:sp>
      <p:sp>
        <p:nvSpPr>
          <p:cNvPr id="8" name="TextBox 7"/>
          <p:cNvSpPr txBox="1"/>
          <p:nvPr/>
        </p:nvSpPr>
        <p:spPr>
          <a:xfrm>
            <a:off x="8699500" y="6496050"/>
            <a:ext cx="2857500" cy="218440"/>
          </a:xfrm>
          <a:prstGeom prst="rect">
            <a:avLst/>
          </a:prstGeom>
          <a:noFill/>
        </p:spPr>
        <p:txBody>
          <a:bodyPr wrap="none" lIns="0" rIns="0" tIns="0" bIns="0" anchor="t">
            <a:noAutofit/>
          </a:bodyPr>
          <a:lstStyle/>
          <a:p>
            <a:pPr algn="r">
              <a:lnSpc>
                <a:spcPts val="1320"/>
              </a:lnSpc>
              <a:spcBef>
                <a:spcPts val="0"/>
              </a:spcBef>
              <a:spcAft>
                <a:spcPts val="0"/>
              </a:spcAft>
            </a:pPr>
            <a:r>
              <a:rPr b="0" sz="1100">
                <a:solidFill>
                  <a:srgbClr val="A7B8CF"/>
                </a:solidFill>
                <a:latin typeface="DejaVu Sans"/>
              </a:rPr>
              <a:t>RTX 5090  /  SM120</a:t>
            </a:r>
          </a:p>
        </p:txBody>
      </p:sp>
      <p:sp>
        <p:nvSpPr>
          <p:cNvPr id="9" name="Rounded Rectangle 8"/>
          <p:cNvSpPr/>
          <p:nvPr/>
        </p:nvSpPr>
        <p:spPr>
          <a:xfrm>
            <a:off x="8699500" y="1054100"/>
            <a:ext cx="2857500" cy="431800"/>
          </a:xfrm>
          <a:prstGeom prst="roundRect">
            <a:avLst>
              <a:gd name="adj" fmla="val 32352"/>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90000" y="1174750"/>
            <a:ext cx="2540000" cy="256540"/>
          </a:xfrm>
          <a:prstGeom prst="rect">
            <a:avLst/>
          </a:prstGeom>
          <a:noFill/>
        </p:spPr>
        <p:txBody>
          <a:bodyPr wrap="none" lIns="0" rIns="0" tIns="0" bIns="0" anchor="t">
            <a:noAutofit/>
          </a:bodyPr>
          <a:lstStyle/>
          <a:p>
            <a:pPr>
              <a:lnSpc>
                <a:spcPts val="1620"/>
              </a:lnSpc>
              <a:spcBef>
                <a:spcPts val="0"/>
              </a:spcBef>
              <a:spcAft>
                <a:spcPts val="0"/>
              </a:spcAft>
            </a:pPr>
            <a:r>
              <a:rPr b="1" sz="1350">
                <a:solidFill>
                  <a:srgbClr val="95B4FF"/>
                </a:solidFill>
                <a:latin typeface="DejaVu Sans"/>
              </a:rPr>
              <a:t>GPU COMPILER · v0.1.0</a:t>
            </a:r>
          </a:p>
        </p:txBody>
      </p:sp>
      <p:sp>
        <p:nvSpPr>
          <p:cNvPr id="11" name="TextBox 10"/>
          <p:cNvSpPr txBox="1"/>
          <p:nvPr/>
        </p:nvSpPr>
        <p:spPr>
          <a:xfrm>
            <a:off x="698500" y="1555750"/>
            <a:ext cx="10477500" cy="1224280"/>
          </a:xfrm>
          <a:prstGeom prst="rect">
            <a:avLst/>
          </a:prstGeom>
          <a:noFill/>
        </p:spPr>
        <p:txBody>
          <a:bodyPr wrap="none" lIns="0" rIns="0" tIns="0" bIns="0" anchor="t">
            <a:noAutofit/>
          </a:bodyPr>
          <a:lstStyle/>
          <a:p>
            <a:pPr>
              <a:lnSpc>
                <a:spcPts val="9240"/>
              </a:lnSpc>
              <a:spcBef>
                <a:spcPts val="0"/>
              </a:spcBef>
              <a:spcAft>
                <a:spcPts val="0"/>
              </a:spcAft>
            </a:pPr>
            <a:r>
              <a:rPr b="1" sz="7700">
                <a:solidFill>
                  <a:srgbClr val="F1F5FA"/>
                </a:solidFill>
                <a:latin typeface="DejaVu Sans"/>
              </a:rPr>
              <a:t>Deuteron</a:t>
            </a:r>
          </a:p>
        </p:txBody>
      </p:sp>
      <p:sp>
        <p:nvSpPr>
          <p:cNvPr id="12" name="TextBox 11"/>
          <p:cNvSpPr txBox="1"/>
          <p:nvPr/>
        </p:nvSpPr>
        <p:spPr>
          <a:xfrm>
            <a:off x="762000" y="2908300"/>
            <a:ext cx="10604500" cy="424180"/>
          </a:xfrm>
          <a:prstGeom prst="rect">
            <a:avLst/>
          </a:prstGeom>
          <a:noFill/>
        </p:spPr>
        <p:txBody>
          <a:bodyPr wrap="none" lIns="0" rIns="0" tIns="0" bIns="0" anchor="t">
            <a:noAutofit/>
          </a:bodyPr>
          <a:lstStyle/>
          <a:p>
            <a:pPr>
              <a:lnSpc>
                <a:spcPts val="2940"/>
              </a:lnSpc>
              <a:spcBef>
                <a:spcPts val="0"/>
              </a:spcBef>
              <a:spcAft>
                <a:spcPts val="0"/>
              </a:spcAft>
            </a:pPr>
            <a:r>
              <a:rPr b="0" sz="2450">
                <a:solidFill>
                  <a:srgbClr val="A7B8CF"/>
                </a:solidFill>
                <a:latin typeface="DejaVu Sans"/>
              </a:rPr>
              <a:t>Scheduled Emmy IR → NVIDIA PTX</a:t>
            </a:r>
          </a:p>
        </p:txBody>
      </p:sp>
      <p:sp>
        <p:nvSpPr>
          <p:cNvPr id="13" name="TextBox 12"/>
          <p:cNvSpPr txBox="1"/>
          <p:nvPr/>
        </p:nvSpPr>
        <p:spPr>
          <a:xfrm>
            <a:off x="762000" y="3479800"/>
            <a:ext cx="10668000" cy="347980"/>
          </a:xfrm>
          <a:prstGeom prst="rect">
            <a:avLst/>
          </a:prstGeom>
          <a:noFill/>
        </p:spPr>
        <p:txBody>
          <a:bodyPr wrap="none" lIns="0" rIns="0" tIns="0" bIns="0" anchor="t">
            <a:noAutofit/>
          </a:bodyPr>
          <a:lstStyle/>
          <a:p>
            <a:pPr>
              <a:lnSpc>
                <a:spcPts val="2340"/>
              </a:lnSpc>
              <a:spcBef>
                <a:spcPts val="0"/>
              </a:spcBef>
              <a:spcAft>
                <a:spcPts val="0"/>
              </a:spcAft>
            </a:pPr>
            <a:r>
              <a:rPr b="0" sz="1950">
                <a:solidFill>
                  <a:srgbClr val="F1F5FA"/>
                </a:solidFill>
                <a:latin typeface="DejaVu Sans"/>
              </a:rPr>
              <a:t>Guarded compiler passes for RTX 5090.</a:t>
            </a:r>
          </a:p>
        </p:txBody>
      </p:sp>
      <p:sp>
        <p:nvSpPr>
          <p:cNvPr id="14" name="Rounded Rectangle 13"/>
          <p:cNvSpPr/>
          <p:nvPr/>
        </p:nvSpPr>
        <p:spPr>
          <a:xfrm>
            <a:off x="711200" y="4559300"/>
            <a:ext cx="3429000" cy="1384300"/>
          </a:xfrm>
          <a:prstGeom prst="roundRect">
            <a:avLst>
              <a:gd name="adj" fmla="val 11009"/>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1200" y="4559300"/>
            <a:ext cx="3429000" cy="317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1700" y="4749800"/>
            <a:ext cx="3048000" cy="347980"/>
          </a:xfrm>
          <a:prstGeom prst="rect">
            <a:avLst/>
          </a:prstGeom>
          <a:noFill/>
        </p:spPr>
        <p:txBody>
          <a:bodyPr wrap="none" lIns="0" rIns="0" tIns="0" bIns="0" anchor="t">
            <a:noAutofit/>
          </a:bodyPr>
          <a:lstStyle/>
          <a:p>
            <a:pPr>
              <a:lnSpc>
                <a:spcPts val="2340"/>
              </a:lnSpc>
              <a:spcBef>
                <a:spcPts val="0"/>
              </a:spcBef>
              <a:spcAft>
                <a:spcPts val="0"/>
              </a:spcAft>
            </a:pPr>
            <a:r>
              <a:rPr b="1" sz="1950">
                <a:solidFill>
                  <a:srgbClr val="5CE4BF"/>
                </a:solidFill>
                <a:latin typeface="DejaVu Sans"/>
              </a:rPr>
              <a:t>Tensor cores</a:t>
            </a:r>
          </a:p>
        </p:txBody>
      </p:sp>
      <p:sp>
        <p:nvSpPr>
          <p:cNvPr id="17" name="TextBox 16"/>
          <p:cNvSpPr txBox="1"/>
          <p:nvPr/>
        </p:nvSpPr>
        <p:spPr>
          <a:xfrm>
            <a:off x="901700" y="5175250"/>
            <a:ext cx="3048000" cy="529590"/>
          </a:xfrm>
          <a:prstGeom prst="rect">
            <a:avLst/>
          </a:prstGeom>
          <a:noFill/>
        </p:spPr>
        <p:txBody>
          <a:bodyPr wrap="none" lIns="0" rIns="0" tIns="0" bIns="0" anchor="t">
            <a:noAutofit/>
          </a:bodyPr>
          <a:lstStyle/>
          <a:p>
            <a:pPr>
              <a:lnSpc>
                <a:spcPts val="1885"/>
              </a:lnSpc>
              <a:spcBef>
                <a:spcPts val="0"/>
              </a:spcBef>
              <a:spcAft>
                <a:spcPts val="0"/>
              </a:spcAft>
            </a:pPr>
            <a:r>
              <a:rPr b="0" sz="1450">
                <a:solidFill>
                  <a:srgbClr val="F1F5FA"/>
                </a:solidFill>
                <a:latin typeface="DejaVu Sans"/>
              </a:rPr>
              <a:t>BF16x3 + TF32x3</a:t>
            </a:r>
          </a:p>
          <a:p>
            <a:pPr>
              <a:lnSpc>
                <a:spcPts val="1885"/>
              </a:lnSpc>
              <a:spcBef>
                <a:spcPts val="0"/>
              </a:spcBef>
              <a:spcAft>
                <a:spcPts val="0"/>
              </a:spcAft>
            </a:pPr>
            <a:r>
              <a:rPr b="0" sz="1450">
                <a:solidFill>
                  <a:srgbClr val="F1F5FA"/>
                </a:solidFill>
                <a:latin typeface="DejaVu Sans"/>
              </a:rPr>
              <a:t>FP32 accumulation</a:t>
            </a:r>
          </a:p>
        </p:txBody>
      </p:sp>
      <p:sp>
        <p:nvSpPr>
          <p:cNvPr id="18" name="Rounded Rectangle 17"/>
          <p:cNvSpPr/>
          <p:nvPr/>
        </p:nvSpPr>
        <p:spPr>
          <a:xfrm>
            <a:off x="4381500" y="4559300"/>
            <a:ext cx="3429000" cy="1384300"/>
          </a:xfrm>
          <a:prstGeom prst="roundRect">
            <a:avLst>
              <a:gd name="adj" fmla="val 11009"/>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1500" y="4559300"/>
            <a:ext cx="3429000" cy="31750"/>
          </a:xfrm>
          <a:prstGeom prst="rect">
            <a:avLst/>
          </a:prstGeom>
          <a:solidFill>
            <a:srgbClr val="95B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0" y="4749800"/>
            <a:ext cx="3048000" cy="347980"/>
          </a:xfrm>
          <a:prstGeom prst="rect">
            <a:avLst/>
          </a:prstGeom>
          <a:noFill/>
        </p:spPr>
        <p:txBody>
          <a:bodyPr wrap="none" lIns="0" rIns="0" tIns="0" bIns="0" anchor="t">
            <a:noAutofit/>
          </a:bodyPr>
          <a:lstStyle/>
          <a:p>
            <a:pPr>
              <a:lnSpc>
                <a:spcPts val="2340"/>
              </a:lnSpc>
              <a:spcBef>
                <a:spcPts val="0"/>
              </a:spcBef>
              <a:spcAft>
                <a:spcPts val="0"/>
              </a:spcAft>
            </a:pPr>
            <a:r>
              <a:rPr b="1" sz="1950">
                <a:solidFill>
                  <a:srgbClr val="95B4FF"/>
                </a:solidFill>
                <a:latin typeface="DejaVu Sans"/>
              </a:rPr>
              <a:t>Async copies</a:t>
            </a:r>
          </a:p>
        </p:txBody>
      </p:sp>
      <p:sp>
        <p:nvSpPr>
          <p:cNvPr id="21" name="TextBox 20"/>
          <p:cNvSpPr txBox="1"/>
          <p:nvPr/>
        </p:nvSpPr>
        <p:spPr>
          <a:xfrm>
            <a:off x="4572000" y="5175250"/>
            <a:ext cx="3048000" cy="529590"/>
          </a:xfrm>
          <a:prstGeom prst="rect">
            <a:avLst/>
          </a:prstGeom>
          <a:noFill/>
        </p:spPr>
        <p:txBody>
          <a:bodyPr wrap="none" lIns="0" rIns="0" tIns="0" bIns="0" anchor="t">
            <a:noAutofit/>
          </a:bodyPr>
          <a:lstStyle/>
          <a:p>
            <a:pPr>
              <a:lnSpc>
                <a:spcPts val="1885"/>
              </a:lnSpc>
              <a:spcBef>
                <a:spcPts val="0"/>
              </a:spcBef>
              <a:spcAft>
                <a:spcPts val="0"/>
              </a:spcAft>
            </a:pPr>
            <a:r>
              <a:rPr b="0" sz="1450">
                <a:solidFill>
                  <a:srgbClr val="F1F5FA"/>
                </a:solidFill>
                <a:latin typeface="DejaVu Sans"/>
              </a:rPr>
              <a:t>Global → shared memory</a:t>
            </a:r>
          </a:p>
          <a:p>
            <a:pPr>
              <a:lnSpc>
                <a:spcPts val="1885"/>
              </a:lnSpc>
              <a:spcBef>
                <a:spcPts val="0"/>
              </a:spcBef>
              <a:spcAft>
                <a:spcPts val="0"/>
              </a:spcAft>
            </a:pPr>
            <a:r>
              <a:rPr b="0" sz="1450">
                <a:solidFill>
                  <a:srgbClr val="F1F5FA"/>
                </a:solidFill>
                <a:latin typeface="DejaVu Sans"/>
              </a:rPr>
              <a:t>Commit / wait groups</a:t>
            </a:r>
          </a:p>
        </p:txBody>
      </p:sp>
      <p:sp>
        <p:nvSpPr>
          <p:cNvPr id="22" name="Rounded Rectangle 21"/>
          <p:cNvSpPr/>
          <p:nvPr/>
        </p:nvSpPr>
        <p:spPr>
          <a:xfrm>
            <a:off x="8051800" y="4559300"/>
            <a:ext cx="3429000" cy="1384300"/>
          </a:xfrm>
          <a:prstGeom prst="roundRect">
            <a:avLst>
              <a:gd name="adj" fmla="val 11009"/>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51800" y="4559300"/>
            <a:ext cx="3429000" cy="31750"/>
          </a:xfrm>
          <a:prstGeom prst="rect">
            <a:avLst/>
          </a:prstGeom>
          <a:solidFill>
            <a:srgbClr val="F1C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42300" y="4749800"/>
            <a:ext cx="3048000" cy="347980"/>
          </a:xfrm>
          <a:prstGeom prst="rect">
            <a:avLst/>
          </a:prstGeom>
          <a:noFill/>
        </p:spPr>
        <p:txBody>
          <a:bodyPr wrap="none" lIns="0" rIns="0" tIns="0" bIns="0" anchor="t">
            <a:noAutofit/>
          </a:bodyPr>
          <a:lstStyle/>
          <a:p>
            <a:pPr>
              <a:lnSpc>
                <a:spcPts val="2340"/>
              </a:lnSpc>
              <a:spcBef>
                <a:spcPts val="0"/>
              </a:spcBef>
              <a:spcAft>
                <a:spcPts val="0"/>
              </a:spcAft>
            </a:pPr>
            <a:r>
              <a:rPr b="1" sz="1950">
                <a:solidFill>
                  <a:srgbClr val="F1CC83"/>
                </a:solidFill>
                <a:latin typeface="DejaVu Sans"/>
              </a:rPr>
              <a:t>FP16 storage</a:t>
            </a:r>
          </a:p>
        </p:txBody>
      </p:sp>
      <p:sp>
        <p:nvSpPr>
          <p:cNvPr id="25" name="TextBox 24"/>
          <p:cNvSpPr txBox="1"/>
          <p:nvPr/>
        </p:nvSpPr>
        <p:spPr>
          <a:xfrm>
            <a:off x="8242300" y="5175250"/>
            <a:ext cx="3048000" cy="529590"/>
          </a:xfrm>
          <a:prstGeom prst="rect">
            <a:avLst/>
          </a:prstGeom>
          <a:noFill/>
        </p:spPr>
        <p:txBody>
          <a:bodyPr wrap="none" lIns="0" rIns="0" tIns="0" bIns="0" anchor="t">
            <a:noAutofit/>
          </a:bodyPr>
          <a:lstStyle/>
          <a:p>
            <a:pPr>
              <a:lnSpc>
                <a:spcPts val="1885"/>
              </a:lnSpc>
              <a:spcBef>
                <a:spcPts val="0"/>
              </a:spcBef>
              <a:spcAft>
                <a:spcPts val="0"/>
              </a:spcAft>
            </a:pPr>
            <a:r>
              <a:rPr b="0" sz="1450">
                <a:solidFill>
                  <a:srgbClr val="F1F5FA"/>
                </a:solidFill>
                <a:latin typeface="DejaVu Sans"/>
              </a:rPr>
              <a:t>Half storage</a:t>
            </a:r>
          </a:p>
          <a:p>
            <a:pPr>
              <a:lnSpc>
                <a:spcPts val="1885"/>
              </a:lnSpc>
              <a:spcBef>
                <a:spcPts val="0"/>
              </a:spcBef>
              <a:spcAft>
                <a:spcPts val="0"/>
              </a:spcAft>
            </a:pPr>
            <a:r>
              <a:rPr b="0" sz="1450">
                <a:solidFill>
                  <a:srgbClr val="F1F5FA"/>
                </a:solidFill>
                <a:latin typeface="DejaVu Sans"/>
              </a:rPr>
              <a:t>Explicit FP32 arithmetic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C1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19100"/>
            <a:ext cx="304800" cy="444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1400" y="336550"/>
            <a:ext cx="44450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5CE4BF"/>
                </a:solidFill>
                <a:latin typeface="DejaVu Sans"/>
              </a:rPr>
              <a:t>DEUTERON</a:t>
            </a:r>
          </a:p>
        </p:txBody>
      </p:sp>
      <p:sp>
        <p:nvSpPr>
          <p:cNvPr id="5" name="TextBox 4"/>
          <p:cNvSpPr txBox="1"/>
          <p:nvPr/>
        </p:nvSpPr>
        <p:spPr>
          <a:xfrm>
            <a:off x="10572750" y="336550"/>
            <a:ext cx="952500" cy="241300"/>
          </a:xfrm>
          <a:prstGeom prst="rect">
            <a:avLst/>
          </a:prstGeom>
          <a:noFill/>
        </p:spPr>
        <p:txBody>
          <a:bodyPr wrap="none" lIns="0" rIns="0" tIns="0" bIns="0" anchor="t">
            <a:noAutofit/>
          </a:bodyPr>
          <a:lstStyle/>
          <a:p>
            <a:pPr algn="r">
              <a:lnSpc>
                <a:spcPts val="1500"/>
              </a:lnSpc>
              <a:spcBef>
                <a:spcPts val="0"/>
              </a:spcBef>
              <a:spcAft>
                <a:spcPts val="0"/>
              </a:spcAft>
            </a:pPr>
            <a:r>
              <a:rPr b="0" sz="1250">
                <a:solidFill>
                  <a:srgbClr val="A7B8CF"/>
                </a:solidFill>
                <a:latin typeface="DejaVu Sans"/>
              </a:rPr>
              <a:t>02 / 06</a:t>
            </a:r>
          </a:p>
        </p:txBody>
      </p:sp>
      <p:cxnSp>
        <p:nvCxnSpPr>
          <p:cNvPr id="6" name="Connector 5"/>
          <p:cNvCxnSpPr/>
          <p:nvPr/>
        </p:nvCxnSpPr>
        <p:spPr>
          <a:xfrm>
            <a:off x="609600" y="6375400"/>
            <a:ext cx="1097280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35000" y="6496050"/>
            <a:ext cx="6032500" cy="218440"/>
          </a:xfrm>
          <a:prstGeom prst="rect">
            <a:avLst/>
          </a:prstGeom>
          <a:noFill/>
        </p:spPr>
        <p:txBody>
          <a:bodyPr wrap="none" lIns="0" rIns="0" tIns="0" bIns="0" anchor="t">
            <a:noAutofit/>
          </a:bodyPr>
          <a:lstStyle/>
          <a:p>
            <a:pPr>
              <a:lnSpc>
                <a:spcPts val="1320"/>
              </a:lnSpc>
              <a:spcBef>
                <a:spcPts val="0"/>
              </a:spcBef>
              <a:spcAft>
                <a:spcPts val="0"/>
              </a:spcAft>
            </a:pPr>
            <a:r>
              <a:rPr b="0" sz="1100">
                <a:solidFill>
                  <a:srgbClr val="A7B8CF"/>
                </a:solidFill>
                <a:latin typeface="DejaVu Sans"/>
              </a:rPr>
              <a:t>Scheduled Emmy IR → NVIDIA PTX</a:t>
            </a:r>
          </a:p>
        </p:txBody>
      </p:sp>
      <p:sp>
        <p:nvSpPr>
          <p:cNvPr id="8" name="TextBox 7"/>
          <p:cNvSpPr txBox="1"/>
          <p:nvPr/>
        </p:nvSpPr>
        <p:spPr>
          <a:xfrm>
            <a:off x="8699500" y="6496050"/>
            <a:ext cx="2857500" cy="218440"/>
          </a:xfrm>
          <a:prstGeom prst="rect">
            <a:avLst/>
          </a:prstGeom>
          <a:noFill/>
        </p:spPr>
        <p:txBody>
          <a:bodyPr wrap="none" lIns="0" rIns="0" tIns="0" bIns="0" anchor="t">
            <a:noAutofit/>
          </a:bodyPr>
          <a:lstStyle/>
          <a:p>
            <a:pPr algn="r">
              <a:lnSpc>
                <a:spcPts val="1320"/>
              </a:lnSpc>
              <a:spcBef>
                <a:spcPts val="0"/>
              </a:spcBef>
              <a:spcAft>
                <a:spcPts val="0"/>
              </a:spcAft>
            </a:pPr>
            <a:r>
              <a:rPr b="0" sz="1100">
                <a:solidFill>
                  <a:srgbClr val="A7B8CF"/>
                </a:solidFill>
                <a:latin typeface="DejaVu Sans"/>
              </a:rPr>
              <a:t>RTX 5090  /  SM120</a:t>
            </a:r>
          </a:p>
        </p:txBody>
      </p:sp>
      <p:sp>
        <p:nvSpPr>
          <p:cNvPr id="9" name="TextBox 8"/>
          <p:cNvSpPr txBox="1"/>
          <p:nvPr/>
        </p:nvSpPr>
        <p:spPr>
          <a:xfrm>
            <a:off x="685800" y="984250"/>
            <a:ext cx="10795000" cy="599440"/>
          </a:xfrm>
          <a:prstGeom prst="rect">
            <a:avLst/>
          </a:prstGeom>
          <a:noFill/>
        </p:spPr>
        <p:txBody>
          <a:bodyPr wrap="none" lIns="0" rIns="0" tIns="0" bIns="0" anchor="t">
            <a:noAutofit/>
          </a:bodyPr>
          <a:lstStyle/>
          <a:p>
            <a:pPr>
              <a:lnSpc>
                <a:spcPts val="4320"/>
              </a:lnSpc>
              <a:spcBef>
                <a:spcPts val="0"/>
              </a:spcBef>
              <a:spcAft>
                <a:spcPts val="0"/>
              </a:spcAft>
            </a:pPr>
            <a:r>
              <a:rPr b="1" sz="3600">
                <a:solidFill>
                  <a:srgbClr val="F1F5FA"/>
                </a:solidFill>
                <a:latin typeface="DejaVu Sans"/>
              </a:rPr>
              <a:t>From schedule to GPU code</a:t>
            </a:r>
          </a:p>
        </p:txBody>
      </p:sp>
      <p:sp>
        <p:nvSpPr>
          <p:cNvPr id="10" name="TextBox 9"/>
          <p:cNvSpPr txBox="1"/>
          <p:nvPr/>
        </p:nvSpPr>
        <p:spPr>
          <a:xfrm>
            <a:off x="711200" y="1689100"/>
            <a:ext cx="10699750" cy="302260"/>
          </a:xfrm>
          <a:prstGeom prst="rect">
            <a:avLst/>
          </a:prstGeom>
          <a:noFill/>
        </p:spPr>
        <p:txBody>
          <a:bodyPr wrap="none" lIns="0" rIns="0" tIns="0" bIns="0" anchor="t">
            <a:noAutofit/>
          </a:bodyPr>
          <a:lstStyle/>
          <a:p>
            <a:pPr>
              <a:lnSpc>
                <a:spcPts val="1980"/>
              </a:lnSpc>
              <a:spcBef>
                <a:spcPts val="0"/>
              </a:spcBef>
              <a:spcAft>
                <a:spcPts val="0"/>
              </a:spcAft>
            </a:pPr>
            <a:r>
              <a:rPr b="0" sz="1650">
                <a:solidFill>
                  <a:srgbClr val="A7B8CF"/>
                </a:solidFill>
                <a:latin typeface="DejaVu Sans"/>
              </a:rPr>
              <a:t>Program structure and rewrite guards drive the transformations.</a:t>
            </a:r>
          </a:p>
        </p:txBody>
      </p:sp>
      <p:sp>
        <p:nvSpPr>
          <p:cNvPr id="11" name="Rounded Rectangle 10"/>
          <p:cNvSpPr/>
          <p:nvPr/>
        </p:nvSpPr>
        <p:spPr>
          <a:xfrm>
            <a:off x="698500" y="2438400"/>
            <a:ext cx="2476500" cy="1593850"/>
          </a:xfrm>
          <a:prstGeom prst="roundRect">
            <a:avLst>
              <a:gd name="adj" fmla="val 9561"/>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600" y="2609850"/>
            <a:ext cx="635000" cy="264160"/>
          </a:xfrm>
          <a:prstGeom prst="rect">
            <a:avLst/>
          </a:prstGeom>
          <a:noFill/>
        </p:spPr>
        <p:txBody>
          <a:bodyPr wrap="none" lIns="0" rIns="0" tIns="0" bIns="0" anchor="t">
            <a:noAutofit/>
          </a:bodyPr>
          <a:lstStyle/>
          <a:p>
            <a:pPr>
              <a:lnSpc>
                <a:spcPts val="1680"/>
              </a:lnSpc>
              <a:spcBef>
                <a:spcPts val="0"/>
              </a:spcBef>
              <a:spcAft>
                <a:spcPts val="0"/>
              </a:spcAft>
            </a:pPr>
            <a:r>
              <a:rPr b="1" sz="1400">
                <a:solidFill>
                  <a:srgbClr val="5CE4BF"/>
                </a:solidFill>
                <a:latin typeface="DejaVu Sans"/>
              </a:rPr>
              <a:t>01</a:t>
            </a:r>
          </a:p>
        </p:txBody>
      </p:sp>
      <p:sp>
        <p:nvSpPr>
          <p:cNvPr id="13" name="TextBox 12"/>
          <p:cNvSpPr txBox="1"/>
          <p:nvPr/>
        </p:nvSpPr>
        <p:spPr>
          <a:xfrm>
            <a:off x="863600" y="2959100"/>
            <a:ext cx="2197100" cy="302260"/>
          </a:xfrm>
          <a:prstGeom prst="rect">
            <a:avLst/>
          </a:prstGeom>
          <a:noFill/>
        </p:spPr>
        <p:txBody>
          <a:bodyPr wrap="none" lIns="0" rIns="0" tIns="0" bIns="0" anchor="t">
            <a:noAutofit/>
          </a:bodyPr>
          <a:lstStyle/>
          <a:p>
            <a:pPr>
              <a:lnSpc>
                <a:spcPts val="1980"/>
              </a:lnSpc>
              <a:spcBef>
                <a:spcPts val="0"/>
              </a:spcBef>
              <a:spcAft>
                <a:spcPts val="0"/>
              </a:spcAft>
            </a:pPr>
            <a:r>
              <a:rPr b="1" sz="1650">
                <a:solidFill>
                  <a:srgbClr val="F1F5FA"/>
                </a:solidFill>
                <a:latin typeface="DejaVu Sans"/>
              </a:rPr>
              <a:t>Scheduled IR</a:t>
            </a:r>
          </a:p>
        </p:txBody>
      </p:sp>
      <p:sp>
        <p:nvSpPr>
          <p:cNvPr id="14" name="TextBox 13"/>
          <p:cNvSpPr txBox="1"/>
          <p:nvPr/>
        </p:nvSpPr>
        <p:spPr>
          <a:xfrm>
            <a:off x="863600" y="3365500"/>
            <a:ext cx="2197100" cy="495300"/>
          </a:xfrm>
          <a:prstGeom prst="rect">
            <a:avLst/>
          </a:prstGeom>
          <a:noFill/>
        </p:spPr>
        <p:txBody>
          <a:bodyPr wrap="none" lIns="0" rIns="0" tIns="0" bIns="0" anchor="t">
            <a:noAutofit/>
          </a:bodyPr>
          <a:lstStyle/>
          <a:p>
            <a:pPr>
              <a:lnSpc>
                <a:spcPts val="1750"/>
              </a:lnSpc>
              <a:spcBef>
                <a:spcPts val="0"/>
              </a:spcBef>
              <a:spcAft>
                <a:spcPts val="0"/>
              </a:spcAft>
            </a:pPr>
            <a:r>
              <a:rPr b="0" sz="1250">
                <a:solidFill>
                  <a:srgbClr val="A7B8CF"/>
                </a:solidFill>
                <a:latin typeface="DejaVu Sans"/>
              </a:rPr>
              <a:t>Tiles, loops, memory</a:t>
            </a:r>
          </a:p>
          <a:p>
            <a:pPr>
              <a:lnSpc>
                <a:spcPts val="1750"/>
              </a:lnSpc>
              <a:spcBef>
                <a:spcPts val="0"/>
              </a:spcBef>
              <a:spcAft>
                <a:spcPts val="0"/>
              </a:spcAft>
            </a:pPr>
            <a:r>
              <a:rPr b="0" sz="1250">
                <a:solidFill>
                  <a:srgbClr val="A7B8CF"/>
                </a:solidFill>
                <a:latin typeface="DejaVu Sans"/>
              </a:rPr>
              <a:t>+ launch metadata</a:t>
            </a:r>
          </a:p>
        </p:txBody>
      </p:sp>
      <p:cxnSp>
        <p:nvCxnSpPr>
          <p:cNvPr id="15" name="Connector 14"/>
          <p:cNvCxnSpPr/>
          <p:nvPr/>
        </p:nvCxnSpPr>
        <p:spPr>
          <a:xfrm>
            <a:off x="3238500" y="3206750"/>
            <a:ext cx="177800" cy="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346450" y="314325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346450" y="320675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492500" y="2438400"/>
            <a:ext cx="2476500" cy="1593850"/>
          </a:xfrm>
          <a:prstGeom prst="roundRect">
            <a:avLst>
              <a:gd name="adj" fmla="val 9561"/>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0" y="2609850"/>
            <a:ext cx="635000" cy="264160"/>
          </a:xfrm>
          <a:prstGeom prst="rect">
            <a:avLst/>
          </a:prstGeom>
          <a:noFill/>
        </p:spPr>
        <p:txBody>
          <a:bodyPr wrap="none" lIns="0" rIns="0" tIns="0" bIns="0" anchor="t">
            <a:noAutofit/>
          </a:bodyPr>
          <a:lstStyle/>
          <a:p>
            <a:pPr>
              <a:lnSpc>
                <a:spcPts val="1680"/>
              </a:lnSpc>
              <a:spcBef>
                <a:spcPts val="0"/>
              </a:spcBef>
              <a:spcAft>
                <a:spcPts val="0"/>
              </a:spcAft>
            </a:pPr>
            <a:r>
              <a:rPr b="1" sz="1400">
                <a:solidFill>
                  <a:srgbClr val="5CE4BF"/>
                </a:solidFill>
                <a:latin typeface="DejaVu Sans"/>
              </a:rPr>
              <a:t>02</a:t>
            </a:r>
          </a:p>
        </p:txBody>
      </p:sp>
      <p:sp>
        <p:nvSpPr>
          <p:cNvPr id="20" name="TextBox 19"/>
          <p:cNvSpPr txBox="1"/>
          <p:nvPr/>
        </p:nvSpPr>
        <p:spPr>
          <a:xfrm>
            <a:off x="3657600" y="2959100"/>
            <a:ext cx="2197100" cy="302260"/>
          </a:xfrm>
          <a:prstGeom prst="rect">
            <a:avLst/>
          </a:prstGeom>
          <a:noFill/>
        </p:spPr>
        <p:txBody>
          <a:bodyPr wrap="none" lIns="0" rIns="0" tIns="0" bIns="0" anchor="t">
            <a:noAutofit/>
          </a:bodyPr>
          <a:lstStyle/>
          <a:p>
            <a:pPr>
              <a:lnSpc>
                <a:spcPts val="1980"/>
              </a:lnSpc>
              <a:spcBef>
                <a:spcPts val="0"/>
              </a:spcBef>
              <a:spcAft>
                <a:spcPts val="0"/>
              </a:spcAft>
            </a:pPr>
            <a:r>
              <a:rPr b="1" sz="1650">
                <a:solidFill>
                  <a:srgbClr val="F1F5FA"/>
                </a:solidFill>
                <a:latin typeface="DejaVu Sans"/>
              </a:rPr>
              <a:t>Deuteron passes</a:t>
            </a:r>
          </a:p>
        </p:txBody>
      </p:sp>
      <p:sp>
        <p:nvSpPr>
          <p:cNvPr id="21" name="TextBox 20"/>
          <p:cNvSpPr txBox="1"/>
          <p:nvPr/>
        </p:nvSpPr>
        <p:spPr>
          <a:xfrm>
            <a:off x="3657600" y="3365500"/>
            <a:ext cx="2197100" cy="495300"/>
          </a:xfrm>
          <a:prstGeom prst="rect">
            <a:avLst/>
          </a:prstGeom>
          <a:noFill/>
        </p:spPr>
        <p:txBody>
          <a:bodyPr wrap="none" lIns="0" rIns="0" tIns="0" bIns="0" anchor="t">
            <a:noAutofit/>
          </a:bodyPr>
          <a:lstStyle/>
          <a:p>
            <a:pPr>
              <a:lnSpc>
                <a:spcPts val="1750"/>
              </a:lnSpc>
              <a:spcBef>
                <a:spcPts val="0"/>
              </a:spcBef>
              <a:spcAft>
                <a:spcPts val="0"/>
              </a:spcAft>
            </a:pPr>
            <a:r>
              <a:rPr b="0" sz="1250">
                <a:solidFill>
                  <a:srgbClr val="A7B8CF"/>
                </a:solidFill>
                <a:latin typeface="DejaVu Sans"/>
              </a:rPr>
              <a:t>Validate and transform</a:t>
            </a:r>
          </a:p>
          <a:p>
            <a:pPr>
              <a:lnSpc>
                <a:spcPts val="1750"/>
              </a:lnSpc>
              <a:spcBef>
                <a:spcPts val="0"/>
              </a:spcBef>
              <a:spcAft>
                <a:spcPts val="0"/>
              </a:spcAft>
            </a:pPr>
            <a:r>
              <a:rPr b="0" sz="1250">
                <a:solidFill>
                  <a:srgbClr val="A7B8CF"/>
                </a:solidFill>
                <a:latin typeface="DejaVu Sans"/>
              </a:rPr>
              <a:t>Check rewrite legality</a:t>
            </a:r>
          </a:p>
        </p:txBody>
      </p:sp>
      <p:cxnSp>
        <p:nvCxnSpPr>
          <p:cNvPr id="22" name="Connector 21"/>
          <p:cNvCxnSpPr/>
          <p:nvPr/>
        </p:nvCxnSpPr>
        <p:spPr>
          <a:xfrm>
            <a:off x="6032500" y="3206750"/>
            <a:ext cx="177800" cy="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140450" y="314325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0450" y="320675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286500" y="2438400"/>
            <a:ext cx="2476500" cy="1593850"/>
          </a:xfrm>
          <a:prstGeom prst="roundRect">
            <a:avLst>
              <a:gd name="adj" fmla="val 9561"/>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51600" y="2609850"/>
            <a:ext cx="635000" cy="264160"/>
          </a:xfrm>
          <a:prstGeom prst="rect">
            <a:avLst/>
          </a:prstGeom>
          <a:noFill/>
        </p:spPr>
        <p:txBody>
          <a:bodyPr wrap="none" lIns="0" rIns="0" tIns="0" bIns="0" anchor="t">
            <a:noAutofit/>
          </a:bodyPr>
          <a:lstStyle/>
          <a:p>
            <a:pPr>
              <a:lnSpc>
                <a:spcPts val="1680"/>
              </a:lnSpc>
              <a:spcBef>
                <a:spcPts val="0"/>
              </a:spcBef>
              <a:spcAft>
                <a:spcPts val="0"/>
              </a:spcAft>
            </a:pPr>
            <a:r>
              <a:rPr b="1" sz="1400">
                <a:solidFill>
                  <a:srgbClr val="95B4FF"/>
                </a:solidFill>
                <a:latin typeface="DejaVu Sans"/>
              </a:rPr>
              <a:t>03</a:t>
            </a:r>
          </a:p>
        </p:txBody>
      </p:sp>
      <p:sp>
        <p:nvSpPr>
          <p:cNvPr id="27" name="TextBox 26"/>
          <p:cNvSpPr txBox="1"/>
          <p:nvPr/>
        </p:nvSpPr>
        <p:spPr>
          <a:xfrm>
            <a:off x="6451600" y="2959100"/>
            <a:ext cx="2197100" cy="302260"/>
          </a:xfrm>
          <a:prstGeom prst="rect">
            <a:avLst/>
          </a:prstGeom>
          <a:noFill/>
        </p:spPr>
        <p:txBody>
          <a:bodyPr wrap="none" lIns="0" rIns="0" tIns="0" bIns="0" anchor="t">
            <a:noAutofit/>
          </a:bodyPr>
          <a:lstStyle/>
          <a:p>
            <a:pPr>
              <a:lnSpc>
                <a:spcPts val="1980"/>
              </a:lnSpc>
              <a:spcBef>
                <a:spcPts val="0"/>
              </a:spcBef>
              <a:spcAft>
                <a:spcPts val="0"/>
              </a:spcAft>
            </a:pPr>
            <a:r>
              <a:rPr b="1" sz="1650">
                <a:solidFill>
                  <a:srgbClr val="F1F5FA"/>
                </a:solidFill>
                <a:latin typeface="DejaVu Sans"/>
              </a:rPr>
              <a:t>LLVM + NVPTX</a:t>
            </a:r>
          </a:p>
        </p:txBody>
      </p:sp>
      <p:sp>
        <p:nvSpPr>
          <p:cNvPr id="28" name="TextBox 27"/>
          <p:cNvSpPr txBox="1"/>
          <p:nvPr/>
        </p:nvSpPr>
        <p:spPr>
          <a:xfrm>
            <a:off x="6451600" y="3365500"/>
            <a:ext cx="2197100" cy="495300"/>
          </a:xfrm>
          <a:prstGeom prst="rect">
            <a:avLst/>
          </a:prstGeom>
          <a:noFill/>
        </p:spPr>
        <p:txBody>
          <a:bodyPr wrap="none" lIns="0" rIns="0" tIns="0" bIns="0" anchor="t">
            <a:noAutofit/>
          </a:bodyPr>
          <a:lstStyle/>
          <a:p>
            <a:pPr>
              <a:lnSpc>
                <a:spcPts val="1750"/>
              </a:lnSpc>
              <a:spcBef>
                <a:spcPts val="0"/>
              </a:spcBef>
              <a:spcAft>
                <a:spcPts val="0"/>
              </a:spcAft>
            </a:pPr>
            <a:r>
              <a:rPr b="0" sz="1250">
                <a:solidFill>
                  <a:srgbClr val="A7B8CF"/>
                </a:solidFill>
                <a:latin typeface="DejaVu Sans"/>
              </a:rPr>
              <a:t>Optimize typed LLVM IR</a:t>
            </a:r>
          </a:p>
          <a:p>
            <a:pPr>
              <a:lnSpc>
                <a:spcPts val="1750"/>
              </a:lnSpc>
              <a:spcBef>
                <a:spcPts val="0"/>
              </a:spcBef>
              <a:spcAft>
                <a:spcPts val="0"/>
              </a:spcAft>
            </a:pPr>
            <a:r>
              <a:rPr b="0" sz="1250">
                <a:solidFill>
                  <a:srgbClr val="A7B8CF"/>
                </a:solidFill>
                <a:latin typeface="DejaVu Sans"/>
              </a:rPr>
              <a:t>Emit NVIDIA PTX</a:t>
            </a:r>
          </a:p>
        </p:txBody>
      </p:sp>
      <p:cxnSp>
        <p:nvCxnSpPr>
          <p:cNvPr id="29" name="Connector 28"/>
          <p:cNvCxnSpPr/>
          <p:nvPr/>
        </p:nvCxnSpPr>
        <p:spPr>
          <a:xfrm>
            <a:off x="8826500" y="3206750"/>
            <a:ext cx="177800" cy="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934450" y="314325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934450" y="3206750"/>
            <a:ext cx="69850" cy="63500"/>
          </a:xfrm>
          <a:prstGeom prst="line">
            <a:avLst/>
          </a:prstGeom>
          <a:ln w="25400">
            <a:solidFill>
              <a:srgbClr val="5CE4BF"/>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080500" y="2438400"/>
            <a:ext cx="2476500" cy="1593850"/>
          </a:xfrm>
          <a:prstGeom prst="roundRect">
            <a:avLst>
              <a:gd name="adj" fmla="val 9561"/>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45600" y="2609850"/>
            <a:ext cx="635000" cy="264160"/>
          </a:xfrm>
          <a:prstGeom prst="rect">
            <a:avLst/>
          </a:prstGeom>
          <a:noFill/>
        </p:spPr>
        <p:txBody>
          <a:bodyPr wrap="none" lIns="0" rIns="0" tIns="0" bIns="0" anchor="t">
            <a:noAutofit/>
          </a:bodyPr>
          <a:lstStyle/>
          <a:p>
            <a:pPr>
              <a:lnSpc>
                <a:spcPts val="1680"/>
              </a:lnSpc>
              <a:spcBef>
                <a:spcPts val="0"/>
              </a:spcBef>
              <a:spcAft>
                <a:spcPts val="0"/>
              </a:spcAft>
            </a:pPr>
            <a:r>
              <a:rPr b="1" sz="1400">
                <a:solidFill>
                  <a:srgbClr val="F1CC83"/>
                </a:solidFill>
                <a:latin typeface="DejaVu Sans"/>
              </a:rPr>
              <a:t>04</a:t>
            </a:r>
          </a:p>
        </p:txBody>
      </p:sp>
      <p:sp>
        <p:nvSpPr>
          <p:cNvPr id="34" name="TextBox 33"/>
          <p:cNvSpPr txBox="1"/>
          <p:nvPr/>
        </p:nvSpPr>
        <p:spPr>
          <a:xfrm>
            <a:off x="9245600" y="2959100"/>
            <a:ext cx="2197100" cy="302260"/>
          </a:xfrm>
          <a:prstGeom prst="rect">
            <a:avLst/>
          </a:prstGeom>
          <a:noFill/>
        </p:spPr>
        <p:txBody>
          <a:bodyPr wrap="none" lIns="0" rIns="0" tIns="0" bIns="0" anchor="t">
            <a:noAutofit/>
          </a:bodyPr>
          <a:lstStyle/>
          <a:p>
            <a:pPr>
              <a:lnSpc>
                <a:spcPts val="1980"/>
              </a:lnSpc>
              <a:spcBef>
                <a:spcPts val="0"/>
              </a:spcBef>
              <a:spcAft>
                <a:spcPts val="0"/>
              </a:spcAft>
            </a:pPr>
            <a:r>
              <a:rPr b="1" sz="1650">
                <a:solidFill>
                  <a:srgbClr val="F1F5FA"/>
                </a:solidFill>
                <a:latin typeface="DejaVu Sans"/>
              </a:rPr>
              <a:t>CUDA → GPU</a:t>
            </a:r>
          </a:p>
        </p:txBody>
      </p:sp>
      <p:sp>
        <p:nvSpPr>
          <p:cNvPr id="35" name="TextBox 34"/>
          <p:cNvSpPr txBox="1"/>
          <p:nvPr/>
        </p:nvSpPr>
        <p:spPr>
          <a:xfrm>
            <a:off x="9245600" y="3365500"/>
            <a:ext cx="2197100" cy="495300"/>
          </a:xfrm>
          <a:prstGeom prst="rect">
            <a:avLst/>
          </a:prstGeom>
          <a:noFill/>
        </p:spPr>
        <p:txBody>
          <a:bodyPr wrap="none" lIns="0" rIns="0" tIns="0" bIns="0" anchor="t">
            <a:noAutofit/>
          </a:bodyPr>
          <a:lstStyle/>
          <a:p>
            <a:pPr>
              <a:lnSpc>
                <a:spcPts val="1750"/>
              </a:lnSpc>
              <a:spcBef>
                <a:spcPts val="0"/>
              </a:spcBef>
              <a:spcAft>
                <a:spcPts val="0"/>
              </a:spcAft>
            </a:pPr>
            <a:r>
              <a:rPr b="0" sz="1250">
                <a:solidFill>
                  <a:srgbClr val="A7B8CF"/>
                </a:solidFill>
                <a:latin typeface="DejaVu Sans"/>
              </a:rPr>
              <a:t>Assemble and launch</a:t>
            </a:r>
          </a:p>
          <a:p>
            <a:pPr>
              <a:lnSpc>
                <a:spcPts val="1750"/>
              </a:lnSpc>
              <a:spcBef>
                <a:spcPts val="0"/>
              </a:spcBef>
              <a:spcAft>
                <a:spcPts val="0"/>
              </a:spcAft>
            </a:pPr>
            <a:r>
              <a:rPr b="0" sz="1250">
                <a:solidFill>
                  <a:srgbClr val="A7B8CF"/>
                </a:solidFill>
                <a:latin typeface="DejaVu Sans"/>
              </a:rPr>
              <a:t>RTX 5090 / SM120</a:t>
            </a:r>
          </a:p>
        </p:txBody>
      </p:sp>
      <p:sp>
        <p:nvSpPr>
          <p:cNvPr id="36" name="TextBox 35"/>
          <p:cNvSpPr txBox="1"/>
          <p:nvPr/>
        </p:nvSpPr>
        <p:spPr>
          <a:xfrm>
            <a:off x="717550" y="4667250"/>
            <a:ext cx="10477500" cy="317500"/>
          </a:xfrm>
          <a:prstGeom prst="rect">
            <a:avLst/>
          </a:prstGeom>
          <a:noFill/>
        </p:spPr>
        <p:txBody>
          <a:bodyPr wrap="none" lIns="0" rIns="0" tIns="0" bIns="0" anchor="t">
            <a:noAutofit/>
          </a:bodyPr>
          <a:lstStyle/>
          <a:p>
            <a:pPr>
              <a:lnSpc>
                <a:spcPts val="2100"/>
              </a:lnSpc>
              <a:spcBef>
                <a:spcPts val="0"/>
              </a:spcBef>
              <a:spcAft>
                <a:spcPts val="0"/>
              </a:spcAft>
            </a:pPr>
            <a:r>
              <a:rPr b="1" sz="1750">
                <a:solidFill>
                  <a:srgbClr val="F1F5FA"/>
                </a:solidFill>
                <a:latin typeface="DejaVu Sans"/>
              </a:rPr>
              <a:t>A few passes worth highlighting</a:t>
            </a:r>
          </a:p>
        </p:txBody>
      </p:sp>
      <p:sp>
        <p:nvSpPr>
          <p:cNvPr id="37" name="TextBox 36"/>
          <p:cNvSpPr txBox="1"/>
          <p:nvPr/>
        </p:nvSpPr>
        <p:spPr>
          <a:xfrm>
            <a:off x="717550" y="5137150"/>
            <a:ext cx="2317750" cy="271780"/>
          </a:xfrm>
          <a:prstGeom prst="rect">
            <a:avLst/>
          </a:prstGeom>
          <a:noFill/>
        </p:spPr>
        <p:txBody>
          <a:bodyPr wrap="none" lIns="0" rIns="0" tIns="0" bIns="0" anchor="t">
            <a:noAutofit/>
          </a:bodyPr>
          <a:lstStyle/>
          <a:p>
            <a:pPr>
              <a:lnSpc>
                <a:spcPts val="1739"/>
              </a:lnSpc>
              <a:spcBef>
                <a:spcPts val="0"/>
              </a:spcBef>
              <a:spcAft>
                <a:spcPts val="0"/>
              </a:spcAft>
            </a:pPr>
            <a:r>
              <a:rPr b="1" sz="1450">
                <a:solidFill>
                  <a:srgbClr val="5CE4BF"/>
                </a:solidFill>
                <a:latin typeface="DejaVu Sans"/>
              </a:rPr>
              <a:t>Vectorize loads</a:t>
            </a:r>
          </a:p>
        </p:txBody>
      </p:sp>
      <p:sp>
        <p:nvSpPr>
          <p:cNvPr id="38" name="TextBox 37"/>
          <p:cNvSpPr txBox="1"/>
          <p:nvPr/>
        </p:nvSpPr>
        <p:spPr>
          <a:xfrm>
            <a:off x="717550" y="5454650"/>
            <a:ext cx="2317750" cy="249237"/>
          </a:xfrm>
          <a:prstGeom prst="rect">
            <a:avLst/>
          </a:prstGeom>
          <a:noFill/>
        </p:spPr>
        <p:txBody>
          <a:bodyPr wrap="none" lIns="0" rIns="0" tIns="0" bIns="0" anchor="t">
            <a:noAutofit/>
          </a:bodyPr>
          <a:lstStyle/>
          <a:p>
            <a:pPr>
              <a:lnSpc>
                <a:spcPts val="1562"/>
              </a:lnSpc>
              <a:spcBef>
                <a:spcPts val="0"/>
              </a:spcBef>
              <a:spcAft>
                <a:spcPts val="0"/>
              </a:spcAft>
            </a:pPr>
            <a:r>
              <a:rPr b="0" sz="1250">
                <a:solidFill>
                  <a:srgbClr val="A7B8CF"/>
                </a:solidFill>
                <a:latin typeface="DejaVu Sans"/>
              </a:rPr>
              <a:t>Coalesced memory access</a:t>
            </a:r>
          </a:p>
        </p:txBody>
      </p:sp>
      <p:sp>
        <p:nvSpPr>
          <p:cNvPr id="39" name="TextBox 38"/>
          <p:cNvSpPr txBox="1"/>
          <p:nvPr/>
        </p:nvSpPr>
        <p:spPr>
          <a:xfrm>
            <a:off x="3517900" y="5137150"/>
            <a:ext cx="2317750" cy="271780"/>
          </a:xfrm>
          <a:prstGeom prst="rect">
            <a:avLst/>
          </a:prstGeom>
          <a:noFill/>
        </p:spPr>
        <p:txBody>
          <a:bodyPr wrap="none" lIns="0" rIns="0" tIns="0" bIns="0" anchor="t">
            <a:noAutofit/>
          </a:bodyPr>
          <a:lstStyle/>
          <a:p>
            <a:pPr>
              <a:lnSpc>
                <a:spcPts val="1739"/>
              </a:lnSpc>
              <a:spcBef>
                <a:spcPts val="0"/>
              </a:spcBef>
              <a:spcAft>
                <a:spcPts val="0"/>
              </a:spcAft>
            </a:pPr>
            <a:r>
              <a:rPr b="1" sz="1450">
                <a:solidFill>
                  <a:srgbClr val="5CE4BF"/>
                </a:solidFill>
                <a:latin typeface="DejaVu Sans"/>
              </a:rPr>
              <a:t>Reuse registers</a:t>
            </a:r>
          </a:p>
        </p:txBody>
      </p:sp>
      <p:sp>
        <p:nvSpPr>
          <p:cNvPr id="40" name="TextBox 39"/>
          <p:cNvSpPr txBox="1"/>
          <p:nvPr/>
        </p:nvSpPr>
        <p:spPr>
          <a:xfrm>
            <a:off x="3517900" y="5454650"/>
            <a:ext cx="2317750" cy="249237"/>
          </a:xfrm>
          <a:prstGeom prst="rect">
            <a:avLst/>
          </a:prstGeom>
          <a:noFill/>
        </p:spPr>
        <p:txBody>
          <a:bodyPr wrap="none" lIns="0" rIns="0" tIns="0" bIns="0" anchor="t">
            <a:noAutofit/>
          </a:bodyPr>
          <a:lstStyle/>
          <a:p>
            <a:pPr>
              <a:lnSpc>
                <a:spcPts val="1562"/>
              </a:lnSpc>
              <a:spcBef>
                <a:spcPts val="0"/>
              </a:spcBef>
              <a:spcAft>
                <a:spcPts val="0"/>
              </a:spcAft>
            </a:pPr>
            <a:r>
              <a:rPr b="0" sz="1250">
                <a:solidFill>
                  <a:srgbClr val="A7B8CF"/>
                </a:solidFill>
                <a:latin typeface="DejaVu Sans"/>
              </a:rPr>
              <a:t>Avoid repeated global loads</a:t>
            </a:r>
          </a:p>
        </p:txBody>
      </p:sp>
      <p:sp>
        <p:nvSpPr>
          <p:cNvPr id="41" name="TextBox 40"/>
          <p:cNvSpPr txBox="1"/>
          <p:nvPr/>
        </p:nvSpPr>
        <p:spPr>
          <a:xfrm>
            <a:off x="6318250" y="5137150"/>
            <a:ext cx="2317750" cy="271780"/>
          </a:xfrm>
          <a:prstGeom prst="rect">
            <a:avLst/>
          </a:prstGeom>
          <a:noFill/>
        </p:spPr>
        <p:txBody>
          <a:bodyPr wrap="none" lIns="0" rIns="0" tIns="0" bIns="0" anchor="t">
            <a:noAutofit/>
          </a:bodyPr>
          <a:lstStyle/>
          <a:p>
            <a:pPr>
              <a:lnSpc>
                <a:spcPts val="1739"/>
              </a:lnSpc>
              <a:spcBef>
                <a:spcPts val="0"/>
              </a:spcBef>
              <a:spcAft>
                <a:spcPts val="0"/>
              </a:spcAft>
            </a:pPr>
            <a:r>
              <a:rPr b="1" sz="1450">
                <a:solidFill>
                  <a:srgbClr val="5CE4BF"/>
                </a:solidFill>
                <a:latin typeface="DejaVu Sans"/>
              </a:rPr>
              <a:t>Reduce trees</a:t>
            </a:r>
          </a:p>
        </p:txBody>
      </p:sp>
      <p:sp>
        <p:nvSpPr>
          <p:cNvPr id="42" name="TextBox 41"/>
          <p:cNvSpPr txBox="1"/>
          <p:nvPr/>
        </p:nvSpPr>
        <p:spPr>
          <a:xfrm>
            <a:off x="6318250" y="5454650"/>
            <a:ext cx="2317750" cy="249237"/>
          </a:xfrm>
          <a:prstGeom prst="rect">
            <a:avLst/>
          </a:prstGeom>
          <a:noFill/>
        </p:spPr>
        <p:txBody>
          <a:bodyPr wrap="none" lIns="0" rIns="0" tIns="0" bIns="0" anchor="t">
            <a:noAutofit/>
          </a:bodyPr>
          <a:lstStyle/>
          <a:p>
            <a:pPr>
              <a:lnSpc>
                <a:spcPts val="1562"/>
              </a:lnSpc>
              <a:spcBef>
                <a:spcPts val="0"/>
              </a:spcBef>
              <a:spcAft>
                <a:spcPts val="0"/>
              </a:spcAft>
            </a:pPr>
            <a:r>
              <a:rPr b="0" sz="1250">
                <a:solidFill>
                  <a:srgbClr val="A7B8CF"/>
                </a:solidFill>
                <a:latin typeface="DejaVu Sans"/>
              </a:rPr>
              <a:t>Specialize warp / CTA sums</a:t>
            </a:r>
          </a:p>
        </p:txBody>
      </p:sp>
      <p:sp>
        <p:nvSpPr>
          <p:cNvPr id="43" name="TextBox 42"/>
          <p:cNvSpPr txBox="1"/>
          <p:nvPr/>
        </p:nvSpPr>
        <p:spPr>
          <a:xfrm>
            <a:off x="9118600" y="5137150"/>
            <a:ext cx="2317750" cy="271780"/>
          </a:xfrm>
          <a:prstGeom prst="rect">
            <a:avLst/>
          </a:prstGeom>
          <a:noFill/>
        </p:spPr>
        <p:txBody>
          <a:bodyPr wrap="none" lIns="0" rIns="0" tIns="0" bIns="0" anchor="t">
            <a:noAutofit/>
          </a:bodyPr>
          <a:lstStyle/>
          <a:p>
            <a:pPr>
              <a:lnSpc>
                <a:spcPts val="1739"/>
              </a:lnSpc>
              <a:spcBef>
                <a:spcPts val="0"/>
              </a:spcBef>
              <a:spcAft>
                <a:spcPts val="0"/>
              </a:spcAft>
            </a:pPr>
            <a:r>
              <a:rPr b="1" sz="1450">
                <a:solidFill>
                  <a:srgbClr val="5CE4BF"/>
                </a:solidFill>
                <a:latin typeface="DejaVu Sans"/>
              </a:rPr>
              <a:t>Tensorize</a:t>
            </a:r>
          </a:p>
        </p:txBody>
      </p:sp>
      <p:sp>
        <p:nvSpPr>
          <p:cNvPr id="44" name="TextBox 43"/>
          <p:cNvSpPr txBox="1"/>
          <p:nvPr/>
        </p:nvSpPr>
        <p:spPr>
          <a:xfrm>
            <a:off x="9118600" y="5454650"/>
            <a:ext cx="2317750" cy="249237"/>
          </a:xfrm>
          <a:prstGeom prst="rect">
            <a:avLst/>
          </a:prstGeom>
          <a:noFill/>
        </p:spPr>
        <p:txBody>
          <a:bodyPr wrap="none" lIns="0" rIns="0" tIns="0" bIns="0" anchor="t">
            <a:noAutofit/>
          </a:bodyPr>
          <a:lstStyle/>
          <a:p>
            <a:pPr>
              <a:lnSpc>
                <a:spcPts val="1562"/>
              </a:lnSpc>
              <a:spcBef>
                <a:spcPts val="0"/>
              </a:spcBef>
              <a:spcAft>
                <a:spcPts val="0"/>
              </a:spcAft>
            </a:pPr>
            <a:r>
              <a:rPr b="0" sz="1250">
                <a:solidFill>
                  <a:srgbClr val="A7B8CF"/>
                </a:solidFill>
                <a:latin typeface="DejaVu Sans"/>
              </a:rPr>
              <a:t>Lower eligible contractions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C1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19100"/>
            <a:ext cx="304800" cy="444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1400" y="336550"/>
            <a:ext cx="44450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5CE4BF"/>
                </a:solidFill>
                <a:latin typeface="DejaVu Sans"/>
              </a:rPr>
              <a:t>DEUTERON</a:t>
            </a:r>
          </a:p>
        </p:txBody>
      </p:sp>
      <p:sp>
        <p:nvSpPr>
          <p:cNvPr id="5" name="TextBox 4"/>
          <p:cNvSpPr txBox="1"/>
          <p:nvPr/>
        </p:nvSpPr>
        <p:spPr>
          <a:xfrm>
            <a:off x="10572750" y="336550"/>
            <a:ext cx="952500" cy="241300"/>
          </a:xfrm>
          <a:prstGeom prst="rect">
            <a:avLst/>
          </a:prstGeom>
          <a:noFill/>
        </p:spPr>
        <p:txBody>
          <a:bodyPr wrap="none" lIns="0" rIns="0" tIns="0" bIns="0" anchor="t">
            <a:noAutofit/>
          </a:bodyPr>
          <a:lstStyle/>
          <a:p>
            <a:pPr algn="r">
              <a:lnSpc>
                <a:spcPts val="1500"/>
              </a:lnSpc>
              <a:spcBef>
                <a:spcPts val="0"/>
              </a:spcBef>
              <a:spcAft>
                <a:spcPts val="0"/>
              </a:spcAft>
            </a:pPr>
            <a:r>
              <a:rPr b="0" sz="1250">
                <a:solidFill>
                  <a:srgbClr val="A7B8CF"/>
                </a:solidFill>
                <a:latin typeface="DejaVu Sans"/>
              </a:rPr>
              <a:t>03 / 06</a:t>
            </a:r>
          </a:p>
        </p:txBody>
      </p:sp>
      <p:cxnSp>
        <p:nvCxnSpPr>
          <p:cNvPr id="6" name="Connector 5"/>
          <p:cNvCxnSpPr/>
          <p:nvPr/>
        </p:nvCxnSpPr>
        <p:spPr>
          <a:xfrm>
            <a:off x="609600" y="6375400"/>
            <a:ext cx="1097280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35000" y="6496050"/>
            <a:ext cx="6032500" cy="218440"/>
          </a:xfrm>
          <a:prstGeom prst="rect">
            <a:avLst/>
          </a:prstGeom>
          <a:noFill/>
        </p:spPr>
        <p:txBody>
          <a:bodyPr wrap="none" lIns="0" rIns="0" tIns="0" bIns="0" anchor="t">
            <a:noAutofit/>
          </a:bodyPr>
          <a:lstStyle/>
          <a:p>
            <a:pPr>
              <a:lnSpc>
                <a:spcPts val="1320"/>
              </a:lnSpc>
              <a:spcBef>
                <a:spcPts val="0"/>
              </a:spcBef>
              <a:spcAft>
                <a:spcPts val="0"/>
              </a:spcAft>
            </a:pPr>
            <a:r>
              <a:rPr b="0" sz="1100">
                <a:solidFill>
                  <a:srgbClr val="A7B8CF"/>
                </a:solidFill>
                <a:latin typeface="DejaVu Sans"/>
              </a:rPr>
              <a:t>Scheduled Emmy IR → NVIDIA PTX</a:t>
            </a:r>
          </a:p>
        </p:txBody>
      </p:sp>
      <p:sp>
        <p:nvSpPr>
          <p:cNvPr id="8" name="TextBox 7"/>
          <p:cNvSpPr txBox="1"/>
          <p:nvPr/>
        </p:nvSpPr>
        <p:spPr>
          <a:xfrm>
            <a:off x="8699500" y="6496050"/>
            <a:ext cx="2857500" cy="218440"/>
          </a:xfrm>
          <a:prstGeom prst="rect">
            <a:avLst/>
          </a:prstGeom>
          <a:noFill/>
        </p:spPr>
        <p:txBody>
          <a:bodyPr wrap="none" lIns="0" rIns="0" tIns="0" bIns="0" anchor="t">
            <a:noAutofit/>
          </a:bodyPr>
          <a:lstStyle/>
          <a:p>
            <a:pPr algn="r">
              <a:lnSpc>
                <a:spcPts val="1320"/>
              </a:lnSpc>
              <a:spcBef>
                <a:spcPts val="0"/>
              </a:spcBef>
              <a:spcAft>
                <a:spcPts val="0"/>
              </a:spcAft>
            </a:pPr>
            <a:r>
              <a:rPr b="0" sz="1100">
                <a:solidFill>
                  <a:srgbClr val="A7B8CF"/>
                </a:solidFill>
                <a:latin typeface="DejaVu Sans"/>
              </a:rPr>
              <a:t>RTX 5090  /  SM120</a:t>
            </a:r>
          </a:p>
        </p:txBody>
      </p:sp>
      <p:sp>
        <p:nvSpPr>
          <p:cNvPr id="9" name="TextBox 8"/>
          <p:cNvSpPr txBox="1"/>
          <p:nvPr/>
        </p:nvSpPr>
        <p:spPr>
          <a:xfrm>
            <a:off x="685800" y="984250"/>
            <a:ext cx="10795000" cy="599440"/>
          </a:xfrm>
          <a:prstGeom prst="rect">
            <a:avLst/>
          </a:prstGeom>
          <a:noFill/>
        </p:spPr>
        <p:txBody>
          <a:bodyPr wrap="none" lIns="0" rIns="0" tIns="0" bIns="0" anchor="t">
            <a:noAutofit/>
          </a:bodyPr>
          <a:lstStyle/>
          <a:p>
            <a:pPr>
              <a:lnSpc>
                <a:spcPts val="4320"/>
              </a:lnSpc>
              <a:spcBef>
                <a:spcPts val="0"/>
              </a:spcBef>
              <a:spcAft>
                <a:spcPts val="0"/>
              </a:spcAft>
            </a:pPr>
            <a:r>
              <a:rPr b="1" sz="3600">
                <a:solidFill>
                  <a:srgbClr val="F1F5FA"/>
                </a:solidFill>
                <a:latin typeface="DejaVu Sans"/>
              </a:rPr>
              <a:t>Tensor cores. Copies. Types.</a:t>
            </a:r>
          </a:p>
        </p:txBody>
      </p:sp>
      <p:sp>
        <p:nvSpPr>
          <p:cNvPr id="10" name="Rounded Rectangle 9"/>
          <p:cNvSpPr/>
          <p:nvPr/>
        </p:nvSpPr>
        <p:spPr>
          <a:xfrm>
            <a:off x="698500" y="1936750"/>
            <a:ext cx="3416300" cy="3556000"/>
          </a:xfrm>
          <a:prstGeom prst="roundRect">
            <a:avLst>
              <a:gd name="adj" fmla="val 4646"/>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8500" y="1936750"/>
            <a:ext cx="3416300" cy="3810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81500" y="1936750"/>
            <a:ext cx="3416300" cy="3556000"/>
          </a:xfrm>
          <a:prstGeom prst="roundRect">
            <a:avLst>
              <a:gd name="adj" fmla="val 4646"/>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1500" y="1936750"/>
            <a:ext cx="3416300" cy="38100"/>
          </a:xfrm>
          <a:prstGeom prst="rect">
            <a:avLst/>
          </a:prstGeom>
          <a:solidFill>
            <a:srgbClr val="95B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64500" y="1936750"/>
            <a:ext cx="3416300" cy="3556000"/>
          </a:xfrm>
          <a:prstGeom prst="roundRect">
            <a:avLst>
              <a:gd name="adj" fmla="val 4646"/>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4500" y="1936750"/>
            <a:ext cx="3416300" cy="38100"/>
          </a:xfrm>
          <a:prstGeom prst="rect">
            <a:avLst/>
          </a:prstGeom>
          <a:solidFill>
            <a:srgbClr val="F1C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0750" y="2197100"/>
            <a:ext cx="2933700" cy="264160"/>
          </a:xfrm>
          <a:prstGeom prst="rect">
            <a:avLst/>
          </a:prstGeom>
          <a:noFill/>
        </p:spPr>
        <p:txBody>
          <a:bodyPr wrap="none" lIns="0" rIns="0" tIns="0" bIns="0" anchor="t">
            <a:noAutofit/>
          </a:bodyPr>
          <a:lstStyle/>
          <a:p>
            <a:pPr>
              <a:lnSpc>
                <a:spcPts val="1680"/>
              </a:lnSpc>
              <a:spcBef>
                <a:spcPts val="0"/>
              </a:spcBef>
              <a:spcAft>
                <a:spcPts val="0"/>
              </a:spcAft>
            </a:pPr>
            <a:r>
              <a:rPr b="1" sz="1400">
                <a:solidFill>
                  <a:srgbClr val="5CE4BF"/>
                </a:solidFill>
                <a:latin typeface="DejaVu Sans"/>
              </a:rPr>
              <a:t>TENSOR CORES</a:t>
            </a:r>
          </a:p>
        </p:txBody>
      </p:sp>
      <p:sp>
        <p:nvSpPr>
          <p:cNvPr id="17" name="TextBox 16"/>
          <p:cNvSpPr txBox="1"/>
          <p:nvPr/>
        </p:nvSpPr>
        <p:spPr>
          <a:xfrm>
            <a:off x="920750" y="2628900"/>
            <a:ext cx="2933700" cy="889000"/>
          </a:xfrm>
          <a:prstGeom prst="rect">
            <a:avLst/>
          </a:prstGeom>
          <a:noFill/>
        </p:spPr>
        <p:txBody>
          <a:bodyPr wrap="none" lIns="0" rIns="0" tIns="0" bIns="0" anchor="t">
            <a:noAutofit/>
          </a:bodyPr>
          <a:lstStyle/>
          <a:p>
            <a:pPr>
              <a:lnSpc>
                <a:spcPts val="3300"/>
              </a:lnSpc>
              <a:spcBef>
                <a:spcPts val="0"/>
              </a:spcBef>
              <a:spcAft>
                <a:spcPts val="0"/>
              </a:spcAft>
            </a:pPr>
            <a:r>
              <a:rPr b="1" sz="3000">
                <a:solidFill>
                  <a:srgbClr val="F1F5FA"/>
                </a:solidFill>
                <a:latin typeface="DejaVu Sans"/>
              </a:rPr>
              <a:t>BF16x3</a:t>
            </a:r>
          </a:p>
          <a:p>
            <a:pPr>
              <a:lnSpc>
                <a:spcPts val="3300"/>
              </a:lnSpc>
              <a:spcBef>
                <a:spcPts val="0"/>
              </a:spcBef>
              <a:spcAft>
                <a:spcPts val="0"/>
              </a:spcAft>
            </a:pPr>
            <a:r>
              <a:rPr b="1" sz="3000">
                <a:solidFill>
                  <a:srgbClr val="F1F5FA"/>
                </a:solidFill>
                <a:latin typeface="DejaVu Sans"/>
              </a:rPr>
              <a:t>TF32x3</a:t>
            </a:r>
          </a:p>
        </p:txBody>
      </p:sp>
      <p:sp>
        <p:nvSpPr>
          <p:cNvPr id="18" name="TextBox 17"/>
          <p:cNvSpPr txBox="1"/>
          <p:nvPr/>
        </p:nvSpPr>
        <p:spPr>
          <a:xfrm>
            <a:off x="920750" y="3746500"/>
            <a:ext cx="2933700" cy="271780"/>
          </a:xfrm>
          <a:prstGeom prst="rect">
            <a:avLst/>
          </a:prstGeom>
          <a:noFill/>
        </p:spPr>
        <p:txBody>
          <a:bodyPr wrap="none" lIns="0" rIns="0" tIns="0" bIns="0" anchor="t">
            <a:noAutofit/>
          </a:bodyPr>
          <a:lstStyle/>
          <a:p>
            <a:pPr>
              <a:lnSpc>
                <a:spcPts val="1739"/>
              </a:lnSpc>
              <a:spcBef>
                <a:spcPts val="0"/>
              </a:spcBef>
              <a:spcAft>
                <a:spcPts val="0"/>
              </a:spcAft>
            </a:pPr>
            <a:r>
              <a:rPr b="0" sz="1450">
                <a:solidFill>
                  <a:srgbClr val="F1F5FA"/>
                </a:solidFill>
                <a:latin typeface="DejaVu Sans"/>
              </a:rPr>
              <a:t>FP32 inputs + accumulation</a:t>
            </a:r>
          </a:p>
        </p:txBody>
      </p:sp>
      <p:sp>
        <p:nvSpPr>
          <p:cNvPr id="19" name="TextBox 18"/>
          <p:cNvSpPr txBox="1"/>
          <p:nvPr/>
        </p:nvSpPr>
        <p:spPr>
          <a:xfrm>
            <a:off x="920750" y="4159250"/>
            <a:ext cx="2933700" cy="279400"/>
          </a:xfrm>
          <a:prstGeom prst="rect">
            <a:avLst/>
          </a:prstGeom>
          <a:noFill/>
        </p:spPr>
        <p:txBody>
          <a:bodyPr wrap="none" lIns="0" rIns="0" tIns="0" bIns="0" anchor="t">
            <a:noAutofit/>
          </a:bodyPr>
          <a:lstStyle/>
          <a:p>
            <a:pPr>
              <a:lnSpc>
                <a:spcPts val="1800"/>
              </a:lnSpc>
              <a:spcBef>
                <a:spcPts val="0"/>
              </a:spcBef>
              <a:spcAft>
                <a:spcPts val="0"/>
              </a:spcAft>
            </a:pPr>
            <a:r>
              <a:rPr b="0" sz="1500">
                <a:solidFill>
                  <a:srgbClr val="5CE4BF"/>
                </a:solidFill>
                <a:latin typeface="Liberation Mono"/>
              </a:rPr>
              <a:t>mma.sync  /  ldmatrix</a:t>
            </a:r>
          </a:p>
        </p:txBody>
      </p:sp>
      <p:sp>
        <p:nvSpPr>
          <p:cNvPr id="20" name="TextBox 19"/>
          <p:cNvSpPr txBox="1"/>
          <p:nvPr/>
        </p:nvSpPr>
        <p:spPr>
          <a:xfrm>
            <a:off x="920750" y="4673600"/>
            <a:ext cx="2857500" cy="511175"/>
          </a:xfrm>
          <a:prstGeom prst="rect">
            <a:avLst/>
          </a:prstGeom>
          <a:noFill/>
        </p:spPr>
        <p:txBody>
          <a:bodyPr wrap="none" lIns="0" rIns="0" tIns="0" bIns="0" anchor="t">
            <a:noAutofit/>
          </a:bodyPr>
          <a:lstStyle/>
          <a:p>
            <a:pPr>
              <a:lnSpc>
                <a:spcPts val="1812"/>
              </a:lnSpc>
              <a:spcBef>
                <a:spcPts val="0"/>
              </a:spcBef>
              <a:spcAft>
                <a:spcPts val="0"/>
              </a:spcAft>
            </a:pPr>
            <a:r>
              <a:rPr b="0" sz="1450">
                <a:solidFill>
                  <a:srgbClr val="A7B8CF"/>
                </a:solidFill>
                <a:latin typeface="DejaVu Sans"/>
              </a:rPr>
              <a:t>Compensated three-product</a:t>
            </a:r>
          </a:p>
          <a:p>
            <a:pPr>
              <a:lnSpc>
                <a:spcPts val="1812"/>
              </a:lnSpc>
              <a:spcBef>
                <a:spcPts val="0"/>
              </a:spcBef>
              <a:spcAft>
                <a:spcPts val="0"/>
              </a:spcAft>
            </a:pPr>
            <a:r>
              <a:rPr b="0" sz="1450">
                <a:solidFill>
                  <a:srgbClr val="A7B8CF"/>
                </a:solidFill>
                <a:latin typeface="DejaVu Sans"/>
              </a:rPr>
              <a:t>approximations</a:t>
            </a:r>
          </a:p>
        </p:txBody>
      </p:sp>
      <p:sp>
        <p:nvSpPr>
          <p:cNvPr id="21" name="TextBox 20"/>
          <p:cNvSpPr txBox="1"/>
          <p:nvPr/>
        </p:nvSpPr>
        <p:spPr>
          <a:xfrm>
            <a:off x="920750" y="5232400"/>
            <a:ext cx="2933700" cy="233679"/>
          </a:xfrm>
          <a:prstGeom prst="rect">
            <a:avLst/>
          </a:prstGeom>
          <a:noFill/>
        </p:spPr>
        <p:txBody>
          <a:bodyPr wrap="none" lIns="0" rIns="0" tIns="0" bIns="0" anchor="t">
            <a:noAutofit/>
          </a:bodyPr>
          <a:lstStyle/>
          <a:p>
            <a:pPr>
              <a:lnSpc>
                <a:spcPts val="1439"/>
              </a:lnSpc>
              <a:spcBef>
                <a:spcPts val="0"/>
              </a:spcBef>
              <a:spcAft>
                <a:spcPts val="0"/>
              </a:spcAft>
            </a:pPr>
            <a:r>
              <a:rPr b="0" sz="1200">
                <a:solidFill>
                  <a:srgbClr val="F1F5FA"/>
                </a:solidFill>
                <a:latin typeface="DejaVu Sans"/>
              </a:rPr>
              <a:t>Also: ordinary FP32 products</a:t>
            </a:r>
          </a:p>
        </p:txBody>
      </p:sp>
      <p:sp>
        <p:nvSpPr>
          <p:cNvPr id="22" name="TextBox 21"/>
          <p:cNvSpPr txBox="1"/>
          <p:nvPr/>
        </p:nvSpPr>
        <p:spPr>
          <a:xfrm>
            <a:off x="4603750" y="2197100"/>
            <a:ext cx="2933700" cy="264160"/>
          </a:xfrm>
          <a:prstGeom prst="rect">
            <a:avLst/>
          </a:prstGeom>
          <a:noFill/>
        </p:spPr>
        <p:txBody>
          <a:bodyPr wrap="none" lIns="0" rIns="0" tIns="0" bIns="0" anchor="t">
            <a:noAutofit/>
          </a:bodyPr>
          <a:lstStyle/>
          <a:p>
            <a:pPr>
              <a:lnSpc>
                <a:spcPts val="1680"/>
              </a:lnSpc>
              <a:spcBef>
                <a:spcPts val="0"/>
              </a:spcBef>
              <a:spcAft>
                <a:spcPts val="0"/>
              </a:spcAft>
            </a:pPr>
            <a:r>
              <a:rPr b="1" sz="1400">
                <a:solidFill>
                  <a:srgbClr val="95B4FF"/>
                </a:solidFill>
                <a:latin typeface="DejaVu Sans"/>
              </a:rPr>
              <a:t>ASYNC COPIES</a:t>
            </a:r>
          </a:p>
        </p:txBody>
      </p:sp>
      <p:sp>
        <p:nvSpPr>
          <p:cNvPr id="23" name="TextBox 22"/>
          <p:cNvSpPr txBox="1"/>
          <p:nvPr/>
        </p:nvSpPr>
        <p:spPr>
          <a:xfrm>
            <a:off x="4603750" y="2736850"/>
            <a:ext cx="2933700" cy="538480"/>
          </a:xfrm>
          <a:prstGeom prst="rect">
            <a:avLst/>
          </a:prstGeom>
          <a:noFill/>
        </p:spPr>
        <p:txBody>
          <a:bodyPr wrap="none" lIns="0" rIns="0" tIns="0" bIns="0" anchor="t">
            <a:noAutofit/>
          </a:bodyPr>
          <a:lstStyle/>
          <a:p>
            <a:pPr>
              <a:lnSpc>
                <a:spcPts val="3840"/>
              </a:lnSpc>
              <a:spcBef>
                <a:spcPts val="0"/>
              </a:spcBef>
              <a:spcAft>
                <a:spcPts val="0"/>
              </a:spcAft>
            </a:pPr>
            <a:r>
              <a:rPr b="1" sz="3200">
                <a:solidFill>
                  <a:srgbClr val="F1F5FA"/>
                </a:solidFill>
                <a:latin typeface="DejaVu Sans"/>
              </a:rPr>
              <a:t>4 / 8 / 16</a:t>
            </a:r>
          </a:p>
        </p:txBody>
      </p:sp>
      <p:sp>
        <p:nvSpPr>
          <p:cNvPr id="24" name="TextBox 23"/>
          <p:cNvSpPr txBox="1"/>
          <p:nvPr/>
        </p:nvSpPr>
        <p:spPr>
          <a:xfrm>
            <a:off x="4635500" y="3276600"/>
            <a:ext cx="2857500" cy="279400"/>
          </a:xfrm>
          <a:prstGeom prst="rect">
            <a:avLst/>
          </a:prstGeom>
          <a:noFill/>
        </p:spPr>
        <p:txBody>
          <a:bodyPr wrap="none" lIns="0" rIns="0" tIns="0" bIns="0" anchor="t">
            <a:noAutofit/>
          </a:bodyPr>
          <a:lstStyle/>
          <a:p>
            <a:pPr>
              <a:lnSpc>
                <a:spcPts val="1800"/>
              </a:lnSpc>
              <a:spcBef>
                <a:spcPts val="0"/>
              </a:spcBef>
              <a:spcAft>
                <a:spcPts val="0"/>
              </a:spcAft>
            </a:pPr>
            <a:r>
              <a:rPr b="0" sz="1500">
                <a:solidFill>
                  <a:srgbClr val="A7B8CF"/>
                </a:solidFill>
                <a:latin typeface="DejaVu Sans"/>
              </a:rPr>
              <a:t>bytes per transfer</a:t>
            </a:r>
          </a:p>
        </p:txBody>
      </p:sp>
      <p:sp>
        <p:nvSpPr>
          <p:cNvPr id="25" name="TextBox 24"/>
          <p:cNvSpPr txBox="1"/>
          <p:nvPr/>
        </p:nvSpPr>
        <p:spPr>
          <a:xfrm>
            <a:off x="4603750" y="3746500"/>
            <a:ext cx="2933700" cy="325120"/>
          </a:xfrm>
          <a:prstGeom prst="rect">
            <a:avLst/>
          </a:prstGeom>
          <a:noFill/>
        </p:spPr>
        <p:txBody>
          <a:bodyPr wrap="none" lIns="0" rIns="0" tIns="0" bIns="0" anchor="t">
            <a:noAutofit/>
          </a:bodyPr>
          <a:lstStyle/>
          <a:p>
            <a:pPr>
              <a:lnSpc>
                <a:spcPts val="2160"/>
              </a:lnSpc>
              <a:spcBef>
                <a:spcPts val="0"/>
              </a:spcBef>
              <a:spcAft>
                <a:spcPts val="0"/>
              </a:spcAft>
            </a:pPr>
            <a:r>
              <a:rPr b="1" sz="1800">
                <a:solidFill>
                  <a:srgbClr val="F1F5FA"/>
                </a:solidFill>
                <a:latin typeface="DejaVu Sans"/>
              </a:rPr>
              <a:t>Global → Shared</a:t>
            </a:r>
          </a:p>
        </p:txBody>
      </p:sp>
      <p:sp>
        <p:nvSpPr>
          <p:cNvPr id="26" name="TextBox 25"/>
          <p:cNvSpPr txBox="1"/>
          <p:nvPr/>
        </p:nvSpPr>
        <p:spPr>
          <a:xfrm>
            <a:off x="4603750" y="4159250"/>
            <a:ext cx="2933700" cy="317500"/>
          </a:xfrm>
          <a:prstGeom prst="rect">
            <a:avLst/>
          </a:prstGeom>
          <a:noFill/>
        </p:spPr>
        <p:txBody>
          <a:bodyPr wrap="none" lIns="0" rIns="0" tIns="0" bIns="0" anchor="t">
            <a:noAutofit/>
          </a:bodyPr>
          <a:lstStyle/>
          <a:p>
            <a:pPr>
              <a:lnSpc>
                <a:spcPts val="2100"/>
              </a:lnSpc>
              <a:spcBef>
                <a:spcPts val="0"/>
              </a:spcBef>
              <a:spcAft>
                <a:spcPts val="0"/>
              </a:spcAft>
            </a:pPr>
            <a:r>
              <a:rPr b="0" sz="1750">
                <a:solidFill>
                  <a:srgbClr val="95B4FF"/>
                </a:solidFill>
                <a:latin typeface="Liberation Mono"/>
              </a:rPr>
              <a:t>cp.async</a:t>
            </a:r>
          </a:p>
        </p:txBody>
      </p:sp>
      <p:sp>
        <p:nvSpPr>
          <p:cNvPr id="27" name="TextBox 26"/>
          <p:cNvSpPr txBox="1"/>
          <p:nvPr/>
        </p:nvSpPr>
        <p:spPr>
          <a:xfrm>
            <a:off x="4603750" y="4673600"/>
            <a:ext cx="2933700" cy="548005"/>
          </a:xfrm>
          <a:prstGeom prst="rect">
            <a:avLst/>
          </a:prstGeom>
          <a:noFill/>
        </p:spPr>
        <p:txBody>
          <a:bodyPr wrap="none" lIns="0" rIns="0" tIns="0" bIns="0" anchor="t">
            <a:noAutofit/>
          </a:bodyPr>
          <a:lstStyle/>
          <a:p>
            <a:pPr>
              <a:lnSpc>
                <a:spcPts val="1957"/>
              </a:lnSpc>
              <a:spcBef>
                <a:spcPts val="0"/>
              </a:spcBef>
              <a:spcAft>
                <a:spcPts val="0"/>
              </a:spcAft>
            </a:pPr>
            <a:r>
              <a:rPr b="0" sz="1450">
                <a:solidFill>
                  <a:srgbClr val="A7B8CF"/>
                </a:solidFill>
                <a:latin typeface="DejaVu Sans"/>
              </a:rPr>
              <a:t>Commit / wait groups</a:t>
            </a:r>
          </a:p>
          <a:p>
            <a:pPr>
              <a:lnSpc>
                <a:spcPts val="1957"/>
              </a:lnSpc>
              <a:spcBef>
                <a:spcPts val="0"/>
              </a:spcBef>
              <a:spcAft>
                <a:spcPts val="0"/>
              </a:spcAft>
            </a:pPr>
            <a:r>
              <a:rPr b="0" sz="1450">
                <a:solidFill>
                  <a:srgbClr val="A7B8CF"/>
                </a:solidFill>
                <a:latin typeface="DejaVu Sans"/>
              </a:rPr>
              <a:t>CTA / warp barriers</a:t>
            </a:r>
          </a:p>
        </p:txBody>
      </p:sp>
      <p:sp>
        <p:nvSpPr>
          <p:cNvPr id="28" name="TextBox 27"/>
          <p:cNvSpPr txBox="1"/>
          <p:nvPr/>
        </p:nvSpPr>
        <p:spPr>
          <a:xfrm>
            <a:off x="8286750" y="2197100"/>
            <a:ext cx="2933700" cy="264160"/>
          </a:xfrm>
          <a:prstGeom prst="rect">
            <a:avLst/>
          </a:prstGeom>
          <a:noFill/>
        </p:spPr>
        <p:txBody>
          <a:bodyPr wrap="none" lIns="0" rIns="0" tIns="0" bIns="0" anchor="t">
            <a:noAutofit/>
          </a:bodyPr>
          <a:lstStyle/>
          <a:p>
            <a:pPr>
              <a:lnSpc>
                <a:spcPts val="1680"/>
              </a:lnSpc>
              <a:spcBef>
                <a:spcPts val="0"/>
              </a:spcBef>
              <a:spcAft>
                <a:spcPts val="0"/>
              </a:spcAft>
            </a:pPr>
            <a:r>
              <a:rPr b="1" sz="1400">
                <a:solidFill>
                  <a:srgbClr val="F1CC83"/>
                </a:solidFill>
                <a:latin typeface="DejaVu Sans"/>
              </a:rPr>
              <a:t>FP16 STORAGE</a:t>
            </a:r>
          </a:p>
        </p:txBody>
      </p:sp>
      <p:sp>
        <p:nvSpPr>
          <p:cNvPr id="29" name="TextBox 28"/>
          <p:cNvSpPr txBox="1"/>
          <p:nvPr/>
        </p:nvSpPr>
        <p:spPr>
          <a:xfrm>
            <a:off x="8286750" y="2736850"/>
            <a:ext cx="2933700" cy="826769"/>
          </a:xfrm>
          <a:prstGeom prst="rect">
            <a:avLst/>
          </a:prstGeom>
          <a:noFill/>
        </p:spPr>
        <p:txBody>
          <a:bodyPr wrap="none" lIns="0" rIns="0" tIns="0" bIns="0" anchor="t">
            <a:noAutofit/>
          </a:bodyPr>
          <a:lstStyle/>
          <a:p>
            <a:pPr>
              <a:lnSpc>
                <a:spcPts val="3055"/>
              </a:lnSpc>
              <a:spcBef>
                <a:spcPts val="0"/>
              </a:spcBef>
              <a:spcAft>
                <a:spcPts val="0"/>
              </a:spcAft>
            </a:pPr>
            <a:r>
              <a:rPr b="1" sz="2350">
                <a:solidFill>
                  <a:srgbClr val="F1F5FA"/>
                </a:solidFill>
                <a:latin typeface="DejaVu Sans"/>
              </a:rPr>
              <a:t>Store FP16.</a:t>
            </a:r>
          </a:p>
          <a:p>
            <a:pPr>
              <a:lnSpc>
                <a:spcPts val="3055"/>
              </a:lnSpc>
              <a:spcBef>
                <a:spcPts val="0"/>
              </a:spcBef>
              <a:spcAft>
                <a:spcPts val="0"/>
              </a:spcAft>
            </a:pPr>
            <a:r>
              <a:rPr b="1" sz="2350">
                <a:solidFill>
                  <a:srgbClr val="F1F5FA"/>
                </a:solidFill>
                <a:latin typeface="DejaVu Sans"/>
              </a:rPr>
              <a:t>Compute FP32.</a:t>
            </a:r>
          </a:p>
        </p:txBody>
      </p:sp>
      <p:sp>
        <p:nvSpPr>
          <p:cNvPr id="30" name="TextBox 29"/>
          <p:cNvSpPr txBox="1"/>
          <p:nvPr/>
        </p:nvSpPr>
        <p:spPr>
          <a:xfrm>
            <a:off x="8286750" y="3917950"/>
            <a:ext cx="2933700" cy="279400"/>
          </a:xfrm>
          <a:prstGeom prst="rect">
            <a:avLst/>
          </a:prstGeom>
          <a:noFill/>
        </p:spPr>
        <p:txBody>
          <a:bodyPr wrap="none" lIns="0" rIns="0" tIns="0" bIns="0" anchor="t">
            <a:noAutofit/>
          </a:bodyPr>
          <a:lstStyle/>
          <a:p>
            <a:pPr>
              <a:lnSpc>
                <a:spcPts val="1800"/>
              </a:lnSpc>
              <a:spcBef>
                <a:spcPts val="0"/>
              </a:spcBef>
              <a:spcAft>
                <a:spcPts val="0"/>
              </a:spcAft>
            </a:pPr>
            <a:r>
              <a:rPr b="1" sz="1500">
                <a:solidFill>
                  <a:srgbClr val="F1CC83"/>
                </a:solidFill>
                <a:latin typeface="DejaVu Sans"/>
              </a:rPr>
              <a:t>FP16 → FP32 → FP16</a:t>
            </a:r>
          </a:p>
        </p:txBody>
      </p:sp>
      <p:sp>
        <p:nvSpPr>
          <p:cNvPr id="31" name="TextBox 30"/>
          <p:cNvSpPr txBox="1"/>
          <p:nvPr/>
        </p:nvSpPr>
        <p:spPr>
          <a:xfrm>
            <a:off x="8286750" y="4673600"/>
            <a:ext cx="2933700" cy="548005"/>
          </a:xfrm>
          <a:prstGeom prst="rect">
            <a:avLst/>
          </a:prstGeom>
          <a:noFill/>
        </p:spPr>
        <p:txBody>
          <a:bodyPr wrap="none" lIns="0" rIns="0" tIns="0" bIns="0" anchor="t">
            <a:noAutofit/>
          </a:bodyPr>
          <a:lstStyle/>
          <a:p>
            <a:pPr>
              <a:lnSpc>
                <a:spcPts val="1957"/>
              </a:lnSpc>
              <a:spcBef>
                <a:spcPts val="0"/>
              </a:spcBef>
              <a:spcAft>
                <a:spcPts val="0"/>
              </a:spcAft>
            </a:pPr>
            <a:r>
              <a:rPr b="0" sz="1450">
                <a:solidFill>
                  <a:srgbClr val="A7B8CF"/>
                </a:solidFill>
                <a:latin typeface="DejaVu Sans"/>
              </a:rPr>
              <a:t>Exact widening</a:t>
            </a:r>
          </a:p>
          <a:p>
            <a:pPr>
              <a:lnSpc>
                <a:spcPts val="1957"/>
              </a:lnSpc>
              <a:spcBef>
                <a:spcPts val="0"/>
              </a:spcBef>
              <a:spcAft>
                <a:spcPts val="0"/>
              </a:spcAft>
            </a:pPr>
            <a:r>
              <a:rPr b="0" sz="1450">
                <a:solidFill>
                  <a:srgbClr val="A7B8CF"/>
                </a:solidFill>
                <a:latin typeface="DejaVu Sans"/>
              </a:rPr>
              <a:t>Nearest-even narrowing</a:t>
            </a:r>
          </a:p>
        </p:txBody>
      </p:sp>
      <p:sp>
        <p:nvSpPr>
          <p:cNvPr id="32" name="TextBox 31"/>
          <p:cNvSpPr txBox="1"/>
          <p:nvPr/>
        </p:nvSpPr>
        <p:spPr>
          <a:xfrm>
            <a:off x="723900" y="5810250"/>
            <a:ext cx="1073150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A7B8CF"/>
                </a:solidFill>
                <a:latin typeface="DejaVu Sans"/>
              </a:rPr>
              <a:t>BF16 / TF32 are internal tensor formats. FP16 uses the documented pointwise subset.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C1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19100"/>
            <a:ext cx="304800" cy="444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1400" y="336550"/>
            <a:ext cx="44450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5CE4BF"/>
                </a:solidFill>
                <a:latin typeface="DejaVu Sans"/>
              </a:rPr>
              <a:t>DEUTERON</a:t>
            </a:r>
          </a:p>
        </p:txBody>
      </p:sp>
      <p:sp>
        <p:nvSpPr>
          <p:cNvPr id="5" name="TextBox 4"/>
          <p:cNvSpPr txBox="1"/>
          <p:nvPr/>
        </p:nvSpPr>
        <p:spPr>
          <a:xfrm>
            <a:off x="10572750" y="336550"/>
            <a:ext cx="952500" cy="241300"/>
          </a:xfrm>
          <a:prstGeom prst="rect">
            <a:avLst/>
          </a:prstGeom>
          <a:noFill/>
        </p:spPr>
        <p:txBody>
          <a:bodyPr wrap="none" lIns="0" rIns="0" tIns="0" bIns="0" anchor="t">
            <a:noAutofit/>
          </a:bodyPr>
          <a:lstStyle/>
          <a:p>
            <a:pPr algn="r">
              <a:lnSpc>
                <a:spcPts val="1500"/>
              </a:lnSpc>
              <a:spcBef>
                <a:spcPts val="0"/>
              </a:spcBef>
              <a:spcAft>
                <a:spcPts val="0"/>
              </a:spcAft>
            </a:pPr>
            <a:r>
              <a:rPr b="0" sz="1250">
                <a:solidFill>
                  <a:srgbClr val="A7B8CF"/>
                </a:solidFill>
                <a:latin typeface="DejaVu Sans"/>
              </a:rPr>
              <a:t>04 / 06</a:t>
            </a:r>
          </a:p>
        </p:txBody>
      </p:sp>
      <p:cxnSp>
        <p:nvCxnSpPr>
          <p:cNvPr id="6" name="Connector 5"/>
          <p:cNvCxnSpPr/>
          <p:nvPr/>
        </p:nvCxnSpPr>
        <p:spPr>
          <a:xfrm>
            <a:off x="609600" y="6375400"/>
            <a:ext cx="1097280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35000" y="6496050"/>
            <a:ext cx="6032500" cy="218440"/>
          </a:xfrm>
          <a:prstGeom prst="rect">
            <a:avLst/>
          </a:prstGeom>
          <a:noFill/>
        </p:spPr>
        <p:txBody>
          <a:bodyPr wrap="none" lIns="0" rIns="0" tIns="0" bIns="0" anchor="t">
            <a:noAutofit/>
          </a:bodyPr>
          <a:lstStyle/>
          <a:p>
            <a:pPr>
              <a:lnSpc>
                <a:spcPts val="1320"/>
              </a:lnSpc>
              <a:spcBef>
                <a:spcPts val="0"/>
              </a:spcBef>
              <a:spcAft>
                <a:spcPts val="0"/>
              </a:spcAft>
            </a:pPr>
            <a:r>
              <a:rPr b="0" sz="1100">
                <a:solidFill>
                  <a:srgbClr val="A7B8CF"/>
                </a:solidFill>
                <a:latin typeface="DejaVu Sans"/>
              </a:rPr>
              <a:t>Scheduled Emmy IR → NVIDIA PTX</a:t>
            </a:r>
          </a:p>
        </p:txBody>
      </p:sp>
      <p:sp>
        <p:nvSpPr>
          <p:cNvPr id="8" name="TextBox 7"/>
          <p:cNvSpPr txBox="1"/>
          <p:nvPr/>
        </p:nvSpPr>
        <p:spPr>
          <a:xfrm>
            <a:off x="8699500" y="6496050"/>
            <a:ext cx="2857500" cy="218440"/>
          </a:xfrm>
          <a:prstGeom prst="rect">
            <a:avLst/>
          </a:prstGeom>
          <a:noFill/>
        </p:spPr>
        <p:txBody>
          <a:bodyPr wrap="none" lIns="0" rIns="0" tIns="0" bIns="0" anchor="t">
            <a:noAutofit/>
          </a:bodyPr>
          <a:lstStyle/>
          <a:p>
            <a:pPr algn="r">
              <a:lnSpc>
                <a:spcPts val="1320"/>
              </a:lnSpc>
              <a:spcBef>
                <a:spcPts val="0"/>
              </a:spcBef>
              <a:spcAft>
                <a:spcPts val="0"/>
              </a:spcAft>
            </a:pPr>
            <a:r>
              <a:rPr b="0" sz="1100">
                <a:solidFill>
                  <a:srgbClr val="A7B8CF"/>
                </a:solidFill>
                <a:latin typeface="DejaVu Sans"/>
              </a:rPr>
              <a:t>RTX 5090  /  SM120</a:t>
            </a:r>
          </a:p>
        </p:txBody>
      </p:sp>
      <p:sp>
        <p:nvSpPr>
          <p:cNvPr id="9" name="TextBox 8"/>
          <p:cNvSpPr txBox="1"/>
          <p:nvPr/>
        </p:nvSpPr>
        <p:spPr>
          <a:xfrm>
            <a:off x="685800" y="984250"/>
            <a:ext cx="10795000" cy="599440"/>
          </a:xfrm>
          <a:prstGeom prst="rect">
            <a:avLst/>
          </a:prstGeom>
          <a:noFill/>
        </p:spPr>
        <p:txBody>
          <a:bodyPr wrap="none" lIns="0" rIns="0" tIns="0" bIns="0" anchor="t">
            <a:noAutofit/>
          </a:bodyPr>
          <a:lstStyle/>
          <a:p>
            <a:pPr>
              <a:lnSpc>
                <a:spcPts val="4320"/>
              </a:lnSpc>
              <a:spcBef>
                <a:spcPts val="0"/>
              </a:spcBef>
              <a:spcAft>
                <a:spcPts val="0"/>
              </a:spcAft>
            </a:pPr>
            <a:r>
              <a:rPr b="1" sz="3600">
                <a:solidFill>
                  <a:srgbClr val="F1F5FA"/>
                </a:solidFill>
                <a:latin typeface="DejaVu Sans"/>
              </a:rPr>
              <a:t>Inspect the generated PTX</a:t>
            </a:r>
          </a:p>
        </p:txBody>
      </p:sp>
      <p:sp>
        <p:nvSpPr>
          <p:cNvPr id="10" name="TextBox 9"/>
          <p:cNvSpPr txBox="1"/>
          <p:nvPr/>
        </p:nvSpPr>
        <p:spPr>
          <a:xfrm>
            <a:off x="711200" y="1689100"/>
            <a:ext cx="10699750" cy="302260"/>
          </a:xfrm>
          <a:prstGeom prst="rect">
            <a:avLst/>
          </a:prstGeom>
          <a:noFill/>
        </p:spPr>
        <p:txBody>
          <a:bodyPr wrap="none" lIns="0" rIns="0" tIns="0" bIns="0" anchor="t">
            <a:noAutofit/>
          </a:bodyPr>
          <a:lstStyle/>
          <a:p>
            <a:pPr>
              <a:lnSpc>
                <a:spcPts val="1980"/>
              </a:lnSpc>
              <a:spcBef>
                <a:spcPts val="0"/>
              </a:spcBef>
              <a:spcAft>
                <a:spcPts val="0"/>
              </a:spcAft>
            </a:pPr>
            <a:r>
              <a:rPr b="0" sz="1650">
                <a:solidFill>
                  <a:srgbClr val="A7B8CF"/>
                </a:solidFill>
                <a:latin typeface="DejaVu Sans"/>
              </a:rPr>
              <a:t>A real TF32x3 matrix compile exposes both instruction families.</a:t>
            </a:r>
          </a:p>
        </p:txBody>
      </p:sp>
      <p:sp>
        <p:nvSpPr>
          <p:cNvPr id="11" name="Rounded Rectangle 10"/>
          <p:cNvSpPr/>
          <p:nvPr/>
        </p:nvSpPr>
        <p:spPr>
          <a:xfrm>
            <a:off x="698500" y="2222500"/>
            <a:ext cx="10795000" cy="3524250"/>
          </a:xfrm>
          <a:prstGeom prst="roundRect">
            <a:avLst>
              <a:gd name="adj" fmla="val 4504"/>
            </a:avLst>
          </a:prstGeom>
          <a:solidFill>
            <a:srgbClr val="101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33450" y="2393950"/>
            <a:ext cx="101600" cy="101600"/>
          </a:xfrm>
          <a:prstGeom prst="roundRect">
            <a:avLst>
              <a:gd name="adj" fmla="val 50000"/>
            </a:avLst>
          </a:prstGeom>
          <a:solidFill>
            <a:srgbClr val="DD7D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43000" y="2393950"/>
            <a:ext cx="101600" cy="101600"/>
          </a:xfrm>
          <a:prstGeom prst="roundRect">
            <a:avLst>
              <a:gd name="adj" fmla="val 50000"/>
            </a:avLst>
          </a:prstGeom>
          <a:solidFill>
            <a:srgbClr val="F1C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352550" y="2393950"/>
            <a:ext cx="101600" cy="101600"/>
          </a:xfrm>
          <a:prstGeom prst="roundRect">
            <a:avLst>
              <a:gd name="adj" fmla="val 50000"/>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8500" y="2330450"/>
            <a:ext cx="4127500" cy="233679"/>
          </a:xfrm>
          <a:prstGeom prst="rect">
            <a:avLst/>
          </a:prstGeom>
          <a:noFill/>
        </p:spPr>
        <p:txBody>
          <a:bodyPr wrap="none" lIns="0" rIns="0" tIns="0" bIns="0" anchor="t">
            <a:noAutofit/>
          </a:bodyPr>
          <a:lstStyle/>
          <a:p>
            <a:pPr algn="r">
              <a:lnSpc>
                <a:spcPts val="1439"/>
              </a:lnSpc>
              <a:spcBef>
                <a:spcPts val="0"/>
              </a:spcBef>
              <a:spcAft>
                <a:spcPts val="0"/>
              </a:spcAft>
            </a:pPr>
            <a:r>
              <a:rPr b="1" sz="1200">
                <a:solidFill>
                  <a:srgbClr val="A7B8CF"/>
                </a:solidFill>
                <a:latin typeface="DejaVu Sans"/>
              </a:rPr>
              <a:t>COMPILE FOR SM120 · CPU ONLY</a:t>
            </a:r>
          </a:p>
        </p:txBody>
      </p:sp>
      <p:sp>
        <p:nvSpPr>
          <p:cNvPr id="16" name="TextBox 15"/>
          <p:cNvSpPr txBox="1"/>
          <p:nvPr/>
        </p:nvSpPr>
        <p:spPr>
          <a:xfrm>
            <a:off x="952500" y="2825750"/>
            <a:ext cx="10223500" cy="621665"/>
          </a:xfrm>
          <a:prstGeom prst="rect">
            <a:avLst/>
          </a:prstGeom>
          <a:noFill/>
        </p:spPr>
        <p:txBody>
          <a:bodyPr wrap="none" lIns="0" rIns="0" tIns="0" bIns="0" anchor="t">
            <a:noAutofit/>
          </a:bodyPr>
          <a:lstStyle/>
          <a:p>
            <a:pPr>
              <a:lnSpc>
                <a:spcPts val="2247"/>
              </a:lnSpc>
              <a:spcBef>
                <a:spcPts val="0"/>
              </a:spcBef>
              <a:spcAft>
                <a:spcPts val="0"/>
              </a:spcAft>
            </a:pPr>
            <a:r>
              <a:rPr b="0" sz="1450">
                <a:solidFill>
                  <a:srgbClr val="F1F5FA"/>
                </a:solidFill>
                <a:latin typeface="Liberation Mono"/>
              </a:rPr>
              <a:t>python compile.py examples/tensor_matmul/matmul_tiled_128.ir.json \</a:t>
            </a:r>
          </a:p>
          <a:p>
            <a:pPr>
              <a:lnSpc>
                <a:spcPts val="2247"/>
              </a:lnSpc>
              <a:spcBef>
                <a:spcPts val="0"/>
              </a:spcBef>
              <a:spcAft>
                <a:spcPts val="0"/>
              </a:spcAft>
            </a:pPr>
            <a:r>
              <a:rPr b="0" sz="1450">
                <a:solidFill>
                  <a:srgbClr val="F1F5FA"/>
                </a:solidFill>
                <a:latin typeface="Liberation Mono"/>
              </a:rPr>
              <a:t>  --arch sm_120 --opt-level 3 --contraction-precision tf32x3 &gt; /tmp/demo.ptx</a:t>
            </a:r>
          </a:p>
        </p:txBody>
      </p:sp>
      <p:sp>
        <p:nvSpPr>
          <p:cNvPr id="17" name="TextBox 16"/>
          <p:cNvSpPr txBox="1"/>
          <p:nvPr/>
        </p:nvSpPr>
        <p:spPr>
          <a:xfrm>
            <a:off x="952500" y="3810000"/>
            <a:ext cx="10160000" cy="233679"/>
          </a:xfrm>
          <a:prstGeom prst="rect">
            <a:avLst/>
          </a:prstGeom>
          <a:noFill/>
        </p:spPr>
        <p:txBody>
          <a:bodyPr wrap="none" lIns="0" rIns="0" tIns="0" bIns="0" anchor="t">
            <a:noAutofit/>
          </a:bodyPr>
          <a:lstStyle/>
          <a:p>
            <a:pPr>
              <a:lnSpc>
                <a:spcPts val="1439"/>
              </a:lnSpc>
              <a:spcBef>
                <a:spcPts val="0"/>
              </a:spcBef>
              <a:spcAft>
                <a:spcPts val="0"/>
              </a:spcAft>
            </a:pPr>
            <a:r>
              <a:rPr b="1" sz="1200">
                <a:solidFill>
                  <a:srgbClr val="A7B8CF"/>
                </a:solidFill>
                <a:latin typeface="DejaVu Sans"/>
              </a:rPr>
              <a:t>TENSOR-CORE OPCODE</a:t>
            </a:r>
          </a:p>
        </p:txBody>
      </p:sp>
      <p:sp>
        <p:nvSpPr>
          <p:cNvPr id="18" name="TextBox 17"/>
          <p:cNvSpPr txBox="1"/>
          <p:nvPr/>
        </p:nvSpPr>
        <p:spPr>
          <a:xfrm>
            <a:off x="952500" y="4102100"/>
            <a:ext cx="10223500" cy="309880"/>
          </a:xfrm>
          <a:prstGeom prst="rect">
            <a:avLst/>
          </a:prstGeom>
          <a:noFill/>
        </p:spPr>
        <p:txBody>
          <a:bodyPr wrap="none" lIns="0" rIns="0" tIns="0" bIns="0" anchor="t">
            <a:noAutofit/>
          </a:bodyPr>
          <a:lstStyle/>
          <a:p>
            <a:pPr>
              <a:lnSpc>
                <a:spcPts val="2039"/>
              </a:lnSpc>
              <a:spcBef>
                <a:spcPts val="0"/>
              </a:spcBef>
              <a:spcAft>
                <a:spcPts val="0"/>
              </a:spcAft>
            </a:pPr>
            <a:r>
              <a:rPr b="0" sz="1700">
                <a:solidFill>
                  <a:srgbClr val="5CE4BF"/>
                </a:solidFill>
                <a:latin typeface="Liberation Mono"/>
              </a:rPr>
              <a:t>mma.sync.aligned.m16n8k8.row.col.f32.tf32.tf32.f32</a:t>
            </a:r>
          </a:p>
        </p:txBody>
      </p:sp>
      <p:sp>
        <p:nvSpPr>
          <p:cNvPr id="19" name="TextBox 18"/>
          <p:cNvSpPr txBox="1"/>
          <p:nvPr/>
        </p:nvSpPr>
        <p:spPr>
          <a:xfrm>
            <a:off x="952500" y="4667250"/>
            <a:ext cx="10160000" cy="233679"/>
          </a:xfrm>
          <a:prstGeom prst="rect">
            <a:avLst/>
          </a:prstGeom>
          <a:noFill/>
        </p:spPr>
        <p:txBody>
          <a:bodyPr wrap="none" lIns="0" rIns="0" tIns="0" bIns="0" anchor="t">
            <a:noAutofit/>
          </a:bodyPr>
          <a:lstStyle/>
          <a:p>
            <a:pPr>
              <a:lnSpc>
                <a:spcPts val="1439"/>
              </a:lnSpc>
              <a:spcBef>
                <a:spcPts val="0"/>
              </a:spcBef>
              <a:spcAft>
                <a:spcPts val="0"/>
              </a:spcAft>
            </a:pPr>
            <a:r>
              <a:rPr b="1" sz="1200">
                <a:solidFill>
                  <a:srgbClr val="A7B8CF"/>
                </a:solidFill>
                <a:latin typeface="DejaVu Sans"/>
              </a:rPr>
              <a:t>GLOBAL-TO-SHARED COPY</a:t>
            </a:r>
          </a:p>
        </p:txBody>
      </p:sp>
      <p:sp>
        <p:nvSpPr>
          <p:cNvPr id="20" name="TextBox 19"/>
          <p:cNvSpPr txBox="1"/>
          <p:nvPr/>
        </p:nvSpPr>
        <p:spPr>
          <a:xfrm>
            <a:off x="952500" y="4965700"/>
            <a:ext cx="10223500" cy="309880"/>
          </a:xfrm>
          <a:prstGeom prst="rect">
            <a:avLst/>
          </a:prstGeom>
          <a:noFill/>
        </p:spPr>
        <p:txBody>
          <a:bodyPr wrap="none" lIns="0" rIns="0" tIns="0" bIns="0" anchor="t">
            <a:noAutofit/>
          </a:bodyPr>
          <a:lstStyle/>
          <a:p>
            <a:pPr>
              <a:lnSpc>
                <a:spcPts val="2039"/>
              </a:lnSpc>
              <a:spcBef>
                <a:spcPts val="0"/>
              </a:spcBef>
              <a:spcAft>
                <a:spcPts val="0"/>
              </a:spcAft>
            </a:pPr>
            <a:r>
              <a:rPr b="0" sz="1700">
                <a:solidFill>
                  <a:srgbClr val="95B4FF"/>
                </a:solidFill>
                <a:latin typeface="Liberation Mono"/>
              </a:rPr>
              <a:t>cp.async.cg.shared.global [%r1], [%rd1], 16;</a:t>
            </a:r>
          </a:p>
        </p:txBody>
      </p:sp>
      <p:sp>
        <p:nvSpPr>
          <p:cNvPr id="21" name="TextBox 20"/>
          <p:cNvSpPr txBox="1"/>
          <p:nvPr/>
        </p:nvSpPr>
        <p:spPr>
          <a:xfrm>
            <a:off x="723900" y="5975350"/>
            <a:ext cx="10731500" cy="248920"/>
          </a:xfrm>
          <a:prstGeom prst="rect">
            <a:avLst/>
          </a:prstGeom>
          <a:noFill/>
        </p:spPr>
        <p:txBody>
          <a:bodyPr wrap="none" lIns="0" rIns="0" tIns="0" bIns="0" anchor="t">
            <a:noAutofit/>
          </a:bodyPr>
          <a:lstStyle/>
          <a:p>
            <a:pPr>
              <a:lnSpc>
                <a:spcPts val="1560"/>
              </a:lnSpc>
              <a:spcBef>
                <a:spcPts val="0"/>
              </a:spcBef>
              <a:spcAft>
                <a:spcPts val="0"/>
              </a:spcAft>
            </a:pPr>
            <a:r>
              <a:rPr b="0" sz="1300">
                <a:solidFill>
                  <a:srgbClr val="A7B8CF"/>
                </a:solidFill>
                <a:latin typeface="DejaVu Sans"/>
              </a:rPr>
              <a:t>Actual emitted PTX. MMA operands omitted for legibility. This demonstrates compilation.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C1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19100"/>
            <a:ext cx="304800" cy="444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1400" y="336550"/>
            <a:ext cx="44450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5CE4BF"/>
                </a:solidFill>
                <a:latin typeface="DejaVu Sans"/>
              </a:rPr>
              <a:t>DEUTERON</a:t>
            </a:r>
          </a:p>
        </p:txBody>
      </p:sp>
      <p:sp>
        <p:nvSpPr>
          <p:cNvPr id="5" name="TextBox 4"/>
          <p:cNvSpPr txBox="1"/>
          <p:nvPr/>
        </p:nvSpPr>
        <p:spPr>
          <a:xfrm>
            <a:off x="10572750" y="336550"/>
            <a:ext cx="952500" cy="241300"/>
          </a:xfrm>
          <a:prstGeom prst="rect">
            <a:avLst/>
          </a:prstGeom>
          <a:noFill/>
        </p:spPr>
        <p:txBody>
          <a:bodyPr wrap="none" lIns="0" rIns="0" tIns="0" bIns="0" anchor="t">
            <a:noAutofit/>
          </a:bodyPr>
          <a:lstStyle/>
          <a:p>
            <a:pPr algn="r">
              <a:lnSpc>
                <a:spcPts val="1500"/>
              </a:lnSpc>
              <a:spcBef>
                <a:spcPts val="0"/>
              </a:spcBef>
              <a:spcAft>
                <a:spcPts val="0"/>
              </a:spcAft>
            </a:pPr>
            <a:r>
              <a:rPr b="0" sz="1250">
                <a:solidFill>
                  <a:srgbClr val="A7B8CF"/>
                </a:solidFill>
                <a:latin typeface="DejaVu Sans"/>
              </a:rPr>
              <a:t>05 / 06</a:t>
            </a:r>
          </a:p>
        </p:txBody>
      </p:sp>
      <p:cxnSp>
        <p:nvCxnSpPr>
          <p:cNvPr id="6" name="Connector 5"/>
          <p:cNvCxnSpPr/>
          <p:nvPr/>
        </p:nvCxnSpPr>
        <p:spPr>
          <a:xfrm>
            <a:off x="609600" y="6375400"/>
            <a:ext cx="1097280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35000" y="6496050"/>
            <a:ext cx="6032500" cy="218440"/>
          </a:xfrm>
          <a:prstGeom prst="rect">
            <a:avLst/>
          </a:prstGeom>
          <a:noFill/>
        </p:spPr>
        <p:txBody>
          <a:bodyPr wrap="none" lIns="0" rIns="0" tIns="0" bIns="0" anchor="t">
            <a:noAutofit/>
          </a:bodyPr>
          <a:lstStyle/>
          <a:p>
            <a:pPr>
              <a:lnSpc>
                <a:spcPts val="1320"/>
              </a:lnSpc>
              <a:spcBef>
                <a:spcPts val="0"/>
              </a:spcBef>
              <a:spcAft>
                <a:spcPts val="0"/>
              </a:spcAft>
            </a:pPr>
            <a:r>
              <a:rPr b="0" sz="1100">
                <a:solidFill>
                  <a:srgbClr val="A7B8CF"/>
                </a:solidFill>
                <a:latin typeface="DejaVu Sans"/>
              </a:rPr>
              <a:t>Scheduled Emmy IR → NVIDIA PTX</a:t>
            </a:r>
          </a:p>
        </p:txBody>
      </p:sp>
      <p:sp>
        <p:nvSpPr>
          <p:cNvPr id="8" name="TextBox 7"/>
          <p:cNvSpPr txBox="1"/>
          <p:nvPr/>
        </p:nvSpPr>
        <p:spPr>
          <a:xfrm>
            <a:off x="8699500" y="6496050"/>
            <a:ext cx="2857500" cy="218440"/>
          </a:xfrm>
          <a:prstGeom prst="rect">
            <a:avLst/>
          </a:prstGeom>
          <a:noFill/>
        </p:spPr>
        <p:txBody>
          <a:bodyPr wrap="none" lIns="0" rIns="0" tIns="0" bIns="0" anchor="t">
            <a:noAutofit/>
          </a:bodyPr>
          <a:lstStyle/>
          <a:p>
            <a:pPr algn="r">
              <a:lnSpc>
                <a:spcPts val="1320"/>
              </a:lnSpc>
              <a:spcBef>
                <a:spcPts val="0"/>
              </a:spcBef>
              <a:spcAft>
                <a:spcPts val="0"/>
              </a:spcAft>
            </a:pPr>
            <a:r>
              <a:rPr b="0" sz="1100">
                <a:solidFill>
                  <a:srgbClr val="A7B8CF"/>
                </a:solidFill>
                <a:latin typeface="DejaVu Sans"/>
              </a:rPr>
              <a:t>RTX 5090  /  SM120</a:t>
            </a:r>
          </a:p>
        </p:txBody>
      </p:sp>
      <p:sp>
        <p:nvSpPr>
          <p:cNvPr id="9" name="TextBox 8"/>
          <p:cNvSpPr txBox="1"/>
          <p:nvPr/>
        </p:nvSpPr>
        <p:spPr>
          <a:xfrm>
            <a:off x="685800" y="984250"/>
            <a:ext cx="10795000" cy="599440"/>
          </a:xfrm>
          <a:prstGeom prst="rect">
            <a:avLst/>
          </a:prstGeom>
          <a:noFill/>
        </p:spPr>
        <p:txBody>
          <a:bodyPr wrap="none" lIns="0" rIns="0" tIns="0" bIns="0" anchor="t">
            <a:noAutofit/>
          </a:bodyPr>
          <a:lstStyle/>
          <a:p>
            <a:pPr>
              <a:lnSpc>
                <a:spcPts val="4320"/>
              </a:lnSpc>
              <a:spcBef>
                <a:spcPts val="0"/>
              </a:spcBef>
              <a:spcAft>
                <a:spcPts val="0"/>
              </a:spcAft>
            </a:pPr>
            <a:r>
              <a:rPr b="1" sz="3600">
                <a:solidFill>
                  <a:srgbClr val="F1F5FA"/>
                </a:solidFill>
                <a:latin typeface="DejaVu Sans"/>
              </a:rPr>
              <a:t>Measured on RTX 5090</a:t>
            </a:r>
          </a:p>
        </p:txBody>
      </p:sp>
      <p:sp>
        <p:nvSpPr>
          <p:cNvPr id="10" name="TextBox 9"/>
          <p:cNvSpPr txBox="1"/>
          <p:nvPr/>
        </p:nvSpPr>
        <p:spPr>
          <a:xfrm>
            <a:off x="711200" y="1689100"/>
            <a:ext cx="10699750" cy="302260"/>
          </a:xfrm>
          <a:prstGeom prst="rect">
            <a:avLst/>
          </a:prstGeom>
          <a:noFill/>
        </p:spPr>
        <p:txBody>
          <a:bodyPr wrap="none" lIns="0" rIns="0" tIns="0" bIns="0" anchor="t">
            <a:noAutofit/>
          </a:bodyPr>
          <a:lstStyle/>
          <a:p>
            <a:pPr>
              <a:lnSpc>
                <a:spcPts val="1980"/>
              </a:lnSpc>
              <a:spcBef>
                <a:spcPts val="0"/>
              </a:spcBef>
              <a:spcAft>
                <a:spcPts val="0"/>
              </a:spcAft>
            </a:pPr>
            <a:r>
              <a:rPr b="0" sz="1650">
                <a:solidFill>
                  <a:srgbClr val="A7B8CF"/>
                </a:solidFill>
                <a:latin typeface="DejaVu Sans"/>
              </a:rPr>
              <a:t>Geometric mean warm latency · 15 open workloads · lower is better</a:t>
            </a:r>
          </a:p>
        </p:txBody>
      </p:sp>
      <p:sp>
        <p:nvSpPr>
          <p:cNvPr id="11" name="TextBox 10"/>
          <p:cNvSpPr txBox="1"/>
          <p:nvPr/>
        </p:nvSpPr>
        <p:spPr>
          <a:xfrm>
            <a:off x="7048500" y="2159000"/>
            <a:ext cx="508000" cy="248920"/>
          </a:xfrm>
          <a:prstGeom prst="rect">
            <a:avLst/>
          </a:prstGeom>
          <a:noFill/>
        </p:spPr>
        <p:txBody>
          <a:bodyPr wrap="none" lIns="0" rIns="0" tIns="0" bIns="0" anchor="t">
            <a:noAutofit/>
          </a:bodyPr>
          <a:lstStyle/>
          <a:p>
            <a:pPr>
              <a:lnSpc>
                <a:spcPts val="1560"/>
              </a:lnSpc>
              <a:spcBef>
                <a:spcPts val="0"/>
              </a:spcBef>
              <a:spcAft>
                <a:spcPts val="0"/>
              </a:spcAft>
            </a:pPr>
            <a:r>
              <a:rPr b="0" sz="1300">
                <a:solidFill>
                  <a:srgbClr val="A7B8CF"/>
                </a:solidFill>
                <a:latin typeface="DejaVu Sans"/>
              </a:rPr>
              <a:t>µs</a:t>
            </a:r>
          </a:p>
        </p:txBody>
      </p:sp>
      <p:sp>
        <p:nvSpPr>
          <p:cNvPr id="12" name="TextBox 11"/>
          <p:cNvSpPr txBox="1"/>
          <p:nvPr/>
        </p:nvSpPr>
        <p:spPr>
          <a:xfrm>
            <a:off x="762000" y="2787650"/>
            <a:ext cx="1320800" cy="287020"/>
          </a:xfrm>
          <a:prstGeom prst="rect">
            <a:avLst/>
          </a:prstGeom>
          <a:noFill/>
        </p:spPr>
        <p:txBody>
          <a:bodyPr wrap="none" lIns="0" rIns="0" tIns="0" bIns="0" anchor="t">
            <a:noAutofit/>
          </a:bodyPr>
          <a:lstStyle/>
          <a:p>
            <a:pPr>
              <a:lnSpc>
                <a:spcPts val="1859"/>
              </a:lnSpc>
              <a:spcBef>
                <a:spcPts val="0"/>
              </a:spcBef>
              <a:spcAft>
                <a:spcPts val="0"/>
              </a:spcAft>
            </a:pPr>
            <a:r>
              <a:rPr b="1" sz="1550">
                <a:solidFill>
                  <a:srgbClr val="F1F5FA"/>
                </a:solidFill>
                <a:latin typeface="DejaVu Sans"/>
              </a:rPr>
              <a:t>Deuteron</a:t>
            </a:r>
          </a:p>
        </p:txBody>
      </p:sp>
      <p:sp>
        <p:nvSpPr>
          <p:cNvPr id="13" name="Rounded Rectangle 12"/>
          <p:cNvSpPr/>
          <p:nvPr/>
        </p:nvSpPr>
        <p:spPr>
          <a:xfrm>
            <a:off x="2159000" y="2679700"/>
            <a:ext cx="2638092" cy="495300"/>
          </a:xfrm>
          <a:prstGeom prst="roundRect">
            <a:avLst>
              <a:gd name="adj" fmla="val 10256"/>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05042" y="2787650"/>
            <a:ext cx="800100" cy="294640"/>
          </a:xfrm>
          <a:prstGeom prst="rect">
            <a:avLst/>
          </a:prstGeom>
          <a:noFill/>
        </p:spPr>
        <p:txBody>
          <a:bodyPr wrap="none" lIns="0" rIns="0" tIns="0" bIns="0" anchor="t">
            <a:noAutofit/>
          </a:bodyPr>
          <a:lstStyle/>
          <a:p>
            <a:pPr>
              <a:lnSpc>
                <a:spcPts val="1920"/>
              </a:lnSpc>
              <a:spcBef>
                <a:spcPts val="0"/>
              </a:spcBef>
              <a:spcAft>
                <a:spcPts val="0"/>
              </a:spcAft>
            </a:pPr>
            <a:r>
              <a:rPr b="1" sz="1600">
                <a:solidFill>
                  <a:srgbClr val="F1F5FA"/>
                </a:solidFill>
                <a:latin typeface="DejaVu Sans"/>
              </a:rPr>
              <a:t>3.752</a:t>
            </a:r>
          </a:p>
        </p:txBody>
      </p:sp>
      <p:sp>
        <p:nvSpPr>
          <p:cNvPr id="15" name="TextBox 14"/>
          <p:cNvSpPr txBox="1"/>
          <p:nvPr/>
        </p:nvSpPr>
        <p:spPr>
          <a:xfrm>
            <a:off x="762000" y="3752850"/>
            <a:ext cx="1320800" cy="287020"/>
          </a:xfrm>
          <a:prstGeom prst="rect">
            <a:avLst/>
          </a:prstGeom>
          <a:noFill/>
        </p:spPr>
        <p:txBody>
          <a:bodyPr wrap="none" lIns="0" rIns="0" tIns="0" bIns="0" anchor="t">
            <a:noAutofit/>
          </a:bodyPr>
          <a:lstStyle/>
          <a:p>
            <a:pPr>
              <a:lnSpc>
                <a:spcPts val="1859"/>
              </a:lnSpc>
              <a:spcBef>
                <a:spcPts val="0"/>
              </a:spcBef>
              <a:spcAft>
                <a:spcPts val="0"/>
              </a:spcAft>
            </a:pPr>
            <a:r>
              <a:rPr b="1" sz="1550">
                <a:solidFill>
                  <a:srgbClr val="F1F5FA"/>
                </a:solidFill>
                <a:latin typeface="DejaVu Sans"/>
              </a:rPr>
              <a:t>NVCC 12.8</a:t>
            </a:r>
          </a:p>
        </p:txBody>
      </p:sp>
      <p:sp>
        <p:nvSpPr>
          <p:cNvPr id="16" name="Rounded Rectangle 15"/>
          <p:cNvSpPr/>
          <p:nvPr/>
        </p:nvSpPr>
        <p:spPr>
          <a:xfrm>
            <a:off x="2159000" y="3644900"/>
            <a:ext cx="4370295" cy="495300"/>
          </a:xfrm>
          <a:prstGeom prst="roundRect">
            <a:avLst>
              <a:gd name="adj" fmla="val 10256"/>
            </a:avLst>
          </a:prstGeom>
          <a:solidFill>
            <a:srgbClr val="8496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37245" y="3752850"/>
            <a:ext cx="800100" cy="294640"/>
          </a:xfrm>
          <a:prstGeom prst="rect">
            <a:avLst/>
          </a:prstGeom>
          <a:noFill/>
        </p:spPr>
        <p:txBody>
          <a:bodyPr wrap="none" lIns="0" rIns="0" tIns="0" bIns="0" anchor="t">
            <a:noAutofit/>
          </a:bodyPr>
          <a:lstStyle/>
          <a:p>
            <a:pPr>
              <a:lnSpc>
                <a:spcPts val="1920"/>
              </a:lnSpc>
              <a:spcBef>
                <a:spcPts val="0"/>
              </a:spcBef>
              <a:spcAft>
                <a:spcPts val="0"/>
              </a:spcAft>
            </a:pPr>
            <a:r>
              <a:rPr b="1" sz="1600">
                <a:solidFill>
                  <a:srgbClr val="F1F5FA"/>
                </a:solidFill>
                <a:latin typeface="DejaVu Sans"/>
              </a:rPr>
              <a:t>6.216</a:t>
            </a:r>
          </a:p>
        </p:txBody>
      </p:sp>
      <p:sp>
        <p:nvSpPr>
          <p:cNvPr id="18" name="TextBox 17"/>
          <p:cNvSpPr txBox="1"/>
          <p:nvPr/>
        </p:nvSpPr>
        <p:spPr>
          <a:xfrm>
            <a:off x="762000" y="4718050"/>
            <a:ext cx="1320800" cy="287020"/>
          </a:xfrm>
          <a:prstGeom prst="rect">
            <a:avLst/>
          </a:prstGeom>
          <a:noFill/>
        </p:spPr>
        <p:txBody>
          <a:bodyPr wrap="none" lIns="0" rIns="0" tIns="0" bIns="0" anchor="t">
            <a:noAutofit/>
          </a:bodyPr>
          <a:lstStyle/>
          <a:p>
            <a:pPr>
              <a:lnSpc>
                <a:spcPts val="1859"/>
              </a:lnSpc>
              <a:spcBef>
                <a:spcPts val="0"/>
              </a:spcBef>
              <a:spcAft>
                <a:spcPts val="0"/>
              </a:spcAft>
            </a:pPr>
            <a:r>
              <a:rPr b="1" sz="1550">
                <a:solidFill>
                  <a:srgbClr val="F1F5FA"/>
                </a:solidFill>
                <a:latin typeface="DejaVu Sans"/>
              </a:rPr>
              <a:t>Triton 3.6</a:t>
            </a:r>
          </a:p>
        </p:txBody>
      </p:sp>
      <p:sp>
        <p:nvSpPr>
          <p:cNvPr id="19" name="Rounded Rectangle 18"/>
          <p:cNvSpPr/>
          <p:nvPr/>
        </p:nvSpPr>
        <p:spPr>
          <a:xfrm>
            <a:off x="2159000" y="4610100"/>
            <a:ext cx="3045577" cy="495300"/>
          </a:xfrm>
          <a:prstGeom prst="roundRect">
            <a:avLst>
              <a:gd name="adj" fmla="val 10256"/>
            </a:avLst>
          </a:prstGeom>
          <a:solidFill>
            <a:srgbClr val="95B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12527" y="4718050"/>
            <a:ext cx="800100" cy="294640"/>
          </a:xfrm>
          <a:prstGeom prst="rect">
            <a:avLst/>
          </a:prstGeom>
          <a:noFill/>
        </p:spPr>
        <p:txBody>
          <a:bodyPr wrap="none" lIns="0" rIns="0" tIns="0" bIns="0" anchor="t">
            <a:noAutofit/>
          </a:bodyPr>
          <a:lstStyle/>
          <a:p>
            <a:pPr>
              <a:lnSpc>
                <a:spcPts val="1920"/>
              </a:lnSpc>
              <a:spcBef>
                <a:spcPts val="0"/>
              </a:spcBef>
              <a:spcAft>
                <a:spcPts val="0"/>
              </a:spcAft>
            </a:pPr>
            <a:r>
              <a:rPr b="1" sz="1600">
                <a:solidFill>
                  <a:srgbClr val="F1F5FA"/>
                </a:solidFill>
                <a:latin typeface="DejaVu Sans"/>
              </a:rPr>
              <a:t>4.332</a:t>
            </a:r>
          </a:p>
        </p:txBody>
      </p:sp>
      <p:cxnSp>
        <p:nvCxnSpPr>
          <p:cNvPr id="21" name="Connector 20"/>
          <p:cNvCxnSpPr/>
          <p:nvPr/>
        </p:nvCxnSpPr>
        <p:spPr>
          <a:xfrm>
            <a:off x="2159000" y="5416550"/>
            <a:ext cx="492125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159000" y="5416550"/>
            <a:ext cx="0" cy="76200"/>
          </a:xfrm>
          <a:prstGeom prst="line">
            <a:avLst/>
          </a:prstGeom>
          <a:ln w="12700">
            <a:solidFill>
              <a:srgbClr val="A7B8C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114550" y="5575300"/>
            <a:ext cx="317500" cy="233679"/>
          </a:xfrm>
          <a:prstGeom prst="rect">
            <a:avLst/>
          </a:prstGeom>
          <a:noFill/>
        </p:spPr>
        <p:txBody>
          <a:bodyPr wrap="none" lIns="0" rIns="0" tIns="0" bIns="0" anchor="t">
            <a:noAutofit/>
          </a:bodyPr>
          <a:lstStyle/>
          <a:p>
            <a:pPr>
              <a:lnSpc>
                <a:spcPts val="1439"/>
              </a:lnSpc>
              <a:spcBef>
                <a:spcPts val="0"/>
              </a:spcBef>
              <a:spcAft>
                <a:spcPts val="0"/>
              </a:spcAft>
            </a:pPr>
            <a:r>
              <a:rPr b="0" sz="1200">
                <a:solidFill>
                  <a:srgbClr val="A7B8CF"/>
                </a:solidFill>
                <a:latin typeface="DejaVu Sans"/>
              </a:rPr>
              <a:t>0</a:t>
            </a:r>
          </a:p>
        </p:txBody>
      </p:sp>
      <p:cxnSp>
        <p:nvCxnSpPr>
          <p:cNvPr id="24" name="Connector 23"/>
          <p:cNvCxnSpPr/>
          <p:nvPr/>
        </p:nvCxnSpPr>
        <p:spPr>
          <a:xfrm>
            <a:off x="3565071" y="5416550"/>
            <a:ext cx="0" cy="76200"/>
          </a:xfrm>
          <a:prstGeom prst="line">
            <a:avLst/>
          </a:prstGeom>
          <a:ln w="12700">
            <a:solidFill>
              <a:srgbClr val="A7B8CF"/>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20621" y="5575300"/>
            <a:ext cx="317500" cy="233679"/>
          </a:xfrm>
          <a:prstGeom prst="rect">
            <a:avLst/>
          </a:prstGeom>
          <a:noFill/>
        </p:spPr>
        <p:txBody>
          <a:bodyPr wrap="none" lIns="0" rIns="0" tIns="0" bIns="0" anchor="t">
            <a:noAutofit/>
          </a:bodyPr>
          <a:lstStyle/>
          <a:p>
            <a:pPr>
              <a:lnSpc>
                <a:spcPts val="1439"/>
              </a:lnSpc>
              <a:spcBef>
                <a:spcPts val="0"/>
              </a:spcBef>
              <a:spcAft>
                <a:spcPts val="0"/>
              </a:spcAft>
            </a:pPr>
            <a:r>
              <a:rPr b="0" sz="1200">
                <a:solidFill>
                  <a:srgbClr val="A7B8CF"/>
                </a:solidFill>
                <a:latin typeface="DejaVu Sans"/>
              </a:rPr>
              <a:t>2</a:t>
            </a:r>
          </a:p>
        </p:txBody>
      </p:sp>
      <p:cxnSp>
        <p:nvCxnSpPr>
          <p:cNvPr id="26" name="Connector 25"/>
          <p:cNvCxnSpPr/>
          <p:nvPr/>
        </p:nvCxnSpPr>
        <p:spPr>
          <a:xfrm>
            <a:off x="4971142" y="5416550"/>
            <a:ext cx="0" cy="76200"/>
          </a:xfrm>
          <a:prstGeom prst="line">
            <a:avLst/>
          </a:prstGeom>
          <a:ln w="12700">
            <a:solidFill>
              <a:srgbClr val="A7B8CF"/>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926692" y="5575300"/>
            <a:ext cx="317500" cy="233679"/>
          </a:xfrm>
          <a:prstGeom prst="rect">
            <a:avLst/>
          </a:prstGeom>
          <a:noFill/>
        </p:spPr>
        <p:txBody>
          <a:bodyPr wrap="none" lIns="0" rIns="0" tIns="0" bIns="0" anchor="t">
            <a:noAutofit/>
          </a:bodyPr>
          <a:lstStyle/>
          <a:p>
            <a:pPr>
              <a:lnSpc>
                <a:spcPts val="1439"/>
              </a:lnSpc>
              <a:spcBef>
                <a:spcPts val="0"/>
              </a:spcBef>
              <a:spcAft>
                <a:spcPts val="0"/>
              </a:spcAft>
            </a:pPr>
            <a:r>
              <a:rPr b="0" sz="1200">
                <a:solidFill>
                  <a:srgbClr val="A7B8CF"/>
                </a:solidFill>
                <a:latin typeface="DejaVu Sans"/>
              </a:rPr>
              <a:t>4</a:t>
            </a:r>
          </a:p>
        </p:txBody>
      </p:sp>
      <p:cxnSp>
        <p:nvCxnSpPr>
          <p:cNvPr id="28" name="Connector 27"/>
          <p:cNvCxnSpPr/>
          <p:nvPr/>
        </p:nvCxnSpPr>
        <p:spPr>
          <a:xfrm>
            <a:off x="6377214" y="5416550"/>
            <a:ext cx="0" cy="76200"/>
          </a:xfrm>
          <a:prstGeom prst="line">
            <a:avLst/>
          </a:prstGeom>
          <a:ln w="12700">
            <a:solidFill>
              <a:srgbClr val="A7B8CF"/>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32764" y="5575300"/>
            <a:ext cx="317500" cy="233679"/>
          </a:xfrm>
          <a:prstGeom prst="rect">
            <a:avLst/>
          </a:prstGeom>
          <a:noFill/>
        </p:spPr>
        <p:txBody>
          <a:bodyPr wrap="none" lIns="0" rIns="0" tIns="0" bIns="0" anchor="t">
            <a:noAutofit/>
          </a:bodyPr>
          <a:lstStyle/>
          <a:p>
            <a:pPr>
              <a:lnSpc>
                <a:spcPts val="1439"/>
              </a:lnSpc>
              <a:spcBef>
                <a:spcPts val="0"/>
              </a:spcBef>
              <a:spcAft>
                <a:spcPts val="0"/>
              </a:spcAft>
            </a:pPr>
            <a:r>
              <a:rPr b="0" sz="1200">
                <a:solidFill>
                  <a:srgbClr val="A7B8CF"/>
                </a:solidFill>
                <a:latin typeface="DejaVu Sans"/>
              </a:rPr>
              <a:t>6</a:t>
            </a:r>
          </a:p>
        </p:txBody>
      </p:sp>
      <p:sp>
        <p:nvSpPr>
          <p:cNvPr id="30" name="Rounded Rectangle 29"/>
          <p:cNvSpPr/>
          <p:nvPr/>
        </p:nvSpPr>
        <p:spPr>
          <a:xfrm>
            <a:off x="8286750" y="2387600"/>
            <a:ext cx="3206750" cy="1409700"/>
          </a:xfrm>
          <a:prstGeom prst="roundRect">
            <a:avLst>
              <a:gd name="adj" fmla="val 10360"/>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09000" y="2546350"/>
            <a:ext cx="2774950" cy="812800"/>
          </a:xfrm>
          <a:prstGeom prst="rect">
            <a:avLst/>
          </a:prstGeom>
          <a:noFill/>
        </p:spPr>
        <p:txBody>
          <a:bodyPr wrap="none" lIns="0" rIns="0" tIns="0" bIns="0" anchor="t">
            <a:noAutofit/>
          </a:bodyPr>
          <a:lstStyle/>
          <a:p>
            <a:pPr>
              <a:lnSpc>
                <a:spcPts val="6000"/>
              </a:lnSpc>
              <a:spcBef>
                <a:spcPts val="0"/>
              </a:spcBef>
              <a:spcAft>
                <a:spcPts val="0"/>
              </a:spcAft>
            </a:pPr>
            <a:r>
              <a:rPr b="1" sz="5000">
                <a:solidFill>
                  <a:srgbClr val="5CE4BF"/>
                </a:solidFill>
                <a:latin typeface="DejaVu Sans"/>
              </a:rPr>
              <a:t>1.66×</a:t>
            </a:r>
          </a:p>
        </p:txBody>
      </p:sp>
      <p:sp>
        <p:nvSpPr>
          <p:cNvPr id="32" name="TextBox 31"/>
          <p:cNvSpPr txBox="1"/>
          <p:nvPr/>
        </p:nvSpPr>
        <p:spPr>
          <a:xfrm>
            <a:off x="8509000" y="3314700"/>
            <a:ext cx="2774950" cy="265112"/>
          </a:xfrm>
          <a:prstGeom prst="rect">
            <a:avLst/>
          </a:prstGeom>
          <a:noFill/>
        </p:spPr>
        <p:txBody>
          <a:bodyPr wrap="none" lIns="0" rIns="0" tIns="0" bIns="0" anchor="t">
            <a:noAutofit/>
          </a:bodyPr>
          <a:lstStyle/>
          <a:p>
            <a:pPr>
              <a:lnSpc>
                <a:spcPts val="1687"/>
              </a:lnSpc>
              <a:spcBef>
                <a:spcPts val="0"/>
              </a:spcBef>
              <a:spcAft>
                <a:spcPts val="0"/>
              </a:spcAft>
            </a:pPr>
            <a:r>
              <a:rPr b="0" sz="1350">
                <a:solidFill>
                  <a:srgbClr val="F1F5FA"/>
                </a:solidFill>
                <a:latin typeface="DejaVu Sans"/>
              </a:rPr>
              <a:t>vs generated CUDA / NVCC</a:t>
            </a:r>
          </a:p>
        </p:txBody>
      </p:sp>
      <p:sp>
        <p:nvSpPr>
          <p:cNvPr id="33" name="Rounded Rectangle 32"/>
          <p:cNvSpPr/>
          <p:nvPr/>
        </p:nvSpPr>
        <p:spPr>
          <a:xfrm>
            <a:off x="8286750" y="4089400"/>
            <a:ext cx="3206750" cy="1409700"/>
          </a:xfrm>
          <a:prstGeom prst="roundRect">
            <a:avLst>
              <a:gd name="adj" fmla="val 10360"/>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09000" y="4248150"/>
            <a:ext cx="2774950" cy="812800"/>
          </a:xfrm>
          <a:prstGeom prst="rect">
            <a:avLst/>
          </a:prstGeom>
          <a:noFill/>
        </p:spPr>
        <p:txBody>
          <a:bodyPr wrap="none" lIns="0" rIns="0" tIns="0" bIns="0" anchor="t">
            <a:noAutofit/>
          </a:bodyPr>
          <a:lstStyle/>
          <a:p>
            <a:pPr>
              <a:lnSpc>
                <a:spcPts val="6000"/>
              </a:lnSpc>
              <a:spcBef>
                <a:spcPts val="0"/>
              </a:spcBef>
              <a:spcAft>
                <a:spcPts val="0"/>
              </a:spcAft>
            </a:pPr>
            <a:r>
              <a:rPr b="1" sz="5000">
                <a:solidFill>
                  <a:srgbClr val="5CE4BF"/>
                </a:solidFill>
                <a:latin typeface="DejaVu Sans"/>
              </a:rPr>
              <a:t>1.15×</a:t>
            </a:r>
          </a:p>
        </p:txBody>
      </p:sp>
      <p:sp>
        <p:nvSpPr>
          <p:cNvPr id="35" name="TextBox 34"/>
          <p:cNvSpPr txBox="1"/>
          <p:nvPr/>
        </p:nvSpPr>
        <p:spPr>
          <a:xfrm>
            <a:off x="8509000" y="5016500"/>
            <a:ext cx="2774950" cy="265112"/>
          </a:xfrm>
          <a:prstGeom prst="rect">
            <a:avLst/>
          </a:prstGeom>
          <a:noFill/>
        </p:spPr>
        <p:txBody>
          <a:bodyPr wrap="none" lIns="0" rIns="0" tIns="0" bIns="0" anchor="t">
            <a:noAutofit/>
          </a:bodyPr>
          <a:lstStyle/>
          <a:p>
            <a:pPr>
              <a:lnSpc>
                <a:spcPts val="1687"/>
              </a:lnSpc>
              <a:spcBef>
                <a:spcPts val="0"/>
              </a:spcBef>
              <a:spcAft>
                <a:spcPts val="0"/>
              </a:spcAft>
            </a:pPr>
            <a:r>
              <a:rPr b="0" sz="1350">
                <a:solidFill>
                  <a:srgbClr val="F1F5FA"/>
                </a:solidFill>
                <a:latin typeface="DejaVu Sans"/>
              </a:rPr>
              <a:t>vs tested Triton baseline</a:t>
            </a:r>
          </a:p>
        </p:txBody>
      </p:sp>
      <p:sp>
        <p:nvSpPr>
          <p:cNvPr id="36" name="TextBox 35"/>
          <p:cNvSpPr txBox="1"/>
          <p:nvPr/>
        </p:nvSpPr>
        <p:spPr>
          <a:xfrm>
            <a:off x="723900" y="5975350"/>
            <a:ext cx="10731500" cy="256540"/>
          </a:xfrm>
          <a:prstGeom prst="rect">
            <a:avLst/>
          </a:prstGeom>
          <a:noFill/>
        </p:spPr>
        <p:txBody>
          <a:bodyPr wrap="none" lIns="0" rIns="0" tIns="0" bIns="0" anchor="t">
            <a:noAutofit/>
          </a:bodyPr>
          <a:lstStyle/>
          <a:p>
            <a:pPr>
              <a:lnSpc>
                <a:spcPts val="1620"/>
              </a:lnSpc>
              <a:spcBef>
                <a:spcPts val="0"/>
              </a:spcBef>
              <a:spcAft>
                <a:spcPts val="0"/>
              </a:spcAft>
            </a:pPr>
            <a:r>
              <a:rPr b="0" sz="1350">
                <a:solidFill>
                  <a:srgbClr val="F1F5FA"/>
                </a:solidFill>
                <a:latin typeface="DejaVu Sans"/>
              </a:rPr>
              <a:t>270 correct warm calls · 20 warmups / 200 iterations · Original inputs and tolerances</a:t>
            </a:r>
          </a:p>
        </p:txBody>
      </p:sp>
      <p:sp>
        <p:nvSpPr>
          <p:cNvPr id="37" name="TextBox 36"/>
          <p:cNvSpPr txBox="1"/>
          <p:nvPr/>
        </p:nvSpPr>
        <p:spPr>
          <a:xfrm>
            <a:off x="723900" y="6184900"/>
            <a:ext cx="10731500" cy="218440"/>
          </a:xfrm>
          <a:prstGeom prst="rect">
            <a:avLst/>
          </a:prstGeom>
          <a:noFill/>
        </p:spPr>
        <p:txBody>
          <a:bodyPr wrap="none" lIns="0" rIns="0" tIns="0" bIns="0" anchor="t">
            <a:noAutofit/>
          </a:bodyPr>
          <a:lstStyle/>
          <a:p>
            <a:pPr>
              <a:lnSpc>
                <a:spcPts val="1320"/>
              </a:lnSpc>
              <a:spcBef>
                <a:spcPts val="0"/>
              </a:spcBef>
              <a:spcAft>
                <a:spcPts val="0"/>
              </a:spcAft>
            </a:pPr>
            <a:r>
              <a:rPr b="0" sz="1100">
                <a:solidFill>
                  <a:srgbClr val="A7B8CF"/>
                </a:solidFill>
                <a:latin typeface="DejaVu Sans"/>
              </a:rPr>
              <a:t>Selected baselines; compilation and transport excluded. Full protocol and raw results are included.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C1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00" y="419100"/>
            <a:ext cx="304800" cy="44450"/>
          </a:xfrm>
          <a:prstGeom prst="rect">
            <a:avLst/>
          </a:prstGeom>
          <a:solidFill>
            <a:srgbClr val="5CE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41400" y="336550"/>
            <a:ext cx="4445000" cy="241300"/>
          </a:xfrm>
          <a:prstGeom prst="rect">
            <a:avLst/>
          </a:prstGeom>
          <a:noFill/>
        </p:spPr>
        <p:txBody>
          <a:bodyPr wrap="none" lIns="0" rIns="0" tIns="0" bIns="0" anchor="t">
            <a:noAutofit/>
          </a:bodyPr>
          <a:lstStyle/>
          <a:p>
            <a:pPr>
              <a:lnSpc>
                <a:spcPts val="1500"/>
              </a:lnSpc>
              <a:spcBef>
                <a:spcPts val="0"/>
              </a:spcBef>
              <a:spcAft>
                <a:spcPts val="0"/>
              </a:spcAft>
            </a:pPr>
            <a:r>
              <a:rPr b="1" sz="1250">
                <a:solidFill>
                  <a:srgbClr val="5CE4BF"/>
                </a:solidFill>
                <a:latin typeface="DejaVu Sans"/>
              </a:rPr>
              <a:t>DEUTERON</a:t>
            </a:r>
          </a:p>
        </p:txBody>
      </p:sp>
      <p:sp>
        <p:nvSpPr>
          <p:cNvPr id="5" name="TextBox 4"/>
          <p:cNvSpPr txBox="1"/>
          <p:nvPr/>
        </p:nvSpPr>
        <p:spPr>
          <a:xfrm>
            <a:off x="10572750" y="336550"/>
            <a:ext cx="952500" cy="241300"/>
          </a:xfrm>
          <a:prstGeom prst="rect">
            <a:avLst/>
          </a:prstGeom>
          <a:noFill/>
        </p:spPr>
        <p:txBody>
          <a:bodyPr wrap="none" lIns="0" rIns="0" tIns="0" bIns="0" anchor="t">
            <a:noAutofit/>
          </a:bodyPr>
          <a:lstStyle/>
          <a:p>
            <a:pPr algn="r">
              <a:lnSpc>
                <a:spcPts val="1500"/>
              </a:lnSpc>
              <a:spcBef>
                <a:spcPts val="0"/>
              </a:spcBef>
              <a:spcAft>
                <a:spcPts val="0"/>
              </a:spcAft>
            </a:pPr>
            <a:r>
              <a:rPr b="0" sz="1250">
                <a:solidFill>
                  <a:srgbClr val="A7B8CF"/>
                </a:solidFill>
                <a:latin typeface="DejaVu Sans"/>
              </a:rPr>
              <a:t>06 / 06</a:t>
            </a:r>
          </a:p>
        </p:txBody>
      </p:sp>
      <p:cxnSp>
        <p:nvCxnSpPr>
          <p:cNvPr id="6" name="Connector 5"/>
          <p:cNvCxnSpPr/>
          <p:nvPr/>
        </p:nvCxnSpPr>
        <p:spPr>
          <a:xfrm>
            <a:off x="609600" y="6375400"/>
            <a:ext cx="1097280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35000" y="6496050"/>
            <a:ext cx="6032500" cy="218440"/>
          </a:xfrm>
          <a:prstGeom prst="rect">
            <a:avLst/>
          </a:prstGeom>
          <a:noFill/>
        </p:spPr>
        <p:txBody>
          <a:bodyPr wrap="none" lIns="0" rIns="0" tIns="0" bIns="0" anchor="t">
            <a:noAutofit/>
          </a:bodyPr>
          <a:lstStyle/>
          <a:p>
            <a:pPr>
              <a:lnSpc>
                <a:spcPts val="1320"/>
              </a:lnSpc>
              <a:spcBef>
                <a:spcPts val="0"/>
              </a:spcBef>
              <a:spcAft>
                <a:spcPts val="0"/>
              </a:spcAft>
            </a:pPr>
            <a:r>
              <a:rPr b="0" sz="1100">
                <a:solidFill>
                  <a:srgbClr val="A7B8CF"/>
                </a:solidFill>
                <a:latin typeface="DejaVu Sans"/>
              </a:rPr>
              <a:t>Scheduled Emmy IR → NVIDIA PTX</a:t>
            </a:r>
          </a:p>
        </p:txBody>
      </p:sp>
      <p:sp>
        <p:nvSpPr>
          <p:cNvPr id="8" name="TextBox 7"/>
          <p:cNvSpPr txBox="1"/>
          <p:nvPr/>
        </p:nvSpPr>
        <p:spPr>
          <a:xfrm>
            <a:off x="8699500" y="6496050"/>
            <a:ext cx="2857500" cy="218440"/>
          </a:xfrm>
          <a:prstGeom prst="rect">
            <a:avLst/>
          </a:prstGeom>
          <a:noFill/>
        </p:spPr>
        <p:txBody>
          <a:bodyPr wrap="none" lIns="0" rIns="0" tIns="0" bIns="0" anchor="t">
            <a:noAutofit/>
          </a:bodyPr>
          <a:lstStyle/>
          <a:p>
            <a:pPr algn="r">
              <a:lnSpc>
                <a:spcPts val="1320"/>
              </a:lnSpc>
              <a:spcBef>
                <a:spcPts val="0"/>
              </a:spcBef>
              <a:spcAft>
                <a:spcPts val="0"/>
              </a:spcAft>
            </a:pPr>
            <a:r>
              <a:rPr b="0" sz="1100">
                <a:solidFill>
                  <a:srgbClr val="A7B8CF"/>
                </a:solidFill>
                <a:latin typeface="DejaVu Sans"/>
              </a:rPr>
              <a:t>RTX 5090  /  SM120</a:t>
            </a:r>
          </a:p>
        </p:txBody>
      </p:sp>
      <p:sp>
        <p:nvSpPr>
          <p:cNvPr id="9" name="TextBox 8"/>
          <p:cNvSpPr txBox="1"/>
          <p:nvPr/>
        </p:nvSpPr>
        <p:spPr>
          <a:xfrm>
            <a:off x="685800" y="984250"/>
            <a:ext cx="10795000" cy="599440"/>
          </a:xfrm>
          <a:prstGeom prst="rect">
            <a:avLst/>
          </a:prstGeom>
          <a:noFill/>
        </p:spPr>
        <p:txBody>
          <a:bodyPr wrap="none" lIns="0" rIns="0" tIns="0" bIns="0" anchor="t">
            <a:noAutofit/>
          </a:bodyPr>
          <a:lstStyle/>
          <a:p>
            <a:pPr>
              <a:lnSpc>
                <a:spcPts val="4320"/>
              </a:lnSpc>
              <a:spcBef>
                <a:spcPts val="0"/>
              </a:spcBef>
              <a:spcAft>
                <a:spcPts val="0"/>
              </a:spcAft>
            </a:pPr>
            <a:r>
              <a:rPr b="1" sz="3600">
                <a:solidFill>
                  <a:srgbClr val="F1F5FA"/>
                </a:solidFill>
                <a:latin typeface="DejaVu Sans"/>
              </a:rPr>
              <a:t>A compiler you can inspect</a:t>
            </a:r>
          </a:p>
        </p:txBody>
      </p:sp>
      <p:sp>
        <p:nvSpPr>
          <p:cNvPr id="10" name="TextBox 9"/>
          <p:cNvSpPr txBox="1"/>
          <p:nvPr/>
        </p:nvSpPr>
        <p:spPr>
          <a:xfrm>
            <a:off x="711200" y="1689100"/>
            <a:ext cx="10699750" cy="302260"/>
          </a:xfrm>
          <a:prstGeom prst="rect">
            <a:avLst/>
          </a:prstGeom>
          <a:noFill/>
        </p:spPr>
        <p:txBody>
          <a:bodyPr wrap="none" lIns="0" rIns="0" tIns="0" bIns="0" anchor="t">
            <a:noAutofit/>
          </a:bodyPr>
          <a:lstStyle/>
          <a:p>
            <a:pPr>
              <a:lnSpc>
                <a:spcPts val="1980"/>
              </a:lnSpc>
              <a:spcBef>
                <a:spcPts val="0"/>
              </a:spcBef>
              <a:spcAft>
                <a:spcPts val="0"/>
              </a:spcAft>
            </a:pPr>
            <a:r>
              <a:rPr b="0" sz="1650">
                <a:solidFill>
                  <a:srgbClr val="A7B8CF"/>
                </a:solidFill>
                <a:latin typeface="DejaVu Sans"/>
              </a:rPr>
              <a:t>Repeatable builds, explicit contracts, and recorded evidence.</a:t>
            </a:r>
          </a:p>
        </p:txBody>
      </p:sp>
      <p:sp>
        <p:nvSpPr>
          <p:cNvPr id="11" name="Rounded Rectangle 10"/>
          <p:cNvSpPr/>
          <p:nvPr/>
        </p:nvSpPr>
        <p:spPr>
          <a:xfrm>
            <a:off x="698500" y="2406650"/>
            <a:ext cx="3416300" cy="1511300"/>
          </a:xfrm>
          <a:prstGeom prst="roundRect">
            <a:avLst>
              <a:gd name="adj" fmla="val 10504"/>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5350" y="2667000"/>
            <a:ext cx="3022600" cy="736600"/>
          </a:xfrm>
          <a:prstGeom prst="rect">
            <a:avLst/>
          </a:prstGeom>
          <a:noFill/>
        </p:spPr>
        <p:txBody>
          <a:bodyPr wrap="none" lIns="0" rIns="0" tIns="0" bIns="0" anchor="t">
            <a:noAutofit/>
          </a:bodyPr>
          <a:lstStyle/>
          <a:p>
            <a:pPr>
              <a:lnSpc>
                <a:spcPts val="5400"/>
              </a:lnSpc>
              <a:spcBef>
                <a:spcPts val="0"/>
              </a:spcBef>
              <a:spcAft>
                <a:spcPts val="0"/>
              </a:spcAft>
            </a:pPr>
            <a:r>
              <a:rPr b="1" sz="4500">
                <a:solidFill>
                  <a:srgbClr val="5CE4BF"/>
                </a:solidFill>
                <a:latin typeface="DejaVu Sans"/>
              </a:rPr>
              <a:t>103/103</a:t>
            </a:r>
          </a:p>
        </p:txBody>
      </p:sp>
      <p:sp>
        <p:nvSpPr>
          <p:cNvPr id="13" name="TextBox 12"/>
          <p:cNvSpPr txBox="1"/>
          <p:nvPr/>
        </p:nvSpPr>
        <p:spPr>
          <a:xfrm>
            <a:off x="895350" y="3517900"/>
            <a:ext cx="3022600" cy="264160"/>
          </a:xfrm>
          <a:prstGeom prst="rect">
            <a:avLst/>
          </a:prstGeom>
          <a:noFill/>
        </p:spPr>
        <p:txBody>
          <a:bodyPr wrap="none" lIns="0" rIns="0" tIns="0" bIns="0" anchor="t">
            <a:noAutofit/>
          </a:bodyPr>
          <a:lstStyle/>
          <a:p>
            <a:pPr>
              <a:lnSpc>
                <a:spcPts val="1680"/>
              </a:lnSpc>
              <a:spcBef>
                <a:spcPts val="0"/>
              </a:spcBef>
              <a:spcAft>
                <a:spcPts val="0"/>
              </a:spcAft>
            </a:pPr>
            <a:r>
              <a:rPr b="0" sz="1400">
                <a:solidFill>
                  <a:srgbClr val="F1F5FA"/>
                </a:solidFill>
                <a:latin typeface="DejaVu Sans"/>
              </a:rPr>
              <a:t>H100 regression tests</a:t>
            </a:r>
          </a:p>
        </p:txBody>
      </p:sp>
      <p:sp>
        <p:nvSpPr>
          <p:cNvPr id="14" name="Rounded Rectangle 13"/>
          <p:cNvSpPr/>
          <p:nvPr/>
        </p:nvSpPr>
        <p:spPr>
          <a:xfrm>
            <a:off x="4381500" y="2406650"/>
            <a:ext cx="3416300" cy="1511300"/>
          </a:xfrm>
          <a:prstGeom prst="roundRect">
            <a:avLst>
              <a:gd name="adj" fmla="val 10504"/>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8350" y="2667000"/>
            <a:ext cx="3022600" cy="736600"/>
          </a:xfrm>
          <a:prstGeom prst="rect">
            <a:avLst/>
          </a:prstGeom>
          <a:noFill/>
        </p:spPr>
        <p:txBody>
          <a:bodyPr wrap="none" lIns="0" rIns="0" tIns="0" bIns="0" anchor="t">
            <a:noAutofit/>
          </a:bodyPr>
          <a:lstStyle/>
          <a:p>
            <a:pPr>
              <a:lnSpc>
                <a:spcPts val="5400"/>
              </a:lnSpc>
              <a:spcBef>
                <a:spcPts val="0"/>
              </a:spcBef>
              <a:spcAft>
                <a:spcPts val="0"/>
              </a:spcAft>
            </a:pPr>
            <a:r>
              <a:rPr b="1" sz="4500">
                <a:solidFill>
                  <a:srgbClr val="95B4FF"/>
                </a:solidFill>
                <a:latin typeface="DejaVu Sans"/>
              </a:rPr>
              <a:t>11/11</a:t>
            </a:r>
          </a:p>
        </p:txBody>
      </p:sp>
      <p:sp>
        <p:nvSpPr>
          <p:cNvPr id="16" name="TextBox 15"/>
          <p:cNvSpPr txBox="1"/>
          <p:nvPr/>
        </p:nvSpPr>
        <p:spPr>
          <a:xfrm>
            <a:off x="4578350" y="3517900"/>
            <a:ext cx="3022600" cy="264160"/>
          </a:xfrm>
          <a:prstGeom prst="rect">
            <a:avLst/>
          </a:prstGeom>
          <a:noFill/>
        </p:spPr>
        <p:txBody>
          <a:bodyPr wrap="none" lIns="0" rIns="0" tIns="0" bIns="0" anchor="t">
            <a:noAutofit/>
          </a:bodyPr>
          <a:lstStyle/>
          <a:p>
            <a:pPr>
              <a:lnSpc>
                <a:spcPts val="1680"/>
              </a:lnSpc>
              <a:spcBef>
                <a:spcPts val="0"/>
              </a:spcBef>
              <a:spcAft>
                <a:spcPts val="0"/>
              </a:spcAft>
            </a:pPr>
            <a:r>
              <a:rPr b="0" sz="1400">
                <a:solidFill>
                  <a:srgbClr val="F1F5FA"/>
                </a:solidFill>
                <a:latin typeface="DejaVu Sans"/>
              </a:rPr>
              <a:t>RTX 5090 feature examples</a:t>
            </a:r>
          </a:p>
        </p:txBody>
      </p:sp>
      <p:sp>
        <p:nvSpPr>
          <p:cNvPr id="17" name="Rounded Rectangle 16"/>
          <p:cNvSpPr/>
          <p:nvPr/>
        </p:nvSpPr>
        <p:spPr>
          <a:xfrm>
            <a:off x="8064500" y="2406650"/>
            <a:ext cx="3416300" cy="1511300"/>
          </a:xfrm>
          <a:prstGeom prst="roundRect">
            <a:avLst>
              <a:gd name="adj" fmla="val 10504"/>
            </a:avLst>
          </a:prstGeom>
          <a:solidFill>
            <a:srgbClr val="1421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1350" y="2667000"/>
            <a:ext cx="3022600" cy="538480"/>
          </a:xfrm>
          <a:prstGeom prst="rect">
            <a:avLst/>
          </a:prstGeom>
          <a:noFill/>
        </p:spPr>
        <p:txBody>
          <a:bodyPr wrap="none" lIns="0" rIns="0" tIns="0" bIns="0" anchor="t">
            <a:noAutofit/>
          </a:bodyPr>
          <a:lstStyle/>
          <a:p>
            <a:pPr>
              <a:lnSpc>
                <a:spcPts val="3840"/>
              </a:lnSpc>
              <a:spcBef>
                <a:spcPts val="0"/>
              </a:spcBef>
              <a:spcAft>
                <a:spcPts val="0"/>
              </a:spcAft>
            </a:pPr>
            <a:r>
              <a:rPr b="1" sz="3200">
                <a:solidFill>
                  <a:srgbClr val="F1CC83"/>
                </a:solidFill>
                <a:latin typeface="DejaVu Sans"/>
              </a:rPr>
              <a:t>3.12 + 3.13</a:t>
            </a:r>
          </a:p>
        </p:txBody>
      </p:sp>
      <p:sp>
        <p:nvSpPr>
          <p:cNvPr id="19" name="TextBox 18"/>
          <p:cNvSpPr txBox="1"/>
          <p:nvPr/>
        </p:nvSpPr>
        <p:spPr>
          <a:xfrm>
            <a:off x="8261350" y="3517900"/>
            <a:ext cx="3022600" cy="264160"/>
          </a:xfrm>
          <a:prstGeom prst="rect">
            <a:avLst/>
          </a:prstGeom>
          <a:noFill/>
        </p:spPr>
        <p:txBody>
          <a:bodyPr wrap="none" lIns="0" rIns="0" tIns="0" bIns="0" anchor="t">
            <a:noAutofit/>
          </a:bodyPr>
          <a:lstStyle/>
          <a:p>
            <a:pPr>
              <a:lnSpc>
                <a:spcPts val="1680"/>
              </a:lnSpc>
              <a:spcBef>
                <a:spcPts val="0"/>
              </a:spcBef>
              <a:spcAft>
                <a:spcPts val="0"/>
              </a:spcAft>
            </a:pPr>
            <a:r>
              <a:rPr b="0" sz="1400">
                <a:solidFill>
                  <a:srgbClr val="F1F5FA"/>
                </a:solidFill>
                <a:latin typeface="DejaVu Sans"/>
              </a:rPr>
              <a:t>Verified Python installs</a:t>
            </a:r>
          </a:p>
        </p:txBody>
      </p:sp>
      <p:sp>
        <p:nvSpPr>
          <p:cNvPr id="20" name="TextBox 19"/>
          <p:cNvSpPr txBox="1"/>
          <p:nvPr/>
        </p:nvSpPr>
        <p:spPr>
          <a:xfrm>
            <a:off x="723900" y="4349750"/>
            <a:ext cx="5397500" cy="294640"/>
          </a:xfrm>
          <a:prstGeom prst="rect">
            <a:avLst/>
          </a:prstGeom>
          <a:noFill/>
        </p:spPr>
        <p:txBody>
          <a:bodyPr wrap="none" lIns="0" rIns="0" tIns="0" bIns="0" anchor="t">
            <a:noAutofit/>
          </a:bodyPr>
          <a:lstStyle/>
          <a:p>
            <a:pPr>
              <a:lnSpc>
                <a:spcPts val="1920"/>
              </a:lnSpc>
              <a:spcBef>
                <a:spcPts val="0"/>
              </a:spcBef>
              <a:spcAft>
                <a:spcPts val="0"/>
              </a:spcAft>
            </a:pPr>
            <a:r>
              <a:rPr b="0" sz="1600">
                <a:solidFill>
                  <a:srgbClr val="F1F5FA"/>
                </a:solidFill>
                <a:latin typeface="DejaVu Sans"/>
              </a:rPr>
              <a:t>Restricted parsing + ABI validation</a:t>
            </a:r>
          </a:p>
        </p:txBody>
      </p:sp>
      <p:sp>
        <p:nvSpPr>
          <p:cNvPr id="21" name="TextBox 20"/>
          <p:cNvSpPr txBox="1"/>
          <p:nvPr/>
        </p:nvSpPr>
        <p:spPr>
          <a:xfrm>
            <a:off x="723900" y="4743450"/>
            <a:ext cx="5397500" cy="294640"/>
          </a:xfrm>
          <a:prstGeom prst="rect">
            <a:avLst/>
          </a:prstGeom>
          <a:noFill/>
        </p:spPr>
        <p:txBody>
          <a:bodyPr wrap="none" lIns="0" rIns="0" tIns="0" bIns="0" anchor="t">
            <a:noAutofit/>
          </a:bodyPr>
          <a:lstStyle/>
          <a:p>
            <a:pPr>
              <a:lnSpc>
                <a:spcPts val="1920"/>
              </a:lnSpc>
              <a:spcBef>
                <a:spcPts val="0"/>
              </a:spcBef>
              <a:spcAft>
                <a:spcPts val="0"/>
              </a:spcAft>
            </a:pPr>
            <a:r>
              <a:rPr b="0" sz="1600">
                <a:solidFill>
                  <a:srgbClr val="F1F5FA"/>
                </a:solidFill>
                <a:latin typeface="DejaVu Sans"/>
              </a:rPr>
              <a:t>Bounded caches + atomic records</a:t>
            </a:r>
          </a:p>
        </p:txBody>
      </p:sp>
      <p:sp>
        <p:nvSpPr>
          <p:cNvPr id="22" name="TextBox 21"/>
          <p:cNvSpPr txBox="1"/>
          <p:nvPr/>
        </p:nvSpPr>
        <p:spPr>
          <a:xfrm>
            <a:off x="6191250" y="4349750"/>
            <a:ext cx="5302250" cy="279400"/>
          </a:xfrm>
          <a:prstGeom prst="rect">
            <a:avLst/>
          </a:prstGeom>
          <a:noFill/>
        </p:spPr>
        <p:txBody>
          <a:bodyPr wrap="none" lIns="0" rIns="0" tIns="0" bIns="0" anchor="t">
            <a:noAutofit/>
          </a:bodyPr>
          <a:lstStyle/>
          <a:p>
            <a:pPr>
              <a:lnSpc>
                <a:spcPts val="1800"/>
              </a:lnSpc>
              <a:spcBef>
                <a:spcPts val="0"/>
              </a:spcBef>
              <a:spcAft>
                <a:spcPts val="0"/>
              </a:spcAft>
            </a:pPr>
            <a:r>
              <a:rPr b="0" sz="1500">
                <a:solidFill>
                  <a:srgbClr val="F1F5FA"/>
                </a:solidFill>
                <a:latin typeface="DejaVu Sans"/>
              </a:rPr>
              <a:t>Installable CLI + concurrent compilation</a:t>
            </a:r>
          </a:p>
        </p:txBody>
      </p:sp>
      <p:sp>
        <p:nvSpPr>
          <p:cNvPr id="23" name="TextBox 22"/>
          <p:cNvSpPr txBox="1"/>
          <p:nvPr/>
        </p:nvSpPr>
        <p:spPr>
          <a:xfrm>
            <a:off x="6191250" y="4743450"/>
            <a:ext cx="5302250" cy="279400"/>
          </a:xfrm>
          <a:prstGeom prst="rect">
            <a:avLst/>
          </a:prstGeom>
          <a:noFill/>
        </p:spPr>
        <p:txBody>
          <a:bodyPr wrap="none" lIns="0" rIns="0" tIns="0" bIns="0" anchor="t">
            <a:noAutofit/>
          </a:bodyPr>
          <a:lstStyle/>
          <a:p>
            <a:pPr>
              <a:lnSpc>
                <a:spcPts val="1800"/>
              </a:lnSpc>
              <a:spcBef>
                <a:spcPts val="0"/>
              </a:spcBef>
              <a:spcAft>
                <a:spcPts val="0"/>
              </a:spcAft>
            </a:pPr>
            <a:r>
              <a:rPr b="0" sz="1500">
                <a:solidFill>
                  <a:srgbClr val="F1F5FA"/>
                </a:solidFill>
                <a:latin typeface="DejaVu Sans"/>
              </a:rPr>
              <a:t>Documented scheduled-IR subset</a:t>
            </a:r>
          </a:p>
        </p:txBody>
      </p:sp>
      <p:cxnSp>
        <p:nvCxnSpPr>
          <p:cNvPr id="24" name="Connector 23"/>
          <p:cNvCxnSpPr/>
          <p:nvPr/>
        </p:nvCxnSpPr>
        <p:spPr>
          <a:xfrm>
            <a:off x="723900" y="5302250"/>
            <a:ext cx="10737850" cy="0"/>
          </a:xfrm>
          <a:prstGeom prst="line">
            <a:avLst/>
          </a:prstGeom>
          <a:ln w="12700">
            <a:solidFill>
              <a:srgbClr val="2C3C52"/>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723900" y="5670550"/>
            <a:ext cx="10731500" cy="332740"/>
          </a:xfrm>
          <a:prstGeom prst="rect">
            <a:avLst/>
          </a:prstGeom>
          <a:noFill/>
        </p:spPr>
        <p:txBody>
          <a:bodyPr wrap="none" lIns="0" rIns="0" tIns="0" bIns="0" anchor="t">
            <a:noAutofit/>
          </a:bodyPr>
          <a:lstStyle/>
          <a:p>
            <a:pPr>
              <a:lnSpc>
                <a:spcPts val="2220"/>
              </a:lnSpc>
              <a:spcBef>
                <a:spcPts val="0"/>
              </a:spcBef>
              <a:spcAft>
                <a:spcPts val="0"/>
              </a:spcAft>
            </a:pPr>
            <a:r>
              <a:rPr b="1" sz="1850">
                <a:solidFill>
                  <a:srgbClr val="5CE4BF"/>
                </a:solidFill>
                <a:latin typeface="DejaVu Sans"/>
              </a:rPr>
              <a:t>Explore the examples. Inspect the PTX. Reproduce the results.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Deuteron — 3 minute compiler presentation</dc:title>
  <dc:subject>Verified RTX 5090 compiler features and performance</dc:subject>
  <dc:creator>Deuteron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