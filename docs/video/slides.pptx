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0:00–0:12 | The compiler transformations we built</a:t>
            </a:r>
          </a:p>
          <a:p/>
          <a:p>
            <a:r>
              <a:t>Deuteron compiles scheduled Emmy Kernel IR into PTX for the RTX 5090. Our contribution is guarded compiler passes that change memory reuse, parallel work, and tensor pipelines.</a:t>
            </a:r>
          </a:p>
          <a:p/>
          <a:p>
            <a:r>
              <a:t>VISUAL: Show the title and the three contribution families: reuse data, redistribute work, and build tensor pipelines. Keep scheduled Emmy IR and RTX 5090 visible.</a:t>
            </a:r>
          </a:p>
          <a:p/>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0:12–0:27 | Where our passes run</a:t>
            </a:r>
          </a:p>
          <a:p/>
          <a:p>
            <a:r>
              <a:t>We validate IR and metadata; each rewrite checks index and ownership conditions. Early passes vectorize loops, forward reduction inputs, reorder recurrences, and fold split-K grids. Specialized lowering follows; LLVM supplies optimization and NVPTX code generation.</a:t>
            </a:r>
          </a:p>
          <a:p/>
          <a:p>
            <a:r>
              <a:t>VISUAL: Show input validation, the actual early rewrite order, specialized lowering, and LLVM/NVPTX. The early order is vectorization, register forwarding, recurrence reordering, then grid folding. Name the project contribution: recognizers, guards, and transformed GPU schedules.</a:t>
            </a:r>
          </a:p>
          <a:p/>
          <a:p>
            <a:r>
              <a:t>P01: Symbolic index and effect analysis | compiler/analysis.py | Guard: Integer coordinates and supported operators; non-affine products decline.</a:t>
            </a:r>
          </a:p>
          <a:p>
            <a:r>
              <a:t>P02: Storage typing | compiler/storage.py | Guard: f16/f32 global buffers, control-only indices, explicit f32 results, plain stores.</a:t>
            </a:r>
          </a:p>
          <a:p>
            <a:r>
              <a:t>P03: Elementwise vectorization | compiler/passes/vectorize.py | Guard: Extent divisible by 4×threads; contiguous indices; safe overlap and lifetimes.</a:t>
            </a:r>
          </a:p>
          <a:p>
            <a:r>
              <a:t>P04: Reduction load forwarding | compiler/passes/regforward.py | Guard: Readonly matching input, no writes, intervening CTA barrier, ≤8 vector trips.</a:t>
            </a:r>
          </a:p>
          <a:p>
            <a:r>
              <a:t>P05: Recurrence-axis reordering | compiler/passes/recurrence.py | Guard: Closed named coordinates, exact tile coverage, no rasterization, wider sharing.</a:t>
            </a:r>
          </a:p>
          <a:p>
            <a:r>
              <a:t>P06: Split-K grid folding | compiler/passes/gridfold.py | Guard: Atomic dense contraction; affine coverage; depth≤32, shared≤48 KiB, enough work.</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0:27–0:44 | Reuse data before loading it again</a:t>
            </a:r>
          </a:p>
          <a:p/>
          <a:p>
            <a:r>
              <a:t>Elementwise vectorization packs four values per lane. Reduction load forwarding keeps inputs in registers for the consumer instead of loading them again. Coalesced sum and square reductions use contiguous loads; long eligible loops add independent accumulators.</a:t>
            </a:r>
          </a:p>
          <a:p/>
          <a:p>
            <a:r>
              <a:t>VISUAL: Show scalar loop to four values per lane; then load vector, reduce, and reuse the same vector in a consumer. Highlight matching indices, readonly input, closed lifetimes, and aligned complete coverage.</a:t>
            </a:r>
          </a:p>
          <a:p/>
          <a:p>
            <a:r>
              <a:t>P03: Elementwise vectorization | compiler/passes/vectorize.py | Guard: Extent divisible by 4×threads; contiguous indices; safe overlap and lifetimes.</a:t>
            </a:r>
          </a:p>
          <a:p>
            <a:r>
              <a:t>P04: Reduction load forwarding | compiler/passes/regforward.py | Guard: Readonly matching input, no writes, intervening CTA barrier, ≤8 vector trips.</a:t>
            </a:r>
          </a:p>
          <a:p>
            <a:r>
              <a:t>P08: Coalesced sum/square reduction | compiler/transforms.py | Guard: Seeded sum/square with matching warp/tree reduction; long path also readonly.</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0:44–1:03 | Reshape parallel work</a:t>
            </a:r>
          </a:p>
          <a:p/>
          <a:p>
            <a:r>
              <a:t>Cooperative dot reduction shares a repeated dot across lanes and combines partials with shuffles. Small-tree elimination removes redundant reduction stages. Split-K grid folding merges eligible K partitions into deeper work per block while preserving the original physical grid.</a:t>
            </a:r>
          </a:p>
          <a:p/>
          <a:p>
            <a:r>
              <a:t>VISUAL: Use two concrete illustrations: repeated dot to lane partials plus shuffle, and four eligible split-K partitions folded into two logical partitions with twice the K work. Label the factor-two drawing illustrative; the actual factor is guarded. Surplus physical CTAs exit; the original atomic output remains. The four partitions are per output tile within a larger grid; sufficient total parallelism remains a guard.</a:t>
            </a:r>
          </a:p>
          <a:p/>
          <a:p>
            <a:r>
              <a:t>P06: Split-K grid folding | compiler/passes/gridfold.py | Guard: Atomic dense contraction; affine coverage; depth≤32, shared≤48 KiB, enough work.</a:t>
            </a:r>
          </a:p>
          <a:p>
            <a:r>
              <a:t>P07: Cooperative dot reduction | compiler/transforms.py | Guard: Closed load/load/product/sum loop, full warps, uniform scope, width≤32.</a:t>
            </a:r>
          </a:p>
          <a:p>
            <a:r>
              <a:t>P09: Small-tree elimination | compiler/passes/tailtree.py | Guard: 2–8 power-of-two partials, producer barrier, exclusive scratch, closed states.</a:t>
            </a:r>
          </a:p>
          <a:p>
            <a:r>
              <a:t>P10: Warp tree specialization | compiler/codegen/lower.py | Guard: Enabled specialization, warp-indexed tree, no inner dimension, length≤32.</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1:03–1:26 | Turn contractions into tensor work</a:t>
            </a:r>
          </a:p>
          <a:p/>
          <a:p>
            <a:r>
              <a:t>Contraction tensorization recognizes a closed shared-memory multiply-add and emits compensated BF16x3 or TF32x3 products. Three high and residual products accumulate in FP32; omitting low times low makes this approximate. Shared-memory layout matches producers to MMA fragments. Separate FP16 storage uses explicit FP32 arithmetic.</a:t>
            </a:r>
          </a:p>
          <a:p/>
          <a:p>
            <a:r>
              <a:t>VISUAL: Show a shared-memory contraction becoming warp MMA, with high/high, high/low, and low/high products. Label low/low omitted, FP32 buffers and accumulation, and ordinary FP32 mode available. Show a separate FP16 storage to FP32 arithmetic to nearest-even FP16 store strip.</a:t>
            </a:r>
          </a:p>
          <a:p/>
          <a:p>
            <a:r>
              <a:t>P02: Storage typing | compiler/storage.py | Guard: f16/f32 global buffers, control-only indices, explicit f32 results, plain stores.</a:t>
            </a:r>
          </a:p>
          <a:p>
            <a:r>
              <a:t>P11: Contraction tensorization | compiler/passes/contraction.py | Guard: Complete affine tiles, full warps, closed scalar scope, supported M/N/K sizes.</a:t>
            </a:r>
          </a:p>
          <a:p>
            <a:r>
              <a:t>P12: Tensor shared-memory layout | compiler/codegen/tensor.py | Guard: Recognized tensor operands; compatible dimensions and packed BF16 eligibility.</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1:26–1:49 | Rewrite the pipeline feeding tensor cores</a:t>
            </a:r>
          </a:p>
          <a:p/>
          <a:p>
            <a:r>
              <a:t>Packed register staging replaces a certified FP32 copy ring for BF16 lowering with vector prefetch, high and residual packing, and one used shared stage. Fragment pipelining loads the next MMA fragment early. Pipeline drain skips unused final prefetches. Other eligible paths retain asynchronous copies.</a:t>
            </a:r>
          </a:p>
          <a:p/>
          <a:p>
            <a:r>
              <a:t>VISUAL: Compare the scheduled FP32 asynchronous copy ring with the certified packed BF16 rewrite: register prefetch, producer packing, shared layout, and fragment lookahead. Keep the exact copy-phase guard visible. Show final unused prefetch/consumer barrier omitted while producer synchronization remains. TF32x3 and FP32 retain the eligible cp.async path.</a:t>
            </a:r>
          </a:p>
          <a:p/>
          <a:p>
            <a:r>
              <a:t>P12: Tensor shared-memory layout | compiler/codegen/tensor.py | Guard: Recognized tensor operands; compatible dimensions and packed BF16 eligibility.</a:t>
            </a:r>
          </a:p>
          <a:p>
            <a:r>
              <a:t>P13: Packed register staging | compiler/passes/regstage.py | Guard: Exact original future phase, complete aligned copies, readonly inputs, closed ring.</a:t>
            </a:r>
          </a:p>
          <a:p>
            <a:r>
              <a:t>P14: Tensor fragment pipelining | compiler/codegen/tensor.py | Guard: Certified packed BF16 operands; compatible fragment depth and loop bounds.</a:t>
            </a:r>
          </a:p>
          <a:p>
            <a:r>
              <a:t>P15: Pipeline drain | compiler/passes/regstage.py | Guard: Certified staging loop with uniform next-tile predicate and no later shared users.</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1:49–2:12 | Recognize and stage the attention recurrence</a:t>
            </a:r>
          </a:p>
          <a:p/>
          <a:p>
            <a:r>
              <a:t>Staged online recurrence computes attention scores once per sharing group, then materializes unnormalized weights for mass and value accumulation. Blocked recurrence loads group adjacent keys. Shared-storage reuse overwrites dead operands only when warp ownership and dependency checks make it safe.</a:t>
            </a:r>
          </a:p>
          <a:p/>
          <a:p>
            <a:r>
              <a:t>VISUAL: Show repeated score and online max/mass/value work becoming score reuse, row maximum, shared unnormalized weights, and separate mass/PV accumulation. Show two/four adjacent key rounds and read-to-maximum-to-store lifetime ordering in the same warp and component. Each unnormalized weight feeds register mass accumulation directly and shared storage for PV; mass does not reread shared weights.</a:t>
            </a:r>
          </a:p>
          <a:p/>
          <a:p>
            <a:r>
              <a:t>P16: Staged online recurrence | compiler/passes/recurrence.py | Guard: Exact recurrence algebra, readonly operands, uniform scale, bounded rounds/scratch.</a:t>
            </a:r>
          </a:p>
          <a:p>
            <a:r>
              <a:t>P17: Blocked recurrence loads and address hoisting | compiler/passes/recurrence.py | Guard: Compatible 2/4 key rounds; unstaged operands; affine bounded full value coverage.</a:t>
            </a:r>
          </a:p>
          <a:p>
            <a:r>
              <a:t>P19: Recurrence shared-storage reuse | compiler/passes/lifetime.py | Guard: Same warp/component ownership; finite negative identity; bounded full mapping.</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2:12–2:30 | Redistribute probability–value work</a:t>
            </a:r>
          </a:p>
          <a:p/>
          <a:p>
            <a:r>
              <a:t>Warp-distributed vector PV reduction targets one warp and thirty-two columns. Four groups split the keys; each lane accumulates four adjacent columns. Shuffles combine the groups. The original output suffix is replayed, restoring the denominator before every column.</a:t>
            </a:r>
          </a:p>
          <a:p/>
          <a:p>
            <a:r>
              <a:t>VISUAL: Draw four eight-lane groups, each processing a key shard and four adjacent columns per lane. Combine groups with butterfly offsets 16 and 8; only the first eight lanes write. Show restoring the saved denominator before each closed per-column suffix replay.</a:t>
            </a:r>
          </a:p>
          <a:p/>
          <a:p>
            <a:r>
              <a:t>P18: Warp-distributed vector PV reduction | compiler/passes/recurrence.py | Guard: Single full warp, 32 columns, one component, full ownership, replayable suffix.</a:t>
            </a:r>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2:30–2:55 | Measure the whole compiler on RTX 5090</a:t>
            </a:r>
          </a:p>
          <a:p/>
          <a:p>
            <a:r>
              <a:t>On fifteen open workloads, geometric mean warm latency is three point seven five microseconds. Speedups are one point six six times over generated CUDA with NVCC, and one point one five times over the tested Triton baseline. All two hundred seventy calls passed the original checks. These are whole-compiler results with a limited Triton search.</a:t>
            </a:r>
          </a:p>
          <a:p/>
          <a:p>
            <a:r>
              <a:t>VISUAL: Show the recorded warm latency bars: Deuteron 3.752 microseconds, NVCC 6.216, tested Triton 4.332. Show 1.66x and 1.15x, 15 open workloads, 270 balanced calls, 20 warmups/200 iterations, original output checks, and compile/assembly/transport excluded. Hold this slide unchanged for the last five seconds.</a:t>
            </a:r>
          </a:p>
          <a:p/>
          <a:p/>
          <a:p/>
          <a:p>
            <a:r>
              <a:t>Evidence: passes.json, pass-reference.md, innovations.md, and recorded round-6 measurements. These are rehearsal cues; align the edit to the actual recording. The aggregate benchmark is not an individual-pass ablation.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01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98500" y="1403350"/>
            <a:ext cx="10477500" cy="1193800"/>
          </a:xfrm>
          <a:prstGeom prst="rect">
            <a:avLst/>
          </a:prstGeom>
          <a:noFill/>
        </p:spPr>
        <p:txBody>
          <a:bodyPr wrap="none" lIns="0" rIns="0" tIns="0" bIns="0" anchor="t">
            <a:noAutofit/>
          </a:bodyPr>
          <a:lstStyle/>
          <a:p>
            <a:pPr>
              <a:lnSpc>
                <a:spcPts val="9000"/>
              </a:lnSpc>
              <a:spcBef>
                <a:spcPts val="0"/>
              </a:spcBef>
              <a:spcAft>
                <a:spcPts val="0"/>
              </a:spcAft>
            </a:pPr>
            <a:r>
              <a:rPr b="1" sz="7500">
                <a:solidFill>
                  <a:srgbClr val="F1F5FA"/>
                </a:solidFill>
                <a:latin typeface="DejaVu Sans"/>
              </a:rPr>
              <a:t>Deuteron</a:t>
            </a:r>
          </a:p>
        </p:txBody>
      </p:sp>
      <p:sp>
        <p:nvSpPr>
          <p:cNvPr id="10" name="TextBox 9"/>
          <p:cNvSpPr txBox="1"/>
          <p:nvPr/>
        </p:nvSpPr>
        <p:spPr>
          <a:xfrm>
            <a:off x="762000" y="2717800"/>
            <a:ext cx="10604500" cy="416559"/>
          </a:xfrm>
          <a:prstGeom prst="rect">
            <a:avLst/>
          </a:prstGeom>
          <a:noFill/>
        </p:spPr>
        <p:txBody>
          <a:bodyPr wrap="none" lIns="0" rIns="0" tIns="0" bIns="0" anchor="t">
            <a:noAutofit/>
          </a:bodyPr>
          <a:lstStyle/>
          <a:p>
            <a:pPr>
              <a:lnSpc>
                <a:spcPts val="2879"/>
              </a:lnSpc>
              <a:spcBef>
                <a:spcPts val="0"/>
              </a:spcBef>
              <a:spcAft>
                <a:spcPts val="0"/>
              </a:spcAft>
            </a:pPr>
            <a:r>
              <a:rPr b="0" sz="2400">
                <a:solidFill>
                  <a:srgbClr val="F1F5FA"/>
                </a:solidFill>
                <a:latin typeface="DejaVu Sans"/>
              </a:rPr>
              <a:t>The compiler transformations we built</a:t>
            </a:r>
          </a:p>
        </p:txBody>
      </p:sp>
      <p:sp>
        <p:nvSpPr>
          <p:cNvPr id="11" name="TextBox 10"/>
          <p:cNvSpPr txBox="1"/>
          <p:nvPr/>
        </p:nvSpPr>
        <p:spPr>
          <a:xfrm>
            <a:off x="762000" y="3289300"/>
            <a:ext cx="10604500" cy="340360"/>
          </a:xfrm>
          <a:prstGeom prst="rect">
            <a:avLst/>
          </a:prstGeom>
          <a:noFill/>
        </p:spPr>
        <p:txBody>
          <a:bodyPr wrap="none" lIns="0" rIns="0" tIns="0" bIns="0" anchor="t">
            <a:noAutofit/>
          </a:bodyPr>
          <a:lstStyle/>
          <a:p>
            <a:pPr>
              <a:lnSpc>
                <a:spcPts val="2280"/>
              </a:lnSpc>
              <a:spcBef>
                <a:spcPts val="0"/>
              </a:spcBef>
              <a:spcAft>
                <a:spcPts val="0"/>
              </a:spcAft>
            </a:pPr>
            <a:r>
              <a:rPr b="0" sz="1900">
                <a:solidFill>
                  <a:srgbClr val="A7B8CF"/>
                </a:solidFill>
                <a:latin typeface="DejaVu Sans"/>
              </a:rPr>
              <a:t>Scheduled Emmy IR → PTX  ·  RTX 5090</a:t>
            </a:r>
          </a:p>
        </p:txBody>
      </p:sp>
      <p:sp>
        <p:nvSpPr>
          <p:cNvPr id="12" name="TextBox 11"/>
          <p:cNvSpPr txBox="1"/>
          <p:nvPr/>
        </p:nvSpPr>
        <p:spPr>
          <a:xfrm>
            <a:off x="762000" y="3848100"/>
            <a:ext cx="10668000" cy="294640"/>
          </a:xfrm>
          <a:prstGeom prst="rect">
            <a:avLst/>
          </a:prstGeom>
          <a:noFill/>
        </p:spPr>
        <p:txBody>
          <a:bodyPr wrap="none" lIns="0" rIns="0" tIns="0" bIns="0" anchor="t">
            <a:noAutofit/>
          </a:bodyPr>
          <a:lstStyle/>
          <a:p>
            <a:pPr>
              <a:lnSpc>
                <a:spcPts val="1920"/>
              </a:lnSpc>
              <a:spcBef>
                <a:spcPts val="0"/>
              </a:spcBef>
              <a:spcAft>
                <a:spcPts val="0"/>
              </a:spcAft>
            </a:pPr>
            <a:r>
              <a:rPr b="0" sz="1600">
                <a:solidFill>
                  <a:srgbClr val="5CE4BF"/>
                </a:solidFill>
                <a:latin typeface="DejaVu Sans"/>
              </a:rPr>
              <a:t>Recognize structure. Check the rewrite. Change the GPU work.</a:t>
            </a:r>
          </a:p>
        </p:txBody>
      </p:sp>
      <p:sp>
        <p:nvSpPr>
          <p:cNvPr id="13" name="Rounded Rectangle 12"/>
          <p:cNvSpPr/>
          <p:nvPr/>
        </p:nvSpPr>
        <p:spPr>
          <a:xfrm>
            <a:off x="711200" y="4578350"/>
            <a:ext cx="3429000" cy="1409700"/>
          </a:xfrm>
          <a:prstGeom prst="roundRect">
            <a:avLst>
              <a:gd name="adj" fmla="val 1081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1200" y="4578350"/>
            <a:ext cx="3429000" cy="317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1700" y="4775200"/>
            <a:ext cx="3048000" cy="332740"/>
          </a:xfrm>
          <a:prstGeom prst="rect">
            <a:avLst/>
          </a:prstGeom>
          <a:noFill/>
        </p:spPr>
        <p:txBody>
          <a:bodyPr wrap="none" lIns="0" rIns="0" tIns="0" bIns="0" anchor="t">
            <a:noAutofit/>
          </a:bodyPr>
          <a:lstStyle/>
          <a:p>
            <a:pPr>
              <a:lnSpc>
                <a:spcPts val="2220"/>
              </a:lnSpc>
              <a:spcBef>
                <a:spcPts val="0"/>
              </a:spcBef>
              <a:spcAft>
                <a:spcPts val="0"/>
              </a:spcAft>
            </a:pPr>
            <a:r>
              <a:rPr b="1" sz="1850">
                <a:solidFill>
                  <a:srgbClr val="5CE4BF"/>
                </a:solidFill>
                <a:latin typeface="DejaVu Sans"/>
              </a:rPr>
              <a:t>Reuse data</a:t>
            </a:r>
          </a:p>
        </p:txBody>
      </p:sp>
      <p:sp>
        <p:nvSpPr>
          <p:cNvPr id="16" name="TextBox 15"/>
          <p:cNvSpPr txBox="1"/>
          <p:nvPr/>
        </p:nvSpPr>
        <p:spPr>
          <a:xfrm>
            <a:off x="901700" y="52006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Vectorize loads</a:t>
            </a:r>
          </a:p>
          <a:p>
            <a:pPr>
              <a:lnSpc>
                <a:spcPts val="1885"/>
              </a:lnSpc>
              <a:spcBef>
                <a:spcPts val="0"/>
              </a:spcBef>
              <a:spcAft>
                <a:spcPts val="0"/>
              </a:spcAft>
            </a:pPr>
            <a:r>
              <a:rPr b="0" sz="1450">
                <a:solidFill>
                  <a:srgbClr val="F1F5FA"/>
                </a:solidFill>
                <a:latin typeface="DejaVu Sans"/>
              </a:rPr>
              <a:t>Keep reduction inputs</a:t>
            </a:r>
          </a:p>
        </p:txBody>
      </p:sp>
      <p:sp>
        <p:nvSpPr>
          <p:cNvPr id="17" name="Rounded Rectangle 16"/>
          <p:cNvSpPr/>
          <p:nvPr/>
        </p:nvSpPr>
        <p:spPr>
          <a:xfrm>
            <a:off x="4381500" y="4578350"/>
            <a:ext cx="3429000" cy="1409700"/>
          </a:xfrm>
          <a:prstGeom prst="roundRect">
            <a:avLst>
              <a:gd name="adj" fmla="val 1081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1500" y="4578350"/>
            <a:ext cx="3429000" cy="31750"/>
          </a:xfrm>
          <a:prstGeom prst="rect">
            <a:avLst/>
          </a:prstGeom>
          <a:solidFill>
            <a:srgbClr val="95B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4775200"/>
            <a:ext cx="3048000" cy="332740"/>
          </a:xfrm>
          <a:prstGeom prst="rect">
            <a:avLst/>
          </a:prstGeom>
          <a:noFill/>
        </p:spPr>
        <p:txBody>
          <a:bodyPr wrap="none" lIns="0" rIns="0" tIns="0" bIns="0" anchor="t">
            <a:noAutofit/>
          </a:bodyPr>
          <a:lstStyle/>
          <a:p>
            <a:pPr>
              <a:lnSpc>
                <a:spcPts val="2220"/>
              </a:lnSpc>
              <a:spcBef>
                <a:spcPts val="0"/>
              </a:spcBef>
              <a:spcAft>
                <a:spcPts val="0"/>
              </a:spcAft>
            </a:pPr>
            <a:r>
              <a:rPr b="1" sz="1850">
                <a:solidFill>
                  <a:srgbClr val="95B4FF"/>
                </a:solidFill>
                <a:latin typeface="DejaVu Sans"/>
              </a:rPr>
              <a:t>Redistribute work</a:t>
            </a:r>
          </a:p>
        </p:txBody>
      </p:sp>
      <p:sp>
        <p:nvSpPr>
          <p:cNvPr id="20" name="TextBox 19"/>
          <p:cNvSpPr txBox="1"/>
          <p:nvPr/>
        </p:nvSpPr>
        <p:spPr>
          <a:xfrm>
            <a:off x="4572000" y="52006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Cooperate across lanes</a:t>
            </a:r>
          </a:p>
          <a:p>
            <a:pPr>
              <a:lnSpc>
                <a:spcPts val="1885"/>
              </a:lnSpc>
              <a:spcBef>
                <a:spcPts val="0"/>
              </a:spcBef>
              <a:spcAft>
                <a:spcPts val="0"/>
              </a:spcAft>
            </a:pPr>
            <a:r>
              <a:rPr b="0" sz="1450">
                <a:solidFill>
                  <a:srgbClr val="F1F5FA"/>
                </a:solidFill>
                <a:latin typeface="DejaVu Sans"/>
              </a:rPr>
              <a:t>Fold eligible K partitions</a:t>
            </a:r>
          </a:p>
        </p:txBody>
      </p:sp>
      <p:sp>
        <p:nvSpPr>
          <p:cNvPr id="21" name="Rounded Rectangle 20"/>
          <p:cNvSpPr/>
          <p:nvPr/>
        </p:nvSpPr>
        <p:spPr>
          <a:xfrm>
            <a:off x="8051800" y="4578350"/>
            <a:ext cx="3429000" cy="1409700"/>
          </a:xfrm>
          <a:prstGeom prst="roundRect">
            <a:avLst>
              <a:gd name="adj" fmla="val 1081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1800" y="4578350"/>
            <a:ext cx="3429000" cy="31750"/>
          </a:xfrm>
          <a:prstGeom prst="rect">
            <a:avLst/>
          </a:prstGeom>
          <a:solidFill>
            <a:srgbClr val="F1C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42300" y="4775200"/>
            <a:ext cx="3048000" cy="332740"/>
          </a:xfrm>
          <a:prstGeom prst="rect">
            <a:avLst/>
          </a:prstGeom>
          <a:noFill/>
        </p:spPr>
        <p:txBody>
          <a:bodyPr wrap="none" lIns="0" rIns="0" tIns="0" bIns="0" anchor="t">
            <a:noAutofit/>
          </a:bodyPr>
          <a:lstStyle/>
          <a:p>
            <a:pPr>
              <a:lnSpc>
                <a:spcPts val="2220"/>
              </a:lnSpc>
              <a:spcBef>
                <a:spcPts val="0"/>
              </a:spcBef>
              <a:spcAft>
                <a:spcPts val="0"/>
              </a:spcAft>
            </a:pPr>
            <a:r>
              <a:rPr b="1" sz="1850">
                <a:solidFill>
                  <a:srgbClr val="F1CC83"/>
                </a:solidFill>
                <a:latin typeface="DejaVu Sans"/>
              </a:rPr>
              <a:t>Build pipelines</a:t>
            </a:r>
          </a:p>
        </p:txBody>
      </p:sp>
      <p:sp>
        <p:nvSpPr>
          <p:cNvPr id="24" name="TextBox 23"/>
          <p:cNvSpPr txBox="1"/>
          <p:nvPr/>
        </p:nvSpPr>
        <p:spPr>
          <a:xfrm>
            <a:off x="8242300" y="52006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Pack tensor operands</a:t>
            </a:r>
          </a:p>
          <a:p>
            <a:pPr>
              <a:lnSpc>
                <a:spcPts val="1885"/>
              </a:lnSpc>
              <a:spcBef>
                <a:spcPts val="0"/>
              </a:spcBef>
              <a:spcAft>
                <a:spcPts val="0"/>
              </a:spcAft>
            </a:pPr>
            <a:r>
              <a:rPr b="0" sz="1450">
                <a:solidFill>
                  <a:srgbClr val="F1F5FA"/>
                </a:solidFill>
                <a:latin typeface="DejaVu Sans"/>
              </a:rPr>
              <a:t>Stage attention weights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02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compiler/build.py · compiler/analysis.py · compiler/codegen/lower.py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Where our passes run</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Our contribution: structural recognizers, rewrite guards, and transformed GPU schedules.</a:t>
            </a:r>
          </a:p>
        </p:txBody>
      </p:sp>
      <p:sp>
        <p:nvSpPr>
          <p:cNvPr id="11" name="Rounded Rectangle 10"/>
          <p:cNvSpPr/>
          <p:nvPr/>
        </p:nvSpPr>
        <p:spPr>
          <a:xfrm>
            <a:off x="698500" y="2317750"/>
            <a:ext cx="2032000" cy="2152650"/>
          </a:xfrm>
          <a:prstGeom prst="roundRect">
            <a:avLst>
              <a:gd name="adj" fmla="val 750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950" y="2514600"/>
            <a:ext cx="5715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01</a:t>
            </a:r>
          </a:p>
        </p:txBody>
      </p:sp>
      <p:sp>
        <p:nvSpPr>
          <p:cNvPr id="13" name="TextBox 12"/>
          <p:cNvSpPr txBox="1"/>
          <p:nvPr/>
        </p:nvSpPr>
        <p:spPr>
          <a:xfrm>
            <a:off x="869950" y="2870200"/>
            <a:ext cx="168910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F1F5FA"/>
                </a:solidFill>
                <a:latin typeface="DejaVu Sans"/>
              </a:rPr>
              <a:t>Validate</a:t>
            </a:r>
          </a:p>
        </p:txBody>
      </p:sp>
      <p:sp>
        <p:nvSpPr>
          <p:cNvPr id="14" name="TextBox 13"/>
          <p:cNvSpPr txBox="1"/>
          <p:nvPr/>
        </p:nvSpPr>
        <p:spPr>
          <a:xfrm>
            <a:off x="869950" y="3308350"/>
            <a:ext cx="1689100" cy="848042"/>
          </a:xfrm>
          <a:prstGeom prst="rect">
            <a:avLst/>
          </a:prstGeom>
          <a:noFill/>
        </p:spPr>
        <p:txBody>
          <a:bodyPr wrap="none" lIns="0" rIns="0" tIns="0" bIns="0" anchor="t">
            <a:noAutofit/>
          </a:bodyPr>
          <a:lstStyle/>
          <a:p>
            <a:pPr>
              <a:lnSpc>
                <a:spcPts val="2092"/>
              </a:lnSpc>
              <a:spcBef>
                <a:spcPts val="0"/>
              </a:spcBef>
              <a:spcAft>
                <a:spcPts val="0"/>
              </a:spcAft>
            </a:pPr>
            <a:r>
              <a:rPr b="0" sz="1350">
                <a:solidFill>
                  <a:srgbClr val="A7B8CF"/>
                </a:solidFill>
                <a:latin typeface="DejaVu Sans"/>
              </a:rPr>
              <a:t>Scheduled IR</a:t>
            </a:r>
          </a:p>
          <a:p>
            <a:pPr>
              <a:lnSpc>
                <a:spcPts val="2092"/>
              </a:lnSpc>
              <a:spcBef>
                <a:spcPts val="0"/>
              </a:spcBef>
              <a:spcAft>
                <a:spcPts val="0"/>
              </a:spcAft>
            </a:pPr>
            <a:r>
              <a:rPr b="0" sz="1350">
                <a:solidFill>
                  <a:srgbClr val="A7B8CF"/>
                </a:solidFill>
                <a:latin typeface="DejaVu Sans"/>
              </a:rPr>
              <a:t>+ launch metadata</a:t>
            </a:r>
          </a:p>
          <a:p>
            <a:pPr>
              <a:lnSpc>
                <a:spcPts val="2092"/>
              </a:lnSpc>
              <a:spcBef>
                <a:spcPts val="0"/>
              </a:spcBef>
              <a:spcAft>
                <a:spcPts val="0"/>
              </a:spcAft>
            </a:pPr>
            <a:r>
              <a:rPr b="0" sz="1350">
                <a:solidFill>
                  <a:srgbClr val="A7B8CF"/>
                </a:solidFill>
                <a:latin typeface="DejaVu Sans"/>
              </a:rPr>
              <a:t>Types and contract</a:t>
            </a:r>
          </a:p>
        </p:txBody>
      </p:sp>
      <p:cxnSp>
        <p:nvCxnSpPr>
          <p:cNvPr id="15" name="Connector 14"/>
          <p:cNvCxnSpPr/>
          <p:nvPr/>
        </p:nvCxnSpPr>
        <p:spPr>
          <a:xfrm>
            <a:off x="2794000" y="335280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901950" y="32893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901950" y="33528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079750" y="2317750"/>
            <a:ext cx="2984500" cy="2152650"/>
          </a:xfrm>
          <a:prstGeom prst="roundRect">
            <a:avLst>
              <a:gd name="adj" fmla="val 707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51200" y="2514600"/>
            <a:ext cx="5715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02</a:t>
            </a:r>
          </a:p>
        </p:txBody>
      </p:sp>
      <p:sp>
        <p:nvSpPr>
          <p:cNvPr id="20" name="TextBox 19"/>
          <p:cNvSpPr txBox="1"/>
          <p:nvPr/>
        </p:nvSpPr>
        <p:spPr>
          <a:xfrm>
            <a:off x="3251200" y="2870200"/>
            <a:ext cx="264160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F1F5FA"/>
                </a:solidFill>
                <a:latin typeface="DejaVu Sans"/>
              </a:rPr>
              <a:t>Rewrite</a:t>
            </a:r>
          </a:p>
        </p:txBody>
      </p:sp>
      <p:sp>
        <p:nvSpPr>
          <p:cNvPr id="21" name="TextBox 20"/>
          <p:cNvSpPr txBox="1"/>
          <p:nvPr/>
        </p:nvSpPr>
        <p:spPr>
          <a:xfrm>
            <a:off x="3251200" y="3308350"/>
            <a:ext cx="2641600" cy="582295"/>
          </a:xfrm>
          <a:prstGeom prst="rect">
            <a:avLst/>
          </a:prstGeom>
          <a:noFill/>
        </p:spPr>
        <p:txBody>
          <a:bodyPr wrap="none" lIns="0" rIns="0" tIns="0" bIns="0" anchor="t">
            <a:noAutofit/>
          </a:bodyPr>
          <a:lstStyle/>
          <a:p>
            <a:pPr>
              <a:lnSpc>
                <a:spcPts val="2092"/>
              </a:lnSpc>
              <a:spcBef>
                <a:spcPts val="0"/>
              </a:spcBef>
              <a:spcAft>
                <a:spcPts val="0"/>
              </a:spcAft>
            </a:pPr>
            <a:r>
              <a:rPr b="0" sz="1350">
                <a:solidFill>
                  <a:srgbClr val="A7B8CF"/>
                </a:solidFill>
                <a:latin typeface="DejaVu Sans"/>
              </a:rPr>
              <a:t>Vectorize → forward loads</a:t>
            </a:r>
          </a:p>
          <a:p>
            <a:pPr>
              <a:lnSpc>
                <a:spcPts val="2092"/>
              </a:lnSpc>
              <a:spcBef>
                <a:spcPts val="0"/>
              </a:spcBef>
              <a:spcAft>
                <a:spcPts val="0"/>
              </a:spcAft>
            </a:pPr>
            <a:r>
              <a:rPr b="0" sz="1350">
                <a:solidFill>
                  <a:srgbClr val="A7B8CF"/>
                </a:solidFill>
                <a:latin typeface="DejaVu Sans"/>
              </a:rPr>
              <a:t>Reorder → fold split-K</a:t>
            </a:r>
          </a:p>
        </p:txBody>
      </p:sp>
      <p:cxnSp>
        <p:nvCxnSpPr>
          <p:cNvPr id="22" name="Connector 21"/>
          <p:cNvCxnSpPr/>
          <p:nvPr/>
        </p:nvCxnSpPr>
        <p:spPr>
          <a:xfrm>
            <a:off x="6127750" y="335280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35700" y="32893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235700" y="33528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413500" y="2317750"/>
            <a:ext cx="2317750" cy="2152650"/>
          </a:xfrm>
          <a:prstGeom prst="roundRect">
            <a:avLst>
              <a:gd name="adj" fmla="val 707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4950" y="2514600"/>
            <a:ext cx="5715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95B4FF"/>
                </a:solidFill>
                <a:latin typeface="DejaVu Sans"/>
              </a:rPr>
              <a:t>03</a:t>
            </a:r>
          </a:p>
        </p:txBody>
      </p:sp>
      <p:sp>
        <p:nvSpPr>
          <p:cNvPr id="27" name="TextBox 26"/>
          <p:cNvSpPr txBox="1"/>
          <p:nvPr/>
        </p:nvSpPr>
        <p:spPr>
          <a:xfrm>
            <a:off x="6584950" y="2870200"/>
            <a:ext cx="197485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F1F5FA"/>
                </a:solidFill>
                <a:latin typeface="DejaVu Sans"/>
              </a:rPr>
              <a:t>Lower</a:t>
            </a:r>
          </a:p>
        </p:txBody>
      </p:sp>
      <p:sp>
        <p:nvSpPr>
          <p:cNvPr id="28" name="TextBox 27"/>
          <p:cNvSpPr txBox="1"/>
          <p:nvPr/>
        </p:nvSpPr>
        <p:spPr>
          <a:xfrm>
            <a:off x="6584950" y="3308350"/>
            <a:ext cx="1974850" cy="848042"/>
          </a:xfrm>
          <a:prstGeom prst="rect">
            <a:avLst/>
          </a:prstGeom>
          <a:noFill/>
        </p:spPr>
        <p:txBody>
          <a:bodyPr wrap="none" lIns="0" rIns="0" tIns="0" bIns="0" anchor="t">
            <a:noAutofit/>
          </a:bodyPr>
          <a:lstStyle/>
          <a:p>
            <a:pPr>
              <a:lnSpc>
                <a:spcPts val="2092"/>
              </a:lnSpc>
              <a:spcBef>
                <a:spcPts val="0"/>
              </a:spcBef>
              <a:spcAft>
                <a:spcPts val="0"/>
              </a:spcAft>
            </a:pPr>
            <a:r>
              <a:rPr b="0" sz="1350">
                <a:solidFill>
                  <a:srgbClr val="A7B8CF"/>
                </a:solidFill>
                <a:latin typeface="DejaVu Sans"/>
              </a:rPr>
              <a:t>Reductions</a:t>
            </a:r>
          </a:p>
          <a:p>
            <a:pPr>
              <a:lnSpc>
                <a:spcPts val="2092"/>
              </a:lnSpc>
              <a:spcBef>
                <a:spcPts val="0"/>
              </a:spcBef>
              <a:spcAft>
                <a:spcPts val="0"/>
              </a:spcAft>
            </a:pPr>
            <a:r>
              <a:rPr b="0" sz="1350">
                <a:solidFill>
                  <a:srgbClr val="A7B8CF"/>
                </a:solidFill>
                <a:latin typeface="DejaVu Sans"/>
              </a:rPr>
              <a:t>Tensor pipelines</a:t>
            </a:r>
          </a:p>
          <a:p>
            <a:pPr>
              <a:lnSpc>
                <a:spcPts val="2092"/>
              </a:lnSpc>
              <a:spcBef>
                <a:spcPts val="0"/>
              </a:spcBef>
              <a:spcAft>
                <a:spcPts val="0"/>
              </a:spcAft>
            </a:pPr>
            <a:r>
              <a:rPr b="0" sz="1350">
                <a:solidFill>
                  <a:srgbClr val="A7B8CF"/>
                </a:solidFill>
                <a:latin typeface="DejaVu Sans"/>
              </a:rPr>
              <a:t>Staged recurrences</a:t>
            </a:r>
          </a:p>
        </p:txBody>
      </p:sp>
      <p:cxnSp>
        <p:nvCxnSpPr>
          <p:cNvPr id="29" name="Connector 28"/>
          <p:cNvCxnSpPr/>
          <p:nvPr/>
        </p:nvCxnSpPr>
        <p:spPr>
          <a:xfrm>
            <a:off x="8794750" y="335280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902700" y="32893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02700" y="33528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080500" y="2317750"/>
            <a:ext cx="2413000" cy="2152650"/>
          </a:xfrm>
          <a:prstGeom prst="roundRect">
            <a:avLst>
              <a:gd name="adj" fmla="val 707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1950" y="2514600"/>
            <a:ext cx="5715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F1CC83"/>
                </a:solidFill>
                <a:latin typeface="DejaVu Sans"/>
              </a:rPr>
              <a:t>04</a:t>
            </a:r>
          </a:p>
        </p:txBody>
      </p:sp>
      <p:sp>
        <p:nvSpPr>
          <p:cNvPr id="34" name="TextBox 33"/>
          <p:cNvSpPr txBox="1"/>
          <p:nvPr/>
        </p:nvSpPr>
        <p:spPr>
          <a:xfrm>
            <a:off x="9251950" y="2870200"/>
            <a:ext cx="207010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F1F5FA"/>
                </a:solidFill>
                <a:latin typeface="DejaVu Sans"/>
              </a:rPr>
              <a:t>LLVM → PTX</a:t>
            </a:r>
          </a:p>
        </p:txBody>
      </p:sp>
      <p:sp>
        <p:nvSpPr>
          <p:cNvPr id="35" name="TextBox 34"/>
          <p:cNvSpPr txBox="1"/>
          <p:nvPr/>
        </p:nvSpPr>
        <p:spPr>
          <a:xfrm>
            <a:off x="9251950" y="3308350"/>
            <a:ext cx="2070100" cy="848042"/>
          </a:xfrm>
          <a:prstGeom prst="rect">
            <a:avLst/>
          </a:prstGeom>
          <a:noFill/>
        </p:spPr>
        <p:txBody>
          <a:bodyPr wrap="none" lIns="0" rIns="0" tIns="0" bIns="0" anchor="t">
            <a:noAutofit/>
          </a:bodyPr>
          <a:lstStyle/>
          <a:p>
            <a:pPr>
              <a:lnSpc>
                <a:spcPts val="2092"/>
              </a:lnSpc>
              <a:spcBef>
                <a:spcPts val="0"/>
              </a:spcBef>
              <a:spcAft>
                <a:spcPts val="0"/>
              </a:spcAft>
            </a:pPr>
            <a:r>
              <a:rPr b="0" sz="1350">
                <a:solidFill>
                  <a:srgbClr val="A7B8CF"/>
                </a:solidFill>
                <a:latin typeface="DejaVu Sans"/>
              </a:rPr>
              <a:t>Typed LLVM IR</a:t>
            </a:r>
          </a:p>
          <a:p>
            <a:pPr>
              <a:lnSpc>
                <a:spcPts val="2092"/>
              </a:lnSpc>
              <a:spcBef>
                <a:spcPts val="0"/>
              </a:spcBef>
              <a:spcAft>
                <a:spcPts val="0"/>
              </a:spcAft>
            </a:pPr>
            <a:r>
              <a:rPr b="0" sz="1350">
                <a:solidFill>
                  <a:srgbClr val="A7B8CF"/>
                </a:solidFill>
                <a:latin typeface="DejaVu Sans"/>
              </a:rPr>
              <a:t>LLVM optimization</a:t>
            </a:r>
          </a:p>
          <a:p>
            <a:pPr>
              <a:lnSpc>
                <a:spcPts val="2092"/>
              </a:lnSpc>
              <a:spcBef>
                <a:spcPts val="0"/>
              </a:spcBef>
              <a:spcAft>
                <a:spcPts val="0"/>
              </a:spcAft>
            </a:pPr>
            <a:r>
              <a:rPr b="0" sz="1350">
                <a:solidFill>
                  <a:srgbClr val="A7B8CF"/>
                </a:solidFill>
                <a:latin typeface="DejaVu Sans"/>
              </a:rPr>
              <a:t>NVPTX code generation</a:t>
            </a:r>
          </a:p>
        </p:txBody>
      </p:sp>
      <p:sp>
        <p:nvSpPr>
          <p:cNvPr id="36" name="TextBox 35"/>
          <p:cNvSpPr txBox="1"/>
          <p:nvPr/>
        </p:nvSpPr>
        <p:spPr>
          <a:xfrm>
            <a:off x="723900" y="4895850"/>
            <a:ext cx="106680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Actual early rewrite order</a:t>
            </a:r>
          </a:p>
        </p:txBody>
      </p:sp>
      <p:sp>
        <p:nvSpPr>
          <p:cNvPr id="37" name="TextBox 36"/>
          <p:cNvSpPr txBox="1"/>
          <p:nvPr/>
        </p:nvSpPr>
        <p:spPr>
          <a:xfrm>
            <a:off x="723900" y="5232400"/>
            <a:ext cx="106680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F1F5FA"/>
                </a:solidFill>
                <a:latin typeface="Liberation Mono"/>
              </a:rPr>
              <a:t>vectorize.py  →  regforward.py  →  recurrence.py  →  gridfold.py</a:t>
            </a:r>
          </a:p>
        </p:txBody>
      </p:sp>
      <p:sp>
        <p:nvSpPr>
          <p:cNvPr id="38" name="TextBox 37"/>
          <p:cNvSpPr txBox="1"/>
          <p:nvPr/>
        </p:nvSpPr>
        <p:spPr>
          <a:xfrm>
            <a:off x="723900" y="5810250"/>
            <a:ext cx="10731500" cy="287020"/>
          </a:xfrm>
          <a:prstGeom prst="rect">
            <a:avLst/>
          </a:prstGeom>
          <a:noFill/>
        </p:spPr>
        <p:txBody>
          <a:bodyPr wrap="none" lIns="0" rIns="0" tIns="0" bIns="0" anchor="t">
            <a:noAutofit/>
          </a:bodyPr>
          <a:lstStyle/>
          <a:p>
            <a:pPr>
              <a:lnSpc>
                <a:spcPts val="1859"/>
              </a:lnSpc>
              <a:spcBef>
                <a:spcPts val="0"/>
              </a:spcBef>
              <a:spcAft>
                <a:spcPts val="0"/>
              </a:spcAft>
            </a:pPr>
            <a:r>
              <a:rPr b="0" sz="1550">
                <a:solidFill>
                  <a:srgbClr val="A7B8CF"/>
                </a:solidFill>
                <a:latin typeface="DejaVu Sans"/>
              </a:rPr>
              <a:t>Each rewrite checks its own indices, ownership, and lifetime conditions.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03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compiler/passes/vectorize.py · compiler/passes/regforward.py · compiler/transforms.py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Reuse data before reloading it</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Elementwise vectorization · Reduction load forwarding · Coalesced sum/square reduction</a:t>
            </a:r>
          </a:p>
        </p:txBody>
      </p:sp>
      <p:sp>
        <p:nvSpPr>
          <p:cNvPr id="11" name="Rounded Rectangle 10"/>
          <p:cNvSpPr/>
          <p:nvPr/>
        </p:nvSpPr>
        <p:spPr>
          <a:xfrm>
            <a:off x="698500" y="2190750"/>
            <a:ext cx="5143500" cy="1498600"/>
          </a:xfrm>
          <a:prstGeom prst="roundRect">
            <a:avLst>
              <a:gd name="adj" fmla="val 9745"/>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0000" y="2190750"/>
            <a:ext cx="5143500" cy="1498600"/>
          </a:xfrm>
          <a:prstGeom prst="roundRect">
            <a:avLst>
              <a:gd name="adj" fmla="val 9745"/>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700" y="2387600"/>
            <a:ext cx="4699000" cy="309880"/>
          </a:xfrm>
          <a:prstGeom prst="rect">
            <a:avLst/>
          </a:prstGeom>
          <a:noFill/>
        </p:spPr>
        <p:txBody>
          <a:bodyPr wrap="none" lIns="0" rIns="0" tIns="0" bIns="0" anchor="t">
            <a:noAutofit/>
          </a:bodyPr>
          <a:lstStyle/>
          <a:p>
            <a:pPr>
              <a:lnSpc>
                <a:spcPts val="2039"/>
              </a:lnSpc>
              <a:spcBef>
                <a:spcPts val="0"/>
              </a:spcBef>
              <a:spcAft>
                <a:spcPts val="0"/>
              </a:spcAft>
            </a:pPr>
            <a:r>
              <a:rPr b="1" sz="1700">
                <a:solidFill>
                  <a:srgbClr val="A7B8CF"/>
                </a:solidFill>
                <a:latin typeface="DejaVu Sans"/>
              </a:rPr>
              <a:t>Scalar loop</a:t>
            </a:r>
          </a:p>
        </p:txBody>
      </p:sp>
      <p:sp>
        <p:nvSpPr>
          <p:cNvPr id="14" name="Rounded Rectangle 13"/>
          <p:cNvSpPr/>
          <p:nvPr/>
        </p:nvSpPr>
        <p:spPr>
          <a:xfrm>
            <a:off x="920750" y="2895600"/>
            <a:ext cx="939800" cy="444500"/>
          </a:xfrm>
          <a:prstGeom prst="roundRect">
            <a:avLst>
              <a:gd name="adj" fmla="val 14285"/>
            </a:avLst>
          </a:prstGeom>
          <a:solidFill>
            <a:srgbClr val="2C3C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17600" y="3009900"/>
            <a:ext cx="63500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F1F5FA"/>
                </a:solidFill>
                <a:latin typeface="Liberation Mono"/>
              </a:rPr>
              <a:t>load</a:t>
            </a:r>
          </a:p>
        </p:txBody>
      </p:sp>
      <p:cxnSp>
        <p:nvCxnSpPr>
          <p:cNvPr id="16" name="Connector 15"/>
          <p:cNvCxnSpPr/>
          <p:nvPr/>
        </p:nvCxnSpPr>
        <p:spPr>
          <a:xfrm>
            <a:off x="1892300" y="3117850"/>
            <a:ext cx="127000" cy="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949450" y="30543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949450" y="31178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070100" y="2895600"/>
            <a:ext cx="939800" cy="444500"/>
          </a:xfrm>
          <a:prstGeom prst="roundRect">
            <a:avLst>
              <a:gd name="adj" fmla="val 14285"/>
            </a:avLst>
          </a:prstGeom>
          <a:solidFill>
            <a:srgbClr val="2C3C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66950" y="3009900"/>
            <a:ext cx="63500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F1F5FA"/>
                </a:solidFill>
                <a:latin typeface="Liberation Mono"/>
              </a:rPr>
              <a:t>load</a:t>
            </a:r>
          </a:p>
        </p:txBody>
      </p:sp>
      <p:cxnSp>
        <p:nvCxnSpPr>
          <p:cNvPr id="21" name="Connector 20"/>
          <p:cNvCxnSpPr/>
          <p:nvPr/>
        </p:nvCxnSpPr>
        <p:spPr>
          <a:xfrm>
            <a:off x="3041650" y="3117850"/>
            <a:ext cx="127000" cy="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98800" y="30543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098800" y="31178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219450" y="2895600"/>
            <a:ext cx="939800" cy="444500"/>
          </a:xfrm>
          <a:prstGeom prst="roundRect">
            <a:avLst>
              <a:gd name="adj" fmla="val 14285"/>
            </a:avLst>
          </a:prstGeom>
          <a:solidFill>
            <a:srgbClr val="2C3C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6300" y="3009900"/>
            <a:ext cx="63500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F1F5FA"/>
                </a:solidFill>
                <a:latin typeface="Liberation Mono"/>
              </a:rPr>
              <a:t>load</a:t>
            </a:r>
          </a:p>
        </p:txBody>
      </p:sp>
      <p:cxnSp>
        <p:nvCxnSpPr>
          <p:cNvPr id="26" name="Connector 25"/>
          <p:cNvCxnSpPr/>
          <p:nvPr/>
        </p:nvCxnSpPr>
        <p:spPr>
          <a:xfrm>
            <a:off x="4191000" y="3117850"/>
            <a:ext cx="127000" cy="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48150" y="30543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248150" y="3117850"/>
            <a:ext cx="69850" cy="63500"/>
          </a:xfrm>
          <a:prstGeom prst="line">
            <a:avLst/>
          </a:prstGeom>
          <a:ln w="25400">
            <a:solidFill>
              <a:srgbClr val="A7B8C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68800" y="2895600"/>
            <a:ext cx="939800" cy="444500"/>
          </a:xfrm>
          <a:prstGeom prst="roundRect">
            <a:avLst>
              <a:gd name="adj" fmla="val 14285"/>
            </a:avLst>
          </a:prstGeom>
          <a:solidFill>
            <a:srgbClr val="2C3C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5650" y="3009900"/>
            <a:ext cx="63500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F1F5FA"/>
                </a:solidFill>
                <a:latin typeface="Liberation Mono"/>
              </a:rPr>
              <a:t>load</a:t>
            </a:r>
          </a:p>
        </p:txBody>
      </p:sp>
      <p:sp>
        <p:nvSpPr>
          <p:cNvPr id="31" name="TextBox 30"/>
          <p:cNvSpPr txBox="1"/>
          <p:nvPr/>
        </p:nvSpPr>
        <p:spPr>
          <a:xfrm>
            <a:off x="6553200" y="2387600"/>
            <a:ext cx="4724400" cy="309880"/>
          </a:xfrm>
          <a:prstGeom prst="rect">
            <a:avLst/>
          </a:prstGeom>
          <a:noFill/>
        </p:spPr>
        <p:txBody>
          <a:bodyPr wrap="none" lIns="0" rIns="0" tIns="0" bIns="0" anchor="t">
            <a:noAutofit/>
          </a:bodyPr>
          <a:lstStyle/>
          <a:p>
            <a:pPr>
              <a:lnSpc>
                <a:spcPts val="2039"/>
              </a:lnSpc>
              <a:spcBef>
                <a:spcPts val="0"/>
              </a:spcBef>
              <a:spcAft>
                <a:spcPts val="0"/>
              </a:spcAft>
            </a:pPr>
            <a:r>
              <a:rPr b="1" sz="1700">
                <a:solidFill>
                  <a:srgbClr val="5CE4BF"/>
                </a:solidFill>
                <a:latin typeface="DejaVu Sans"/>
              </a:rPr>
              <a:t>Four contiguous values per lane</a:t>
            </a:r>
          </a:p>
        </p:txBody>
      </p:sp>
      <p:sp>
        <p:nvSpPr>
          <p:cNvPr id="32" name="Rounded Rectangle 31"/>
          <p:cNvSpPr/>
          <p:nvPr/>
        </p:nvSpPr>
        <p:spPr>
          <a:xfrm>
            <a:off x="6610350" y="2895600"/>
            <a:ext cx="1047750" cy="444500"/>
          </a:xfrm>
          <a:prstGeom prst="roundRect">
            <a:avLst>
              <a:gd name="adj" fmla="val 1142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7700" y="3009900"/>
            <a:ext cx="5080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Liberation Mono"/>
              </a:rPr>
              <a:t>x0</a:t>
            </a:r>
          </a:p>
        </p:txBody>
      </p:sp>
      <p:sp>
        <p:nvSpPr>
          <p:cNvPr id="34" name="Rounded Rectangle 33"/>
          <p:cNvSpPr/>
          <p:nvPr/>
        </p:nvSpPr>
        <p:spPr>
          <a:xfrm>
            <a:off x="7708900" y="2895600"/>
            <a:ext cx="1047750" cy="444500"/>
          </a:xfrm>
          <a:prstGeom prst="roundRect">
            <a:avLst>
              <a:gd name="adj" fmla="val 1142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6250" y="3009900"/>
            <a:ext cx="5080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Liberation Mono"/>
              </a:rPr>
              <a:t>x1</a:t>
            </a:r>
          </a:p>
        </p:txBody>
      </p:sp>
      <p:sp>
        <p:nvSpPr>
          <p:cNvPr id="36" name="Rounded Rectangle 35"/>
          <p:cNvSpPr/>
          <p:nvPr/>
        </p:nvSpPr>
        <p:spPr>
          <a:xfrm>
            <a:off x="8807450" y="2895600"/>
            <a:ext cx="1047750" cy="444500"/>
          </a:xfrm>
          <a:prstGeom prst="roundRect">
            <a:avLst>
              <a:gd name="adj" fmla="val 1142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94800" y="3009900"/>
            <a:ext cx="5080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Liberation Mono"/>
              </a:rPr>
              <a:t>x2</a:t>
            </a:r>
          </a:p>
        </p:txBody>
      </p:sp>
      <p:sp>
        <p:nvSpPr>
          <p:cNvPr id="38" name="Rounded Rectangle 37"/>
          <p:cNvSpPr/>
          <p:nvPr/>
        </p:nvSpPr>
        <p:spPr>
          <a:xfrm>
            <a:off x="9906000" y="2895600"/>
            <a:ext cx="1047750" cy="444500"/>
          </a:xfrm>
          <a:prstGeom prst="roundRect">
            <a:avLst>
              <a:gd name="adj" fmla="val 1142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93350" y="3009900"/>
            <a:ext cx="5080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Liberation Mono"/>
              </a:rPr>
              <a:t>x3</a:t>
            </a:r>
          </a:p>
        </p:txBody>
      </p:sp>
      <p:sp>
        <p:nvSpPr>
          <p:cNvPr id="40" name="Rounded Rectangle 39"/>
          <p:cNvSpPr/>
          <p:nvPr/>
        </p:nvSpPr>
        <p:spPr>
          <a:xfrm>
            <a:off x="698500" y="4013200"/>
            <a:ext cx="5143500" cy="1530350"/>
          </a:xfrm>
          <a:prstGeom prst="roundRect">
            <a:avLst>
              <a:gd name="adj" fmla="val 9543"/>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1700" y="4197350"/>
            <a:ext cx="4718050" cy="302260"/>
          </a:xfrm>
          <a:prstGeom prst="rect">
            <a:avLst/>
          </a:prstGeom>
          <a:noFill/>
        </p:spPr>
        <p:txBody>
          <a:bodyPr wrap="none" lIns="0" rIns="0" tIns="0" bIns="0" anchor="t">
            <a:noAutofit/>
          </a:bodyPr>
          <a:lstStyle/>
          <a:p>
            <a:pPr>
              <a:lnSpc>
                <a:spcPts val="1980"/>
              </a:lnSpc>
              <a:spcBef>
                <a:spcPts val="0"/>
              </a:spcBef>
              <a:spcAft>
                <a:spcPts val="0"/>
              </a:spcAft>
            </a:pPr>
            <a:r>
              <a:rPr b="1" sz="1650">
                <a:solidFill>
                  <a:srgbClr val="5CE4BF"/>
                </a:solidFill>
                <a:latin typeface="DejaVu Sans"/>
              </a:rPr>
              <a:t>Reduction load forwarding</a:t>
            </a:r>
          </a:p>
        </p:txBody>
      </p:sp>
      <p:sp>
        <p:nvSpPr>
          <p:cNvPr id="42" name="TextBox 41"/>
          <p:cNvSpPr txBox="1"/>
          <p:nvPr/>
        </p:nvSpPr>
        <p:spPr>
          <a:xfrm>
            <a:off x="901700" y="4679950"/>
            <a:ext cx="4718050" cy="287020"/>
          </a:xfrm>
          <a:prstGeom prst="rect">
            <a:avLst/>
          </a:prstGeom>
          <a:noFill/>
        </p:spPr>
        <p:txBody>
          <a:bodyPr wrap="none" lIns="0" rIns="0" tIns="0" bIns="0" anchor="t">
            <a:noAutofit/>
          </a:bodyPr>
          <a:lstStyle/>
          <a:p>
            <a:pPr>
              <a:lnSpc>
                <a:spcPts val="1859"/>
              </a:lnSpc>
              <a:spcBef>
                <a:spcPts val="0"/>
              </a:spcBef>
              <a:spcAft>
                <a:spcPts val="0"/>
              </a:spcAft>
            </a:pPr>
            <a:r>
              <a:rPr b="0" sz="1550">
                <a:solidFill>
                  <a:srgbClr val="F1F5FA"/>
                </a:solidFill>
                <a:latin typeface="DejaVu Sans"/>
              </a:rPr>
              <a:t>load vector → reduce → consumer</a:t>
            </a:r>
          </a:p>
        </p:txBody>
      </p:sp>
      <p:sp>
        <p:nvSpPr>
          <p:cNvPr id="43" name="TextBox 42"/>
          <p:cNvSpPr txBox="1"/>
          <p:nvPr/>
        </p:nvSpPr>
        <p:spPr>
          <a:xfrm>
            <a:off x="901700" y="5086350"/>
            <a:ext cx="4718050" cy="264160"/>
          </a:xfrm>
          <a:prstGeom prst="rect">
            <a:avLst/>
          </a:prstGeom>
          <a:noFill/>
        </p:spPr>
        <p:txBody>
          <a:bodyPr wrap="none" lIns="0" rIns="0" tIns="0" bIns="0" anchor="t">
            <a:noAutofit/>
          </a:bodyPr>
          <a:lstStyle/>
          <a:p>
            <a:pPr>
              <a:lnSpc>
                <a:spcPts val="1680"/>
              </a:lnSpc>
              <a:spcBef>
                <a:spcPts val="0"/>
              </a:spcBef>
              <a:spcAft>
                <a:spcPts val="0"/>
              </a:spcAft>
            </a:pPr>
            <a:r>
              <a:rPr b="0" sz="1400">
                <a:solidFill>
                  <a:srgbClr val="A7B8CF"/>
                </a:solidFill>
                <a:latin typeface="DejaVu Sans"/>
              </a:rPr>
              <a:t>Reuse the same registers; skip the reload.</a:t>
            </a:r>
          </a:p>
        </p:txBody>
      </p:sp>
      <p:sp>
        <p:nvSpPr>
          <p:cNvPr id="44" name="Rounded Rectangle 43"/>
          <p:cNvSpPr/>
          <p:nvPr/>
        </p:nvSpPr>
        <p:spPr>
          <a:xfrm>
            <a:off x="6350000" y="4013200"/>
            <a:ext cx="5143500" cy="1530350"/>
          </a:xfrm>
          <a:prstGeom prst="roundRect">
            <a:avLst>
              <a:gd name="adj" fmla="val 9543"/>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3200" y="4197350"/>
            <a:ext cx="47244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95B4FF"/>
                </a:solidFill>
                <a:latin typeface="DejaVu Sans"/>
              </a:rPr>
              <a:t>Coalesced sum/square reduction</a:t>
            </a:r>
          </a:p>
        </p:txBody>
      </p:sp>
      <p:sp>
        <p:nvSpPr>
          <p:cNvPr id="46" name="TextBox 45"/>
          <p:cNvSpPr txBox="1"/>
          <p:nvPr/>
        </p:nvSpPr>
        <p:spPr>
          <a:xfrm>
            <a:off x="6553200" y="4654550"/>
            <a:ext cx="4724400" cy="641350"/>
          </a:xfrm>
          <a:prstGeom prst="rect">
            <a:avLst/>
          </a:prstGeom>
          <a:noFill/>
        </p:spPr>
        <p:txBody>
          <a:bodyPr wrap="none" lIns="0" rIns="0" tIns="0" bIns="0" anchor="t">
            <a:noAutofit/>
          </a:bodyPr>
          <a:lstStyle/>
          <a:p>
            <a:pPr>
              <a:lnSpc>
                <a:spcPts val="2325"/>
              </a:lnSpc>
              <a:spcBef>
                <a:spcPts val="0"/>
              </a:spcBef>
              <a:spcAft>
                <a:spcPts val="0"/>
              </a:spcAft>
            </a:pPr>
            <a:r>
              <a:rPr b="0" sz="1550">
                <a:solidFill>
                  <a:srgbClr val="F1F5FA"/>
                </a:solidFill>
                <a:latin typeface="DejaVu Sans"/>
              </a:rPr>
              <a:t>Contiguous load batches</a:t>
            </a:r>
          </a:p>
          <a:p>
            <a:pPr>
              <a:lnSpc>
                <a:spcPts val="2325"/>
              </a:lnSpc>
              <a:spcBef>
                <a:spcPts val="0"/>
              </a:spcBef>
              <a:spcAft>
                <a:spcPts val="0"/>
              </a:spcAft>
            </a:pPr>
            <a:r>
              <a:rPr b="0" sz="1550">
                <a:solidFill>
                  <a:srgbClr val="F1F5FA"/>
                </a:solidFill>
                <a:latin typeface="DejaVu Sans"/>
              </a:rPr>
              <a:t>Long loops: independent accumulators</a:t>
            </a:r>
          </a:p>
        </p:txBody>
      </p:sp>
      <p:sp>
        <p:nvSpPr>
          <p:cNvPr id="47" name="TextBox 46"/>
          <p:cNvSpPr txBox="1"/>
          <p:nvPr/>
        </p:nvSpPr>
        <p:spPr>
          <a:xfrm>
            <a:off x="723900" y="591185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DejaVu Sans"/>
              </a:rPr>
              <a:t>Pass-specific guards: matching indices · readonly inputs · closed lifetimes · complete coverage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04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compiler/transforms.py · compiler/passes/tailtree.py · compiler/passes/gridfold.py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Reshape parallel work</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Cooperative dot reduction · Small-tree elimination · Split-K grid folding</a:t>
            </a:r>
          </a:p>
        </p:txBody>
      </p:sp>
      <p:sp>
        <p:nvSpPr>
          <p:cNvPr id="11" name="Rounded Rectangle 10"/>
          <p:cNvSpPr/>
          <p:nvPr/>
        </p:nvSpPr>
        <p:spPr>
          <a:xfrm>
            <a:off x="698500" y="2184400"/>
            <a:ext cx="5143500" cy="3079750"/>
          </a:xfrm>
          <a:prstGeom prst="roundRect">
            <a:avLst>
              <a:gd name="adj" fmla="val 4948"/>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0000" y="2184400"/>
            <a:ext cx="5143500" cy="3079750"/>
          </a:xfrm>
          <a:prstGeom prst="roundRect">
            <a:avLst>
              <a:gd name="adj" fmla="val 4948"/>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0750" y="2413000"/>
            <a:ext cx="46990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5CE4BF"/>
                </a:solidFill>
                <a:latin typeface="DejaVu Sans"/>
              </a:rPr>
              <a:t>Lane / warp work</a:t>
            </a:r>
          </a:p>
        </p:txBody>
      </p:sp>
      <p:sp>
        <p:nvSpPr>
          <p:cNvPr id="14" name="TextBox 13"/>
          <p:cNvSpPr txBox="1"/>
          <p:nvPr/>
        </p:nvSpPr>
        <p:spPr>
          <a:xfrm>
            <a:off x="920750" y="2895600"/>
            <a:ext cx="4699000" cy="287020"/>
          </a:xfrm>
          <a:prstGeom prst="rect">
            <a:avLst/>
          </a:prstGeom>
          <a:noFill/>
        </p:spPr>
        <p:txBody>
          <a:bodyPr wrap="none" lIns="0" rIns="0" tIns="0" bIns="0" anchor="t">
            <a:noAutofit/>
          </a:bodyPr>
          <a:lstStyle/>
          <a:p>
            <a:pPr>
              <a:lnSpc>
                <a:spcPts val="1859"/>
              </a:lnSpc>
              <a:spcBef>
                <a:spcPts val="0"/>
              </a:spcBef>
              <a:spcAft>
                <a:spcPts val="0"/>
              </a:spcAft>
            </a:pPr>
            <a:r>
              <a:rPr b="0" sz="1550">
                <a:solidFill>
                  <a:srgbClr val="F1F5FA"/>
                </a:solidFill>
                <a:latin typeface="DejaVu Sans"/>
              </a:rPr>
              <a:t>Repeated dot → lane partials → shuffle</a:t>
            </a:r>
          </a:p>
        </p:txBody>
      </p:sp>
      <p:sp>
        <p:nvSpPr>
          <p:cNvPr id="15" name="Rounded Rectangle 14"/>
          <p:cNvSpPr/>
          <p:nvPr/>
        </p:nvSpPr>
        <p:spPr>
          <a:xfrm>
            <a:off x="920750" y="3378200"/>
            <a:ext cx="990600" cy="527050"/>
          </a:xfrm>
          <a:prstGeom prst="roundRect">
            <a:avLst>
              <a:gd name="adj" fmla="val 1204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7300" y="3492500"/>
            <a:ext cx="508000" cy="332740"/>
          </a:xfrm>
          <a:prstGeom prst="rect">
            <a:avLst/>
          </a:prstGeom>
          <a:noFill/>
        </p:spPr>
        <p:txBody>
          <a:bodyPr wrap="none" lIns="0" rIns="0" tIns="0" bIns="0" anchor="t">
            <a:noAutofit/>
          </a:bodyPr>
          <a:lstStyle/>
          <a:p>
            <a:pPr>
              <a:lnSpc>
                <a:spcPts val="2220"/>
              </a:lnSpc>
              <a:spcBef>
                <a:spcPts val="0"/>
              </a:spcBef>
              <a:spcAft>
                <a:spcPts val="0"/>
              </a:spcAft>
            </a:pPr>
            <a:r>
              <a:rPr b="0" sz="1850">
                <a:solidFill>
                  <a:srgbClr val="5CE4BF"/>
                </a:solidFill>
                <a:latin typeface="Liberation Mono"/>
              </a:rPr>
              <a:t>p0</a:t>
            </a:r>
          </a:p>
        </p:txBody>
      </p:sp>
      <p:sp>
        <p:nvSpPr>
          <p:cNvPr id="17" name="Rounded Rectangle 16"/>
          <p:cNvSpPr/>
          <p:nvPr/>
        </p:nvSpPr>
        <p:spPr>
          <a:xfrm>
            <a:off x="2076450" y="3378200"/>
            <a:ext cx="990600" cy="527050"/>
          </a:xfrm>
          <a:prstGeom prst="roundRect">
            <a:avLst>
              <a:gd name="adj" fmla="val 1204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13000" y="3492500"/>
            <a:ext cx="508000" cy="332740"/>
          </a:xfrm>
          <a:prstGeom prst="rect">
            <a:avLst/>
          </a:prstGeom>
          <a:noFill/>
        </p:spPr>
        <p:txBody>
          <a:bodyPr wrap="none" lIns="0" rIns="0" tIns="0" bIns="0" anchor="t">
            <a:noAutofit/>
          </a:bodyPr>
          <a:lstStyle/>
          <a:p>
            <a:pPr>
              <a:lnSpc>
                <a:spcPts val="2220"/>
              </a:lnSpc>
              <a:spcBef>
                <a:spcPts val="0"/>
              </a:spcBef>
              <a:spcAft>
                <a:spcPts val="0"/>
              </a:spcAft>
            </a:pPr>
            <a:r>
              <a:rPr b="0" sz="1850">
                <a:solidFill>
                  <a:srgbClr val="5CE4BF"/>
                </a:solidFill>
                <a:latin typeface="Liberation Mono"/>
              </a:rPr>
              <a:t>p1</a:t>
            </a:r>
          </a:p>
        </p:txBody>
      </p:sp>
      <p:sp>
        <p:nvSpPr>
          <p:cNvPr id="19" name="Rounded Rectangle 18"/>
          <p:cNvSpPr/>
          <p:nvPr/>
        </p:nvSpPr>
        <p:spPr>
          <a:xfrm>
            <a:off x="3232150" y="3378200"/>
            <a:ext cx="990600" cy="527050"/>
          </a:xfrm>
          <a:prstGeom prst="roundRect">
            <a:avLst>
              <a:gd name="adj" fmla="val 1204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8700" y="3492500"/>
            <a:ext cx="508000" cy="332740"/>
          </a:xfrm>
          <a:prstGeom prst="rect">
            <a:avLst/>
          </a:prstGeom>
          <a:noFill/>
        </p:spPr>
        <p:txBody>
          <a:bodyPr wrap="none" lIns="0" rIns="0" tIns="0" bIns="0" anchor="t">
            <a:noAutofit/>
          </a:bodyPr>
          <a:lstStyle/>
          <a:p>
            <a:pPr>
              <a:lnSpc>
                <a:spcPts val="2220"/>
              </a:lnSpc>
              <a:spcBef>
                <a:spcPts val="0"/>
              </a:spcBef>
              <a:spcAft>
                <a:spcPts val="0"/>
              </a:spcAft>
            </a:pPr>
            <a:r>
              <a:rPr b="0" sz="1850">
                <a:solidFill>
                  <a:srgbClr val="5CE4BF"/>
                </a:solidFill>
                <a:latin typeface="Liberation Mono"/>
              </a:rPr>
              <a:t>p2</a:t>
            </a:r>
          </a:p>
        </p:txBody>
      </p:sp>
      <p:sp>
        <p:nvSpPr>
          <p:cNvPr id="21" name="Rounded Rectangle 20"/>
          <p:cNvSpPr/>
          <p:nvPr/>
        </p:nvSpPr>
        <p:spPr>
          <a:xfrm>
            <a:off x="4387850" y="3378200"/>
            <a:ext cx="990600" cy="527050"/>
          </a:xfrm>
          <a:prstGeom prst="roundRect">
            <a:avLst>
              <a:gd name="adj" fmla="val 12048"/>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4400" y="3492500"/>
            <a:ext cx="508000" cy="332740"/>
          </a:xfrm>
          <a:prstGeom prst="rect">
            <a:avLst/>
          </a:prstGeom>
          <a:noFill/>
        </p:spPr>
        <p:txBody>
          <a:bodyPr wrap="none" lIns="0" rIns="0" tIns="0" bIns="0" anchor="t">
            <a:noAutofit/>
          </a:bodyPr>
          <a:lstStyle/>
          <a:p>
            <a:pPr>
              <a:lnSpc>
                <a:spcPts val="2220"/>
              </a:lnSpc>
              <a:spcBef>
                <a:spcPts val="0"/>
              </a:spcBef>
              <a:spcAft>
                <a:spcPts val="0"/>
              </a:spcAft>
            </a:pPr>
            <a:r>
              <a:rPr b="0" sz="1850">
                <a:solidFill>
                  <a:srgbClr val="5CE4BF"/>
                </a:solidFill>
                <a:latin typeface="Liberation Mono"/>
              </a:rPr>
              <a:t>p3</a:t>
            </a:r>
          </a:p>
        </p:txBody>
      </p:sp>
      <p:sp>
        <p:nvSpPr>
          <p:cNvPr id="23" name="TextBox 22"/>
          <p:cNvSpPr txBox="1"/>
          <p:nvPr/>
        </p:nvSpPr>
        <p:spPr>
          <a:xfrm>
            <a:off x="920750" y="4298950"/>
            <a:ext cx="469900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F1F5FA"/>
                </a:solidFill>
                <a:latin typeface="DejaVu Sans"/>
              </a:rPr>
              <a:t>Closed small trees → direct sums</a:t>
            </a:r>
          </a:p>
        </p:txBody>
      </p:sp>
      <p:sp>
        <p:nvSpPr>
          <p:cNvPr id="24" name="TextBox 23"/>
          <p:cNvSpPr txBox="1"/>
          <p:nvPr/>
        </p:nvSpPr>
        <p:spPr>
          <a:xfrm>
            <a:off x="920750" y="4743450"/>
            <a:ext cx="46990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DejaVu Sans"/>
              </a:rPr>
              <a:t>Warp 0 can combine up to 32 partials.</a:t>
            </a:r>
          </a:p>
        </p:txBody>
      </p:sp>
      <p:sp>
        <p:nvSpPr>
          <p:cNvPr id="25" name="TextBox 24"/>
          <p:cNvSpPr txBox="1"/>
          <p:nvPr/>
        </p:nvSpPr>
        <p:spPr>
          <a:xfrm>
            <a:off x="6565900" y="2413000"/>
            <a:ext cx="46990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95B4FF"/>
                </a:solidFill>
                <a:latin typeface="DejaVu Sans"/>
              </a:rPr>
              <a:t>Split-K grid folding</a:t>
            </a:r>
          </a:p>
        </p:txBody>
      </p:sp>
      <p:sp>
        <p:nvSpPr>
          <p:cNvPr id="26" name="TextBox 25"/>
          <p:cNvSpPr txBox="1"/>
          <p:nvPr/>
        </p:nvSpPr>
        <p:spPr>
          <a:xfrm>
            <a:off x="6565900" y="2800350"/>
            <a:ext cx="4699000" cy="248920"/>
          </a:xfrm>
          <a:prstGeom prst="rect">
            <a:avLst/>
          </a:prstGeom>
          <a:noFill/>
        </p:spPr>
        <p:txBody>
          <a:bodyPr wrap="none" lIns="0" rIns="0" tIns="0" bIns="0" anchor="t">
            <a:noAutofit/>
          </a:bodyPr>
          <a:lstStyle/>
          <a:p>
            <a:pPr>
              <a:lnSpc>
                <a:spcPts val="1560"/>
              </a:lnSpc>
              <a:spcBef>
                <a:spcPts val="0"/>
              </a:spcBef>
              <a:spcAft>
                <a:spcPts val="0"/>
              </a:spcAft>
            </a:pPr>
            <a:r>
              <a:rPr b="0" sz="1300">
                <a:solidFill>
                  <a:srgbClr val="A7B8CF"/>
                </a:solidFill>
                <a:latin typeface="DejaVu Sans"/>
              </a:rPr>
              <a:t>Partitions per output tile in a larger grid</a:t>
            </a:r>
          </a:p>
        </p:txBody>
      </p:sp>
      <p:sp>
        <p:nvSpPr>
          <p:cNvPr id="27" name="Rounded Rectangle 26"/>
          <p:cNvSpPr/>
          <p:nvPr/>
        </p:nvSpPr>
        <p:spPr>
          <a:xfrm>
            <a:off x="6572250" y="3143250"/>
            <a:ext cx="984250" cy="450850"/>
          </a:xfrm>
          <a:prstGeom prst="roundRect">
            <a:avLst>
              <a:gd name="adj" fmla="val 1408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43700" y="3270250"/>
            <a:ext cx="73025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Liberation Mono"/>
              </a:rPr>
              <a:t>CTA 0</a:t>
            </a:r>
          </a:p>
        </p:txBody>
      </p:sp>
      <p:sp>
        <p:nvSpPr>
          <p:cNvPr id="29" name="Rounded Rectangle 28"/>
          <p:cNvSpPr/>
          <p:nvPr/>
        </p:nvSpPr>
        <p:spPr>
          <a:xfrm>
            <a:off x="7727950" y="3143250"/>
            <a:ext cx="984250" cy="450850"/>
          </a:xfrm>
          <a:prstGeom prst="roundRect">
            <a:avLst>
              <a:gd name="adj" fmla="val 1408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99400" y="3270250"/>
            <a:ext cx="73025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Liberation Mono"/>
              </a:rPr>
              <a:t>CTA 1</a:t>
            </a:r>
          </a:p>
        </p:txBody>
      </p:sp>
      <p:sp>
        <p:nvSpPr>
          <p:cNvPr id="31" name="Rounded Rectangle 30"/>
          <p:cNvSpPr/>
          <p:nvPr/>
        </p:nvSpPr>
        <p:spPr>
          <a:xfrm>
            <a:off x="8883650" y="3143250"/>
            <a:ext cx="984250" cy="450850"/>
          </a:xfrm>
          <a:prstGeom prst="roundRect">
            <a:avLst>
              <a:gd name="adj" fmla="val 14084"/>
            </a:avLst>
          </a:prstGeom>
          <a:solidFill>
            <a:srgbClr val="1D2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5100" y="3270250"/>
            <a:ext cx="73025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Liberation Mono"/>
              </a:rPr>
              <a:t>exit</a:t>
            </a:r>
          </a:p>
        </p:txBody>
      </p:sp>
      <p:sp>
        <p:nvSpPr>
          <p:cNvPr id="33" name="Rounded Rectangle 32"/>
          <p:cNvSpPr/>
          <p:nvPr/>
        </p:nvSpPr>
        <p:spPr>
          <a:xfrm>
            <a:off x="10039350" y="3143250"/>
            <a:ext cx="984250" cy="450850"/>
          </a:xfrm>
          <a:prstGeom prst="roundRect">
            <a:avLst>
              <a:gd name="adj" fmla="val 14084"/>
            </a:avLst>
          </a:prstGeom>
          <a:solidFill>
            <a:srgbClr val="1D2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10800" y="3270250"/>
            <a:ext cx="73025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Liberation Mono"/>
              </a:rPr>
              <a:t>exit</a:t>
            </a:r>
          </a:p>
        </p:txBody>
      </p:sp>
      <p:sp>
        <p:nvSpPr>
          <p:cNvPr id="35" name="TextBox 34"/>
          <p:cNvSpPr txBox="1"/>
          <p:nvPr/>
        </p:nvSpPr>
        <p:spPr>
          <a:xfrm>
            <a:off x="6565900" y="3829050"/>
            <a:ext cx="4699000" cy="700405"/>
          </a:xfrm>
          <a:prstGeom prst="rect">
            <a:avLst/>
          </a:prstGeom>
          <a:noFill/>
        </p:spPr>
        <p:txBody>
          <a:bodyPr wrap="none" lIns="0" rIns="0" tIns="0" bIns="0" anchor="t">
            <a:noAutofit/>
          </a:bodyPr>
          <a:lstStyle/>
          <a:p>
            <a:pPr>
              <a:lnSpc>
                <a:spcPts val="2557"/>
              </a:lnSpc>
              <a:spcBef>
                <a:spcPts val="0"/>
              </a:spcBef>
              <a:spcAft>
                <a:spcPts val="0"/>
              </a:spcAft>
            </a:pPr>
            <a:r>
              <a:rPr b="0" sz="1650">
                <a:solidFill>
                  <a:srgbClr val="F1F5FA"/>
                </a:solidFill>
                <a:latin typeface="DejaVu Sans"/>
              </a:rPr>
              <a:t>Logical K partitions:   4 → 2</a:t>
            </a:r>
          </a:p>
          <a:p>
            <a:pPr>
              <a:lnSpc>
                <a:spcPts val="2557"/>
              </a:lnSpc>
              <a:spcBef>
                <a:spcPts val="0"/>
              </a:spcBef>
              <a:spcAft>
                <a:spcPts val="0"/>
              </a:spcAft>
            </a:pPr>
            <a:r>
              <a:rPr b="0" sz="1650">
                <a:solidFill>
                  <a:srgbClr val="F1F5FA"/>
                </a:solidFill>
                <a:latin typeface="DejaVu Sans"/>
              </a:rPr>
              <a:t>K work / active CTA:  1× → 2×</a:t>
            </a:r>
          </a:p>
        </p:txBody>
      </p:sp>
      <p:sp>
        <p:nvSpPr>
          <p:cNvPr id="36" name="TextBox 35"/>
          <p:cNvSpPr txBox="1"/>
          <p:nvPr/>
        </p:nvSpPr>
        <p:spPr>
          <a:xfrm>
            <a:off x="6565900" y="4743450"/>
            <a:ext cx="46990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DejaVu Sans"/>
              </a:rPr>
              <a:t>Same physical grid. Same atomic output.</a:t>
            </a:r>
          </a:p>
        </p:txBody>
      </p:sp>
      <p:sp>
        <p:nvSpPr>
          <p:cNvPr id="37" name="TextBox 36"/>
          <p:cNvSpPr txBox="1"/>
          <p:nvPr/>
        </p:nvSpPr>
        <p:spPr>
          <a:xfrm>
            <a:off x="723900" y="5505450"/>
            <a:ext cx="10731500" cy="241300"/>
          </a:xfrm>
          <a:prstGeom prst="rect">
            <a:avLst/>
          </a:prstGeom>
          <a:noFill/>
        </p:spPr>
        <p:txBody>
          <a:bodyPr wrap="none" lIns="0" rIns="0" tIns="0" bIns="0" anchor="t">
            <a:noAutofit/>
          </a:bodyPr>
          <a:lstStyle/>
          <a:p>
            <a:pPr>
              <a:lnSpc>
                <a:spcPts val="1500"/>
              </a:lnSpc>
              <a:spcBef>
                <a:spcPts val="0"/>
              </a:spcBef>
              <a:spcAft>
                <a:spcPts val="0"/>
              </a:spcAft>
            </a:pPr>
            <a:r>
              <a:rPr b="0" sz="1250">
                <a:solidFill>
                  <a:srgbClr val="A7B8CF"/>
                </a:solidFill>
                <a:latin typeface="DejaVu Sans"/>
              </a:rPr>
              <a:t>Illustrative factor 2. Actual folding checks coverage, scratch capacity, K depth, and remaining parallelism.</a:t>
            </a:r>
          </a:p>
        </p:txBody>
      </p:sp>
      <p:sp>
        <p:nvSpPr>
          <p:cNvPr id="38" name="TextBox 37"/>
          <p:cNvSpPr txBox="1"/>
          <p:nvPr/>
        </p:nvSpPr>
        <p:spPr>
          <a:xfrm>
            <a:off x="723900" y="5943600"/>
            <a:ext cx="10731500" cy="294640"/>
          </a:xfrm>
          <a:prstGeom prst="rect">
            <a:avLst/>
          </a:prstGeom>
          <a:noFill/>
        </p:spPr>
        <p:txBody>
          <a:bodyPr wrap="none" lIns="0" rIns="0" tIns="0" bIns="0" anchor="t">
            <a:noAutofit/>
          </a:bodyPr>
          <a:lstStyle/>
          <a:p>
            <a:pPr>
              <a:lnSpc>
                <a:spcPts val="1920"/>
              </a:lnSpc>
              <a:spcBef>
                <a:spcPts val="0"/>
              </a:spcBef>
              <a:spcAft>
                <a:spcPts val="0"/>
              </a:spcAft>
            </a:pPr>
            <a:r>
              <a:rPr b="0" sz="1600">
                <a:solidFill>
                  <a:srgbClr val="5CE4BF"/>
                </a:solidFill>
                <a:latin typeface="DejaVu Sans"/>
              </a:rPr>
              <a:t>Change who does the work while retaining the original launch contract.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05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compiler/passes/contraction.py · compiler/codegen/tensor.py · compiler/storage.py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Recover the contraction</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Contraction tensorization · Tensor shared-memory layout</a:t>
            </a:r>
          </a:p>
        </p:txBody>
      </p:sp>
      <p:sp>
        <p:nvSpPr>
          <p:cNvPr id="11" name="Rounded Rectangle 10"/>
          <p:cNvSpPr/>
          <p:nvPr/>
        </p:nvSpPr>
        <p:spPr>
          <a:xfrm>
            <a:off x="698500" y="2152650"/>
            <a:ext cx="4603750" cy="2730500"/>
          </a:xfrm>
          <a:prstGeom prst="roundRect">
            <a:avLst>
              <a:gd name="adj" fmla="val 558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0750" y="2374900"/>
            <a:ext cx="41656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F1F5FA"/>
                </a:solidFill>
                <a:latin typeface="DejaVu Sans"/>
              </a:rPr>
              <a:t>Shared multiply + add</a:t>
            </a:r>
          </a:p>
        </p:txBody>
      </p:sp>
      <p:sp>
        <p:nvSpPr>
          <p:cNvPr id="13" name="TextBox 12"/>
          <p:cNvSpPr txBox="1"/>
          <p:nvPr/>
        </p:nvSpPr>
        <p:spPr>
          <a:xfrm>
            <a:off x="920750" y="2914650"/>
            <a:ext cx="4127500" cy="1150937"/>
          </a:xfrm>
          <a:prstGeom prst="rect">
            <a:avLst/>
          </a:prstGeom>
          <a:noFill/>
        </p:spPr>
        <p:txBody>
          <a:bodyPr wrap="none" lIns="0" rIns="0" tIns="0" bIns="0" anchor="t">
            <a:noAutofit/>
          </a:bodyPr>
          <a:lstStyle/>
          <a:p>
            <a:pPr>
              <a:lnSpc>
                <a:spcPts val="2887"/>
              </a:lnSpc>
              <a:spcBef>
                <a:spcPts val="0"/>
              </a:spcBef>
              <a:spcAft>
                <a:spcPts val="0"/>
              </a:spcAft>
            </a:pPr>
            <a:r>
              <a:rPr b="0" sz="1650">
                <a:solidFill>
                  <a:srgbClr val="A7B8CF"/>
                </a:solidFill>
                <a:latin typeface="DejaVu Sans"/>
              </a:rPr>
              <a:t>Recognize a closed contraction</a:t>
            </a:r>
          </a:p>
          <a:p>
            <a:pPr>
              <a:lnSpc>
                <a:spcPts val="2887"/>
              </a:lnSpc>
              <a:spcBef>
                <a:spcPts val="0"/>
              </a:spcBef>
              <a:spcAft>
                <a:spcPts val="0"/>
              </a:spcAft>
            </a:pPr>
            <a:r>
              <a:rPr b="0" sz="1650">
                <a:solidFill>
                  <a:srgbClr val="A7B8CF"/>
                </a:solidFill>
                <a:latin typeface="DejaVu Sans"/>
              </a:rPr>
              <a:t>Prove affine tile coverage</a:t>
            </a:r>
          </a:p>
          <a:p>
            <a:pPr>
              <a:lnSpc>
                <a:spcPts val="2887"/>
              </a:lnSpc>
              <a:spcBef>
                <a:spcPts val="0"/>
              </a:spcBef>
              <a:spcAft>
                <a:spcPts val="0"/>
              </a:spcAft>
            </a:pPr>
            <a:r>
              <a:rPr b="0" sz="1650">
                <a:solidFill>
                  <a:srgbClr val="A7B8CF"/>
                </a:solidFill>
                <a:latin typeface="DejaVu Sans"/>
              </a:rPr>
              <a:t>Derive full-warp ownership</a:t>
            </a:r>
          </a:p>
        </p:txBody>
      </p:sp>
      <p:sp>
        <p:nvSpPr>
          <p:cNvPr id="14" name="TextBox 13"/>
          <p:cNvSpPr txBox="1"/>
          <p:nvPr/>
        </p:nvSpPr>
        <p:spPr>
          <a:xfrm>
            <a:off x="920750" y="4368800"/>
            <a:ext cx="4127500" cy="287020"/>
          </a:xfrm>
          <a:prstGeom prst="rect">
            <a:avLst/>
          </a:prstGeom>
          <a:noFill/>
        </p:spPr>
        <p:txBody>
          <a:bodyPr wrap="none" lIns="0" rIns="0" tIns="0" bIns="0" anchor="t">
            <a:noAutofit/>
          </a:bodyPr>
          <a:lstStyle/>
          <a:p>
            <a:pPr>
              <a:lnSpc>
                <a:spcPts val="1859"/>
              </a:lnSpc>
              <a:spcBef>
                <a:spcPts val="0"/>
              </a:spcBef>
              <a:spcAft>
                <a:spcPts val="0"/>
              </a:spcAft>
            </a:pPr>
            <a:r>
              <a:rPr b="0" sz="1550">
                <a:solidFill>
                  <a:srgbClr val="5CE4BF"/>
                </a:solidFill>
                <a:latin typeface="DejaVu Sans"/>
              </a:rPr>
              <a:t>Guarded substitution → warp MMA</a:t>
            </a:r>
          </a:p>
        </p:txBody>
      </p:sp>
      <p:cxnSp>
        <p:nvCxnSpPr>
          <p:cNvPr id="15" name="Connector 14"/>
          <p:cNvCxnSpPr/>
          <p:nvPr/>
        </p:nvCxnSpPr>
        <p:spPr>
          <a:xfrm>
            <a:off x="5448300" y="3517900"/>
            <a:ext cx="31115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89600" y="34544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89600" y="35179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969000" y="2152650"/>
            <a:ext cx="5524500" cy="2730500"/>
          </a:xfrm>
          <a:prstGeom prst="roundRect">
            <a:avLst>
              <a:gd name="adj" fmla="val 558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1250" y="2374900"/>
            <a:ext cx="5067300" cy="363220"/>
          </a:xfrm>
          <a:prstGeom prst="rect">
            <a:avLst/>
          </a:prstGeom>
          <a:noFill/>
        </p:spPr>
        <p:txBody>
          <a:bodyPr wrap="none" lIns="0" rIns="0" tIns="0" bIns="0" anchor="t">
            <a:noAutofit/>
          </a:bodyPr>
          <a:lstStyle/>
          <a:p>
            <a:pPr>
              <a:lnSpc>
                <a:spcPts val="2460"/>
              </a:lnSpc>
              <a:spcBef>
                <a:spcPts val="0"/>
              </a:spcBef>
              <a:spcAft>
                <a:spcPts val="0"/>
              </a:spcAft>
            </a:pPr>
            <a:r>
              <a:rPr b="1" sz="2050">
                <a:solidFill>
                  <a:srgbClr val="5CE4BF"/>
                </a:solidFill>
                <a:latin typeface="DejaVu Sans"/>
              </a:rPr>
              <a:t>BF16x3 or TF32x3</a:t>
            </a:r>
          </a:p>
        </p:txBody>
      </p:sp>
      <p:sp>
        <p:nvSpPr>
          <p:cNvPr id="20" name="TextBox 19"/>
          <p:cNvSpPr txBox="1"/>
          <p:nvPr/>
        </p:nvSpPr>
        <p:spPr>
          <a:xfrm>
            <a:off x="6191250" y="2927350"/>
            <a:ext cx="50546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A7B8CF"/>
                </a:solidFill>
                <a:latin typeface="Liberation Mono"/>
              </a:rPr>
              <a:t>A ≈ Ah + Al     B ≈ Bh + Bl</a:t>
            </a:r>
          </a:p>
        </p:txBody>
      </p:sp>
      <p:sp>
        <p:nvSpPr>
          <p:cNvPr id="21" name="TextBox 20"/>
          <p:cNvSpPr txBox="1"/>
          <p:nvPr/>
        </p:nvSpPr>
        <p:spPr>
          <a:xfrm>
            <a:off x="6191250" y="3371850"/>
            <a:ext cx="5054600" cy="378460"/>
          </a:xfrm>
          <a:prstGeom prst="rect">
            <a:avLst/>
          </a:prstGeom>
          <a:noFill/>
        </p:spPr>
        <p:txBody>
          <a:bodyPr wrap="none" lIns="0" rIns="0" tIns="0" bIns="0" anchor="t">
            <a:noAutofit/>
          </a:bodyPr>
          <a:lstStyle/>
          <a:p>
            <a:pPr>
              <a:lnSpc>
                <a:spcPts val="2580"/>
              </a:lnSpc>
              <a:spcBef>
                <a:spcPts val="0"/>
              </a:spcBef>
              <a:spcAft>
                <a:spcPts val="0"/>
              </a:spcAft>
            </a:pPr>
            <a:r>
              <a:rPr b="0" sz="2150">
                <a:solidFill>
                  <a:srgbClr val="F1F5FA"/>
                </a:solidFill>
                <a:latin typeface="Liberation Mono"/>
              </a:rPr>
              <a:t>Ah·Bh + Ah·Bl + Al·Bh</a:t>
            </a:r>
          </a:p>
        </p:txBody>
      </p:sp>
      <p:sp>
        <p:nvSpPr>
          <p:cNvPr id="22" name="TextBox 21"/>
          <p:cNvSpPr txBox="1"/>
          <p:nvPr/>
        </p:nvSpPr>
        <p:spPr>
          <a:xfrm>
            <a:off x="6191250" y="3898900"/>
            <a:ext cx="5054600" cy="309880"/>
          </a:xfrm>
          <a:prstGeom prst="rect">
            <a:avLst/>
          </a:prstGeom>
          <a:noFill/>
        </p:spPr>
        <p:txBody>
          <a:bodyPr wrap="none" lIns="0" rIns="0" tIns="0" bIns="0" anchor="t">
            <a:noAutofit/>
          </a:bodyPr>
          <a:lstStyle/>
          <a:p>
            <a:pPr>
              <a:lnSpc>
                <a:spcPts val="2039"/>
              </a:lnSpc>
              <a:spcBef>
                <a:spcPts val="0"/>
              </a:spcBef>
              <a:spcAft>
                <a:spcPts val="0"/>
              </a:spcAft>
            </a:pPr>
            <a:r>
              <a:rPr b="0" sz="1700">
                <a:solidFill>
                  <a:srgbClr val="F1F5FA"/>
                </a:solidFill>
                <a:latin typeface="DejaVu Sans"/>
              </a:rPr>
              <a:t>FP32 buffers + accumulation</a:t>
            </a:r>
          </a:p>
        </p:txBody>
      </p:sp>
      <p:sp>
        <p:nvSpPr>
          <p:cNvPr id="23" name="TextBox 22"/>
          <p:cNvSpPr txBox="1"/>
          <p:nvPr/>
        </p:nvSpPr>
        <p:spPr>
          <a:xfrm>
            <a:off x="6191250" y="4368800"/>
            <a:ext cx="5054600" cy="264160"/>
          </a:xfrm>
          <a:prstGeom prst="rect">
            <a:avLst/>
          </a:prstGeom>
          <a:noFill/>
        </p:spPr>
        <p:txBody>
          <a:bodyPr wrap="none" lIns="0" rIns="0" tIns="0" bIns="0" anchor="t">
            <a:noAutofit/>
          </a:bodyPr>
          <a:lstStyle/>
          <a:p>
            <a:pPr>
              <a:lnSpc>
                <a:spcPts val="1680"/>
              </a:lnSpc>
              <a:spcBef>
                <a:spcPts val="0"/>
              </a:spcBef>
              <a:spcAft>
                <a:spcPts val="0"/>
              </a:spcAft>
            </a:pPr>
            <a:r>
              <a:rPr b="0" sz="1400">
                <a:solidFill>
                  <a:srgbClr val="F1CC83"/>
                </a:solidFill>
                <a:latin typeface="DejaVu Sans"/>
              </a:rPr>
              <a:t>Low × low omitted → approximate products</a:t>
            </a:r>
          </a:p>
        </p:txBody>
      </p:sp>
      <p:sp>
        <p:nvSpPr>
          <p:cNvPr id="24" name="TextBox 23"/>
          <p:cNvSpPr txBox="1"/>
          <p:nvPr/>
        </p:nvSpPr>
        <p:spPr>
          <a:xfrm>
            <a:off x="723900" y="509270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DejaVu Sans"/>
              </a:rPr>
              <a:t>Ordinary FP32 contraction mode is also available.</a:t>
            </a:r>
          </a:p>
        </p:txBody>
      </p:sp>
      <p:sp>
        <p:nvSpPr>
          <p:cNvPr id="25" name="Rounded Rectangle 24"/>
          <p:cNvSpPr/>
          <p:nvPr/>
        </p:nvSpPr>
        <p:spPr>
          <a:xfrm>
            <a:off x="698500" y="5448300"/>
            <a:ext cx="10795000" cy="704850"/>
          </a:xfrm>
          <a:prstGeom prst="roundRect">
            <a:avLst>
              <a:gd name="adj" fmla="val 18018"/>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0750" y="5607050"/>
            <a:ext cx="29337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F1CC83"/>
                </a:solidFill>
                <a:latin typeface="DejaVu Sans"/>
              </a:rPr>
              <a:t>SEPARATE FP16 STORAGE</a:t>
            </a:r>
          </a:p>
        </p:txBody>
      </p:sp>
      <p:sp>
        <p:nvSpPr>
          <p:cNvPr id="27" name="TextBox 26"/>
          <p:cNvSpPr txBox="1"/>
          <p:nvPr/>
        </p:nvSpPr>
        <p:spPr>
          <a:xfrm>
            <a:off x="920750" y="5873750"/>
            <a:ext cx="29337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Pointwise storage and conversion</a:t>
            </a:r>
          </a:p>
        </p:txBody>
      </p:sp>
      <p:sp>
        <p:nvSpPr>
          <p:cNvPr id="28" name="TextBox 27"/>
          <p:cNvSpPr txBox="1"/>
          <p:nvPr/>
        </p:nvSpPr>
        <p:spPr>
          <a:xfrm>
            <a:off x="4127500" y="5549900"/>
            <a:ext cx="7112000" cy="317500"/>
          </a:xfrm>
          <a:prstGeom prst="rect">
            <a:avLst/>
          </a:prstGeom>
          <a:noFill/>
        </p:spPr>
        <p:txBody>
          <a:bodyPr wrap="none" lIns="0" rIns="0" tIns="0" bIns="0" anchor="t">
            <a:noAutofit/>
          </a:bodyPr>
          <a:lstStyle/>
          <a:p>
            <a:pPr>
              <a:lnSpc>
                <a:spcPts val="2100"/>
              </a:lnSpc>
              <a:spcBef>
                <a:spcPts val="0"/>
              </a:spcBef>
              <a:spcAft>
                <a:spcPts val="0"/>
              </a:spcAft>
            </a:pPr>
            <a:r>
              <a:rPr b="0" sz="1750">
                <a:solidFill>
                  <a:srgbClr val="F1F5FA"/>
                </a:solidFill>
                <a:latin typeface="DejaVu Sans"/>
              </a:rPr>
              <a:t>FP16 → explicit FP32 arithmetic → FP16</a:t>
            </a:r>
          </a:p>
        </p:txBody>
      </p:sp>
      <p:sp>
        <p:nvSpPr>
          <p:cNvPr id="29" name="TextBox 28"/>
          <p:cNvSpPr txBox="1"/>
          <p:nvPr/>
        </p:nvSpPr>
        <p:spPr>
          <a:xfrm>
            <a:off x="4127500" y="5886450"/>
            <a:ext cx="71120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Exact widening · nearest-even narrowing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06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compiler/passes/regstage.py · compiler/codegen/tensor.py · compiler/codegen/lower.py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Feed tensor cores, then drain</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Packed register staging · Tensor fragment pipelining · Pipeline drain</a:t>
            </a:r>
          </a:p>
        </p:txBody>
      </p:sp>
      <p:sp>
        <p:nvSpPr>
          <p:cNvPr id="11" name="Rounded Rectangle 10"/>
          <p:cNvSpPr/>
          <p:nvPr/>
        </p:nvSpPr>
        <p:spPr>
          <a:xfrm>
            <a:off x="698500" y="2165350"/>
            <a:ext cx="10795000" cy="838200"/>
          </a:xfrm>
          <a:prstGeom prst="roundRect">
            <a:avLst>
              <a:gd name="adj" fmla="val 16666"/>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5350" y="2349500"/>
            <a:ext cx="2794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95B4FF"/>
                </a:solidFill>
                <a:latin typeface="DejaVu Sans"/>
              </a:rPr>
              <a:t>SCHEDULED / NONPACKED</a:t>
            </a:r>
          </a:p>
        </p:txBody>
      </p:sp>
      <p:sp>
        <p:nvSpPr>
          <p:cNvPr id="13" name="TextBox 12"/>
          <p:cNvSpPr txBox="1"/>
          <p:nvPr/>
        </p:nvSpPr>
        <p:spPr>
          <a:xfrm>
            <a:off x="3829050" y="2425700"/>
            <a:ext cx="7429500" cy="317500"/>
          </a:xfrm>
          <a:prstGeom prst="rect">
            <a:avLst/>
          </a:prstGeom>
          <a:noFill/>
        </p:spPr>
        <p:txBody>
          <a:bodyPr wrap="none" lIns="0" rIns="0" tIns="0" bIns="0" anchor="t">
            <a:noAutofit/>
          </a:bodyPr>
          <a:lstStyle/>
          <a:p>
            <a:pPr>
              <a:lnSpc>
                <a:spcPts val="2100"/>
              </a:lnSpc>
              <a:spcBef>
                <a:spcPts val="0"/>
              </a:spcBef>
              <a:spcAft>
                <a:spcPts val="0"/>
              </a:spcAft>
            </a:pPr>
            <a:r>
              <a:rPr b="0" sz="1750">
                <a:solidFill>
                  <a:srgbClr val="F1F5FA"/>
                </a:solidFill>
                <a:latin typeface="DejaVu Sans"/>
              </a:rPr>
              <a:t>FP32 cp.async ring → shared FP32 → convert → MMA</a:t>
            </a:r>
          </a:p>
        </p:txBody>
      </p:sp>
      <p:sp>
        <p:nvSpPr>
          <p:cNvPr id="14" name="Rounded Rectangle 13"/>
          <p:cNvSpPr/>
          <p:nvPr/>
        </p:nvSpPr>
        <p:spPr>
          <a:xfrm>
            <a:off x="698500" y="3270250"/>
            <a:ext cx="10795000" cy="1784350"/>
          </a:xfrm>
          <a:prstGeom prst="roundRect">
            <a:avLst>
              <a:gd name="adj" fmla="val 854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460750"/>
            <a:ext cx="1016000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5CE4BF"/>
                </a:solidFill>
                <a:latin typeface="DejaVu Sans"/>
              </a:rPr>
              <a:t>Certified packed BF16 path</a:t>
            </a:r>
          </a:p>
        </p:txBody>
      </p:sp>
      <p:sp>
        <p:nvSpPr>
          <p:cNvPr id="16" name="Rounded Rectangle 15"/>
          <p:cNvSpPr/>
          <p:nvPr/>
        </p:nvSpPr>
        <p:spPr>
          <a:xfrm>
            <a:off x="908050" y="3937000"/>
            <a:ext cx="1816100" cy="698500"/>
          </a:xfrm>
          <a:prstGeom prst="roundRect">
            <a:avLst>
              <a:gd name="adj" fmla="val 13636"/>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7750" y="4051300"/>
            <a:ext cx="1555750" cy="536956"/>
          </a:xfrm>
          <a:prstGeom prst="rect">
            <a:avLst/>
          </a:prstGeom>
          <a:noFill/>
        </p:spPr>
        <p:txBody>
          <a:bodyPr wrap="none" lIns="0" rIns="0" tIns="0" bIns="0" anchor="t">
            <a:noAutofit/>
          </a:bodyPr>
          <a:lstStyle/>
          <a:p>
            <a:pPr>
              <a:lnSpc>
                <a:spcPts val="1914"/>
              </a:lnSpc>
              <a:spcBef>
                <a:spcPts val="0"/>
              </a:spcBef>
              <a:spcAft>
                <a:spcPts val="0"/>
              </a:spcAft>
            </a:pPr>
            <a:r>
              <a:rPr b="0" sz="1450">
                <a:solidFill>
                  <a:srgbClr val="F1F5FA"/>
                </a:solidFill>
                <a:latin typeface="DejaVu Sans"/>
              </a:rPr>
              <a:t>Vector global</a:t>
            </a:r>
          </a:p>
          <a:p>
            <a:pPr>
              <a:lnSpc>
                <a:spcPts val="1914"/>
              </a:lnSpc>
              <a:spcBef>
                <a:spcPts val="0"/>
              </a:spcBef>
              <a:spcAft>
                <a:spcPts val="0"/>
              </a:spcAft>
            </a:pPr>
            <a:r>
              <a:rPr b="0" sz="1450">
                <a:solidFill>
                  <a:srgbClr val="F1F5FA"/>
                </a:solidFill>
                <a:latin typeface="DejaVu Sans"/>
              </a:rPr>
              <a:t>prefetch</a:t>
            </a:r>
          </a:p>
        </p:txBody>
      </p:sp>
      <p:cxnSp>
        <p:nvCxnSpPr>
          <p:cNvPr id="18" name="Connector 17"/>
          <p:cNvCxnSpPr/>
          <p:nvPr/>
        </p:nvCxnSpPr>
        <p:spPr>
          <a:xfrm>
            <a:off x="2787650" y="4279900"/>
            <a:ext cx="1651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82900" y="42164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882900" y="42799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028950" y="3937000"/>
            <a:ext cx="1816100" cy="698500"/>
          </a:xfrm>
          <a:prstGeom prst="roundRect">
            <a:avLst>
              <a:gd name="adj" fmla="val 13636"/>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8650" y="4051300"/>
            <a:ext cx="1555750" cy="536956"/>
          </a:xfrm>
          <a:prstGeom prst="rect">
            <a:avLst/>
          </a:prstGeom>
          <a:noFill/>
        </p:spPr>
        <p:txBody>
          <a:bodyPr wrap="none" lIns="0" rIns="0" tIns="0" bIns="0" anchor="t">
            <a:noAutofit/>
          </a:bodyPr>
          <a:lstStyle/>
          <a:p>
            <a:pPr>
              <a:lnSpc>
                <a:spcPts val="1914"/>
              </a:lnSpc>
              <a:spcBef>
                <a:spcPts val="0"/>
              </a:spcBef>
              <a:spcAft>
                <a:spcPts val="0"/>
              </a:spcAft>
            </a:pPr>
            <a:r>
              <a:rPr b="0" sz="1450">
                <a:solidFill>
                  <a:srgbClr val="F1F5FA"/>
                </a:solidFill>
                <a:latin typeface="DejaVu Sans"/>
              </a:rPr>
              <a:t>Pack high +</a:t>
            </a:r>
          </a:p>
          <a:p>
            <a:pPr>
              <a:lnSpc>
                <a:spcPts val="1914"/>
              </a:lnSpc>
              <a:spcBef>
                <a:spcPts val="0"/>
              </a:spcBef>
              <a:spcAft>
                <a:spcPts val="0"/>
              </a:spcAft>
            </a:pPr>
            <a:r>
              <a:rPr b="0" sz="1450">
                <a:solidFill>
                  <a:srgbClr val="F1F5FA"/>
                </a:solidFill>
                <a:latin typeface="DejaVu Sans"/>
              </a:rPr>
              <a:t>residual</a:t>
            </a:r>
          </a:p>
        </p:txBody>
      </p:sp>
      <p:cxnSp>
        <p:nvCxnSpPr>
          <p:cNvPr id="23" name="Connector 22"/>
          <p:cNvCxnSpPr/>
          <p:nvPr/>
        </p:nvCxnSpPr>
        <p:spPr>
          <a:xfrm>
            <a:off x="4908550" y="4279900"/>
            <a:ext cx="1651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003800" y="42164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003800" y="42799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149850" y="3937000"/>
            <a:ext cx="1816100" cy="698500"/>
          </a:xfrm>
          <a:prstGeom prst="roundRect">
            <a:avLst>
              <a:gd name="adj" fmla="val 13636"/>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89550" y="4051300"/>
            <a:ext cx="1555750" cy="536956"/>
          </a:xfrm>
          <a:prstGeom prst="rect">
            <a:avLst/>
          </a:prstGeom>
          <a:noFill/>
        </p:spPr>
        <p:txBody>
          <a:bodyPr wrap="none" lIns="0" rIns="0" tIns="0" bIns="0" anchor="t">
            <a:noAutofit/>
          </a:bodyPr>
          <a:lstStyle/>
          <a:p>
            <a:pPr>
              <a:lnSpc>
                <a:spcPts val="1914"/>
              </a:lnSpc>
              <a:spcBef>
                <a:spcPts val="0"/>
              </a:spcBef>
              <a:spcAft>
                <a:spcPts val="0"/>
              </a:spcAft>
            </a:pPr>
            <a:r>
              <a:rPr b="0" sz="1450">
                <a:solidFill>
                  <a:srgbClr val="F1F5FA"/>
                </a:solidFill>
                <a:latin typeface="DejaVu Sans"/>
              </a:rPr>
              <a:t>One used</a:t>
            </a:r>
          </a:p>
          <a:p>
            <a:pPr>
              <a:lnSpc>
                <a:spcPts val="1914"/>
              </a:lnSpc>
              <a:spcBef>
                <a:spcPts val="0"/>
              </a:spcBef>
              <a:spcAft>
                <a:spcPts val="0"/>
              </a:spcAft>
            </a:pPr>
            <a:r>
              <a:rPr b="0" sz="1450">
                <a:solidFill>
                  <a:srgbClr val="F1F5FA"/>
                </a:solidFill>
                <a:latin typeface="DejaVu Sans"/>
              </a:rPr>
              <a:t>shared stage</a:t>
            </a:r>
          </a:p>
        </p:txBody>
      </p:sp>
      <p:cxnSp>
        <p:nvCxnSpPr>
          <p:cNvPr id="28" name="Connector 27"/>
          <p:cNvCxnSpPr/>
          <p:nvPr/>
        </p:nvCxnSpPr>
        <p:spPr>
          <a:xfrm>
            <a:off x="7029450" y="4279900"/>
            <a:ext cx="1651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24700" y="42164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124700" y="42799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0750" y="3937000"/>
            <a:ext cx="1816100" cy="698500"/>
          </a:xfrm>
          <a:prstGeom prst="roundRect">
            <a:avLst>
              <a:gd name="adj" fmla="val 13636"/>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10450" y="4051300"/>
            <a:ext cx="1555750" cy="536956"/>
          </a:xfrm>
          <a:prstGeom prst="rect">
            <a:avLst/>
          </a:prstGeom>
          <a:noFill/>
        </p:spPr>
        <p:txBody>
          <a:bodyPr wrap="none" lIns="0" rIns="0" tIns="0" bIns="0" anchor="t">
            <a:noAutofit/>
          </a:bodyPr>
          <a:lstStyle/>
          <a:p>
            <a:pPr>
              <a:lnSpc>
                <a:spcPts val="1914"/>
              </a:lnSpc>
              <a:spcBef>
                <a:spcPts val="0"/>
              </a:spcBef>
              <a:spcAft>
                <a:spcPts val="0"/>
              </a:spcAft>
            </a:pPr>
            <a:r>
              <a:rPr b="0" sz="1450">
                <a:solidFill>
                  <a:srgbClr val="F1F5FA"/>
                </a:solidFill>
                <a:latin typeface="DejaVu Sans"/>
              </a:rPr>
              <a:t>Load next</a:t>
            </a:r>
          </a:p>
          <a:p>
            <a:pPr>
              <a:lnSpc>
                <a:spcPts val="1914"/>
              </a:lnSpc>
              <a:spcBef>
                <a:spcPts val="0"/>
              </a:spcBef>
              <a:spcAft>
                <a:spcPts val="0"/>
              </a:spcAft>
            </a:pPr>
            <a:r>
              <a:rPr b="0" sz="1450">
                <a:solidFill>
                  <a:srgbClr val="F1F5FA"/>
                </a:solidFill>
                <a:latin typeface="DejaVu Sans"/>
              </a:rPr>
              <a:t>fragment</a:t>
            </a:r>
          </a:p>
        </p:txBody>
      </p:sp>
      <p:cxnSp>
        <p:nvCxnSpPr>
          <p:cNvPr id="33" name="Connector 32"/>
          <p:cNvCxnSpPr/>
          <p:nvPr/>
        </p:nvCxnSpPr>
        <p:spPr>
          <a:xfrm>
            <a:off x="9150350" y="4279900"/>
            <a:ext cx="1651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45600" y="42164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245600" y="427990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391650" y="3937000"/>
            <a:ext cx="1816100" cy="698500"/>
          </a:xfrm>
          <a:prstGeom prst="roundRect">
            <a:avLst>
              <a:gd name="adj" fmla="val 13636"/>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31350" y="4051300"/>
            <a:ext cx="1555750" cy="536956"/>
          </a:xfrm>
          <a:prstGeom prst="rect">
            <a:avLst/>
          </a:prstGeom>
          <a:noFill/>
        </p:spPr>
        <p:txBody>
          <a:bodyPr wrap="none" lIns="0" rIns="0" tIns="0" bIns="0" anchor="t">
            <a:noAutofit/>
          </a:bodyPr>
          <a:lstStyle/>
          <a:p>
            <a:pPr>
              <a:lnSpc>
                <a:spcPts val="1914"/>
              </a:lnSpc>
              <a:spcBef>
                <a:spcPts val="0"/>
              </a:spcBef>
              <a:spcAft>
                <a:spcPts val="0"/>
              </a:spcAft>
            </a:pPr>
            <a:r>
              <a:rPr b="0" sz="1450">
                <a:solidFill>
                  <a:srgbClr val="F1F5FA"/>
                </a:solidFill>
                <a:latin typeface="DejaVu Sans"/>
              </a:rPr>
              <a:t>Current</a:t>
            </a:r>
          </a:p>
          <a:p>
            <a:pPr>
              <a:lnSpc>
                <a:spcPts val="1914"/>
              </a:lnSpc>
              <a:spcBef>
                <a:spcPts val="0"/>
              </a:spcBef>
              <a:spcAft>
                <a:spcPts val="0"/>
              </a:spcAft>
            </a:pPr>
            <a:r>
              <a:rPr b="0" sz="1450">
                <a:solidFill>
                  <a:srgbClr val="F1F5FA"/>
                </a:solidFill>
                <a:latin typeface="DejaVu Sans"/>
              </a:rPr>
              <a:t>MMA</a:t>
            </a:r>
          </a:p>
        </p:txBody>
      </p:sp>
      <p:sp>
        <p:nvSpPr>
          <p:cNvPr id="38" name="TextBox 37"/>
          <p:cNvSpPr txBox="1"/>
          <p:nvPr/>
        </p:nvSpPr>
        <p:spPr>
          <a:xfrm>
            <a:off x="920750" y="4768850"/>
            <a:ext cx="10096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Tile dataflow with global and fragment lookahead.</a:t>
            </a:r>
          </a:p>
        </p:txBody>
      </p:sp>
      <p:sp>
        <p:nvSpPr>
          <p:cNvPr id="39" name="TextBox 38"/>
          <p:cNvSpPr txBox="1"/>
          <p:nvPr/>
        </p:nvSpPr>
        <p:spPr>
          <a:xfrm>
            <a:off x="723900" y="5308600"/>
            <a:ext cx="107315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DejaVu Sans"/>
              </a:rPr>
              <a:t>Innovation: certify the exact copy phase and the packed producer / consumer layout.</a:t>
            </a:r>
          </a:p>
        </p:txBody>
      </p:sp>
      <p:sp>
        <p:nvSpPr>
          <p:cNvPr id="40" name="TextBox 39"/>
          <p:cNvSpPr txBox="1"/>
          <p:nvPr/>
        </p:nvSpPr>
        <p:spPr>
          <a:xfrm>
            <a:off x="723900" y="567055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Final tile: omit unused prefetch + consumer barrier; keep producer writes and their barrier.</a:t>
            </a:r>
          </a:p>
        </p:txBody>
      </p:sp>
      <p:sp>
        <p:nvSpPr>
          <p:cNvPr id="41" name="TextBox 40"/>
          <p:cNvSpPr txBox="1"/>
          <p:nvPr/>
        </p:nvSpPr>
        <p:spPr>
          <a:xfrm>
            <a:off x="723900" y="6032500"/>
            <a:ext cx="10731500" cy="241300"/>
          </a:xfrm>
          <a:prstGeom prst="rect">
            <a:avLst/>
          </a:prstGeom>
          <a:noFill/>
        </p:spPr>
        <p:txBody>
          <a:bodyPr wrap="none" lIns="0" rIns="0" tIns="0" bIns="0" anchor="t">
            <a:noAutofit/>
          </a:bodyPr>
          <a:lstStyle/>
          <a:p>
            <a:pPr>
              <a:lnSpc>
                <a:spcPts val="1500"/>
              </a:lnSpc>
              <a:spcBef>
                <a:spcPts val="0"/>
              </a:spcBef>
              <a:spcAft>
                <a:spcPts val="0"/>
              </a:spcAft>
            </a:pPr>
            <a:r>
              <a:rPr b="0" sz="1250">
                <a:solidFill>
                  <a:srgbClr val="A7B8CF"/>
                </a:solidFill>
                <a:latin typeface="DejaVu Sans"/>
              </a:rPr>
              <a:t>Eligible FP32 / TF32x3 paths retain 4 / 8 / 16-byte cp.async groups.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07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compiler/passes/recurrence.py · compiler/passes/lifetime.py</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Stage the attention recurrence</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Staged online recurrence · Blocked recurrence loads · Recurrence shared-storage reuse</a:t>
            </a:r>
          </a:p>
        </p:txBody>
      </p:sp>
      <p:sp>
        <p:nvSpPr>
          <p:cNvPr id="11" name="Rounded Rectangle 10"/>
          <p:cNvSpPr/>
          <p:nvPr/>
        </p:nvSpPr>
        <p:spPr>
          <a:xfrm>
            <a:off x="698500" y="2159000"/>
            <a:ext cx="10795000" cy="698500"/>
          </a:xfrm>
          <a:prstGeom prst="roundRect">
            <a:avLst>
              <a:gd name="adj" fmla="val 1818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8050" y="2336800"/>
            <a:ext cx="111125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A7B8CF"/>
                </a:solidFill>
                <a:latin typeface="DejaVu Sans"/>
              </a:rPr>
              <a:t>BEFORE</a:t>
            </a:r>
          </a:p>
        </p:txBody>
      </p:sp>
      <p:sp>
        <p:nvSpPr>
          <p:cNvPr id="13" name="TextBox 12"/>
          <p:cNvSpPr txBox="1"/>
          <p:nvPr/>
        </p:nvSpPr>
        <p:spPr>
          <a:xfrm>
            <a:off x="2235200" y="2355850"/>
            <a:ext cx="889000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F1F5FA"/>
                </a:solidFill>
                <a:latin typeface="DejaVu Sans"/>
              </a:rPr>
              <a:t>Output columns repeat score and online max / mass / value work</a:t>
            </a:r>
          </a:p>
        </p:txBody>
      </p:sp>
      <p:sp>
        <p:nvSpPr>
          <p:cNvPr id="14" name="Rounded Rectangle 13"/>
          <p:cNvSpPr/>
          <p:nvPr/>
        </p:nvSpPr>
        <p:spPr>
          <a:xfrm>
            <a:off x="698500" y="3238500"/>
            <a:ext cx="2349500" cy="1028700"/>
          </a:xfrm>
          <a:prstGeom prst="roundRect">
            <a:avLst>
              <a:gd name="adj" fmla="val 1358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9950" y="3429000"/>
            <a:ext cx="20066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5CE4BF"/>
                </a:solidFill>
                <a:latin typeface="DejaVu Sans"/>
              </a:rPr>
              <a:t>Scores once</a:t>
            </a:r>
          </a:p>
        </p:txBody>
      </p:sp>
      <p:sp>
        <p:nvSpPr>
          <p:cNvPr id="16" name="TextBox 15"/>
          <p:cNvSpPr txBox="1"/>
          <p:nvPr/>
        </p:nvSpPr>
        <p:spPr>
          <a:xfrm>
            <a:off x="869950" y="3841750"/>
            <a:ext cx="20066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per sharing group</a:t>
            </a:r>
          </a:p>
        </p:txBody>
      </p:sp>
      <p:cxnSp>
        <p:nvCxnSpPr>
          <p:cNvPr id="17" name="Connector 16"/>
          <p:cNvCxnSpPr/>
          <p:nvPr/>
        </p:nvCxnSpPr>
        <p:spPr>
          <a:xfrm>
            <a:off x="3149600" y="3752850"/>
            <a:ext cx="17145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251200" y="36893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251200" y="37528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429000" y="3238500"/>
            <a:ext cx="2349500" cy="1028700"/>
          </a:xfrm>
          <a:prstGeom prst="roundRect">
            <a:avLst>
              <a:gd name="adj" fmla="val 1358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00450" y="3429000"/>
            <a:ext cx="20066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5CE4BF"/>
                </a:solidFill>
                <a:latin typeface="DejaVu Sans"/>
              </a:rPr>
              <a:t>Maximum</a:t>
            </a:r>
          </a:p>
        </p:txBody>
      </p:sp>
      <p:sp>
        <p:nvSpPr>
          <p:cNvPr id="22" name="TextBox 21"/>
          <p:cNvSpPr txBox="1"/>
          <p:nvPr/>
        </p:nvSpPr>
        <p:spPr>
          <a:xfrm>
            <a:off x="3600450" y="3841750"/>
            <a:ext cx="20066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across the keys</a:t>
            </a:r>
          </a:p>
        </p:txBody>
      </p:sp>
      <p:cxnSp>
        <p:nvCxnSpPr>
          <p:cNvPr id="23" name="Connector 22"/>
          <p:cNvCxnSpPr/>
          <p:nvPr/>
        </p:nvCxnSpPr>
        <p:spPr>
          <a:xfrm>
            <a:off x="5880100" y="3752850"/>
            <a:ext cx="17145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1700" y="36893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981700" y="37528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159500" y="3238500"/>
            <a:ext cx="2349500" cy="1028700"/>
          </a:xfrm>
          <a:prstGeom prst="roundRect">
            <a:avLst>
              <a:gd name="adj" fmla="val 1358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30950" y="3429000"/>
            <a:ext cx="20066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5CE4BF"/>
                </a:solidFill>
                <a:latin typeface="DejaVu Sans"/>
              </a:rPr>
              <a:t>Weights</a:t>
            </a:r>
          </a:p>
        </p:txBody>
      </p:sp>
      <p:sp>
        <p:nvSpPr>
          <p:cNvPr id="28" name="TextBox 27"/>
          <p:cNvSpPr txBox="1"/>
          <p:nvPr/>
        </p:nvSpPr>
        <p:spPr>
          <a:xfrm>
            <a:off x="6330950" y="3841750"/>
            <a:ext cx="20066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exp(score − max)</a:t>
            </a:r>
          </a:p>
        </p:txBody>
      </p:sp>
      <p:cxnSp>
        <p:nvCxnSpPr>
          <p:cNvPr id="29" name="Connector 28"/>
          <p:cNvCxnSpPr/>
          <p:nvPr/>
        </p:nvCxnSpPr>
        <p:spPr>
          <a:xfrm>
            <a:off x="8559800" y="3752850"/>
            <a:ext cx="2667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826500" y="3454400"/>
            <a:ext cx="0" cy="67945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26500" y="3473450"/>
            <a:ext cx="1651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921750" y="34099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921750" y="34734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0500" y="3200400"/>
            <a:ext cx="2413000" cy="558800"/>
          </a:xfrm>
          <a:prstGeom prst="roundRect">
            <a:avLst>
              <a:gd name="adj" fmla="val 19318"/>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07500" y="3359150"/>
            <a:ext cx="2171700" cy="256540"/>
          </a:xfrm>
          <a:prstGeom prst="rect">
            <a:avLst/>
          </a:prstGeom>
          <a:noFill/>
        </p:spPr>
        <p:txBody>
          <a:bodyPr wrap="none" lIns="0" rIns="0" tIns="0" bIns="0" anchor="t">
            <a:noAutofit/>
          </a:bodyPr>
          <a:lstStyle/>
          <a:p>
            <a:pPr>
              <a:lnSpc>
                <a:spcPts val="1620"/>
              </a:lnSpc>
              <a:spcBef>
                <a:spcPts val="0"/>
              </a:spcBef>
              <a:spcAft>
                <a:spcPts val="0"/>
              </a:spcAft>
            </a:pPr>
            <a:r>
              <a:rPr b="1" sz="1350">
                <a:solidFill>
                  <a:srgbClr val="5CE4BF"/>
                </a:solidFill>
                <a:latin typeface="DejaVu Sans"/>
              </a:rPr>
              <a:t>Register mass</a:t>
            </a:r>
          </a:p>
        </p:txBody>
      </p:sp>
      <p:cxnSp>
        <p:nvCxnSpPr>
          <p:cNvPr id="36" name="Connector 35"/>
          <p:cNvCxnSpPr/>
          <p:nvPr/>
        </p:nvCxnSpPr>
        <p:spPr>
          <a:xfrm>
            <a:off x="8826500" y="4152900"/>
            <a:ext cx="165100" cy="0"/>
          </a:xfrm>
          <a:prstGeom prst="line">
            <a:avLst/>
          </a:prstGeom>
          <a:ln w="25400">
            <a:solidFill>
              <a:srgbClr val="95B4FF"/>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921750" y="4089400"/>
            <a:ext cx="69850" cy="63500"/>
          </a:xfrm>
          <a:prstGeom prst="line">
            <a:avLst/>
          </a:prstGeom>
          <a:ln w="25400">
            <a:solidFill>
              <a:srgbClr val="95B4F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921750" y="4152900"/>
            <a:ext cx="69850" cy="63500"/>
          </a:xfrm>
          <a:prstGeom prst="line">
            <a:avLst/>
          </a:prstGeom>
          <a:ln w="25400">
            <a:solidFill>
              <a:srgbClr val="95B4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080500" y="3879850"/>
            <a:ext cx="2413000" cy="558800"/>
          </a:xfrm>
          <a:prstGeom prst="roundRect">
            <a:avLst>
              <a:gd name="adj" fmla="val 19318"/>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07500" y="4038600"/>
            <a:ext cx="2171700" cy="256540"/>
          </a:xfrm>
          <a:prstGeom prst="rect">
            <a:avLst/>
          </a:prstGeom>
          <a:noFill/>
        </p:spPr>
        <p:txBody>
          <a:bodyPr wrap="none" lIns="0" rIns="0" tIns="0" bIns="0" anchor="t">
            <a:noAutofit/>
          </a:bodyPr>
          <a:lstStyle/>
          <a:p>
            <a:pPr>
              <a:lnSpc>
                <a:spcPts val="1620"/>
              </a:lnSpc>
              <a:spcBef>
                <a:spcPts val="0"/>
              </a:spcBef>
              <a:spcAft>
                <a:spcPts val="0"/>
              </a:spcAft>
            </a:pPr>
            <a:r>
              <a:rPr b="1" sz="1350">
                <a:solidFill>
                  <a:srgbClr val="95B4FF"/>
                </a:solidFill>
                <a:latin typeface="DejaVu Sans"/>
              </a:rPr>
              <a:t>Shared weights → PV</a:t>
            </a:r>
          </a:p>
        </p:txBody>
      </p:sp>
      <p:sp>
        <p:nvSpPr>
          <p:cNvPr id="41" name="TextBox 40"/>
          <p:cNvSpPr txBox="1"/>
          <p:nvPr/>
        </p:nvSpPr>
        <p:spPr>
          <a:xfrm>
            <a:off x="723900" y="4470400"/>
            <a:ext cx="10731500" cy="241300"/>
          </a:xfrm>
          <a:prstGeom prst="rect">
            <a:avLst/>
          </a:prstGeom>
          <a:noFill/>
        </p:spPr>
        <p:txBody>
          <a:bodyPr wrap="none" lIns="0" rIns="0" tIns="0" bIns="0" anchor="t">
            <a:noAutofit/>
          </a:bodyPr>
          <a:lstStyle/>
          <a:p>
            <a:pPr>
              <a:lnSpc>
                <a:spcPts val="1500"/>
              </a:lnSpc>
              <a:spcBef>
                <a:spcPts val="0"/>
              </a:spcBef>
              <a:spcAft>
                <a:spcPts val="0"/>
              </a:spcAft>
            </a:pPr>
            <a:r>
              <a:rPr b="0" sz="1250">
                <a:solidFill>
                  <a:srgbClr val="A7B8CF"/>
                </a:solidFill>
                <a:latin typeface="DejaVu Sans"/>
              </a:rPr>
              <a:t>Unnormalized weights; normalization stays in the output suffix.</a:t>
            </a:r>
          </a:p>
        </p:txBody>
      </p:sp>
      <p:sp>
        <p:nvSpPr>
          <p:cNvPr id="42" name="Rounded Rectangle 41"/>
          <p:cNvSpPr/>
          <p:nvPr/>
        </p:nvSpPr>
        <p:spPr>
          <a:xfrm>
            <a:off x="698500" y="4870450"/>
            <a:ext cx="5143500" cy="1143000"/>
          </a:xfrm>
          <a:prstGeom prst="roundRect">
            <a:avLst>
              <a:gd name="adj" fmla="val 1111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9000" y="5016500"/>
            <a:ext cx="47625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95B4FF"/>
                </a:solidFill>
                <a:latin typeface="DejaVu Sans"/>
              </a:rPr>
              <a:t>Blocked recurrence loads</a:t>
            </a:r>
          </a:p>
        </p:txBody>
      </p:sp>
      <p:sp>
        <p:nvSpPr>
          <p:cNvPr id="44" name="TextBox 43"/>
          <p:cNvSpPr txBox="1"/>
          <p:nvPr/>
        </p:nvSpPr>
        <p:spPr>
          <a:xfrm>
            <a:off x="889000" y="5410200"/>
            <a:ext cx="4762500" cy="530860"/>
          </a:xfrm>
          <a:prstGeom prst="rect">
            <a:avLst/>
          </a:prstGeom>
          <a:noFill/>
        </p:spPr>
        <p:txBody>
          <a:bodyPr wrap="none" lIns="0" rIns="0" tIns="0" bIns="0" anchor="t">
            <a:noAutofit/>
          </a:bodyPr>
          <a:lstStyle/>
          <a:p>
            <a:pPr>
              <a:lnSpc>
                <a:spcPts val="1890"/>
              </a:lnSpc>
              <a:spcBef>
                <a:spcPts val="0"/>
              </a:spcBef>
              <a:spcAft>
                <a:spcPts val="0"/>
              </a:spcAft>
            </a:pPr>
            <a:r>
              <a:rPr b="0" sz="1400">
                <a:solidFill>
                  <a:srgbClr val="F1F5FA"/>
                </a:solidFill>
                <a:latin typeface="DejaVu Sans"/>
              </a:rPr>
              <a:t>2 / 4 adjacent keys per lane</a:t>
            </a:r>
          </a:p>
          <a:p>
            <a:pPr>
              <a:lnSpc>
                <a:spcPts val="1890"/>
              </a:lnSpc>
              <a:spcBef>
                <a:spcPts val="0"/>
              </a:spcBef>
              <a:spcAft>
                <a:spcPts val="0"/>
              </a:spcAft>
            </a:pPr>
            <a:r>
              <a:rPr b="0" sz="1400">
                <a:solidFill>
                  <a:srgbClr val="F1F5FA"/>
                </a:solidFill>
                <a:latin typeface="DejaVu Sans"/>
              </a:rPr>
              <a:t>Vector loads and hoisted addresses</a:t>
            </a:r>
          </a:p>
        </p:txBody>
      </p:sp>
      <p:sp>
        <p:nvSpPr>
          <p:cNvPr id="45" name="Rounded Rectangle 44"/>
          <p:cNvSpPr/>
          <p:nvPr/>
        </p:nvSpPr>
        <p:spPr>
          <a:xfrm>
            <a:off x="6350000" y="4870450"/>
            <a:ext cx="5143500" cy="1143000"/>
          </a:xfrm>
          <a:prstGeom prst="roundRect">
            <a:avLst>
              <a:gd name="adj" fmla="val 1111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40500" y="5016500"/>
            <a:ext cx="47625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CC83"/>
                </a:solidFill>
                <a:latin typeface="DejaVu Sans"/>
              </a:rPr>
              <a:t>Recurrence shared-storage reuse</a:t>
            </a:r>
          </a:p>
        </p:txBody>
      </p:sp>
      <p:sp>
        <p:nvSpPr>
          <p:cNvPr id="47" name="TextBox 46"/>
          <p:cNvSpPr txBox="1"/>
          <p:nvPr/>
        </p:nvSpPr>
        <p:spPr>
          <a:xfrm>
            <a:off x="6540500" y="5410200"/>
            <a:ext cx="4762500" cy="530860"/>
          </a:xfrm>
          <a:prstGeom prst="rect">
            <a:avLst/>
          </a:prstGeom>
          <a:noFill/>
        </p:spPr>
        <p:txBody>
          <a:bodyPr wrap="none" lIns="0" rIns="0" tIns="0" bIns="0" anchor="t">
            <a:noAutofit/>
          </a:bodyPr>
          <a:lstStyle/>
          <a:p>
            <a:pPr>
              <a:lnSpc>
                <a:spcPts val="1890"/>
              </a:lnSpc>
              <a:spcBef>
                <a:spcPts val="0"/>
              </a:spcBef>
              <a:spcAft>
                <a:spcPts val="0"/>
              </a:spcAft>
            </a:pPr>
            <a:r>
              <a:rPr b="0" sz="1400">
                <a:solidFill>
                  <a:srgbClr val="F1F5FA"/>
                </a:solidFill>
                <a:latin typeface="DejaVu Sans"/>
              </a:rPr>
              <a:t>Same warp + same component</a:t>
            </a:r>
          </a:p>
          <a:p>
            <a:pPr>
              <a:lnSpc>
                <a:spcPts val="1890"/>
              </a:lnSpc>
              <a:spcBef>
                <a:spcPts val="0"/>
              </a:spcBef>
              <a:spcAft>
                <a:spcPts val="0"/>
              </a:spcAft>
            </a:pPr>
            <a:r>
              <a:rPr b="0" sz="1400">
                <a:solidFill>
                  <a:srgbClr val="F1F5FA"/>
                </a:solidFill>
                <a:latin typeface="DejaVu Sans"/>
              </a:rPr>
              <a:t>Read → maximum → overwrite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08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compiler/passes/recurrence.py · _grouped_value_axis · grouped_values</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Redistribute probability–value work</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Pass: Warp-distributed vector PV reduction</a:t>
            </a:r>
          </a:p>
        </p:txBody>
      </p:sp>
      <p:sp>
        <p:nvSpPr>
          <p:cNvPr id="11" name="Rounded Rectangle 10"/>
          <p:cNvSpPr/>
          <p:nvPr/>
        </p:nvSpPr>
        <p:spPr>
          <a:xfrm>
            <a:off x="698500" y="2165350"/>
            <a:ext cx="4127500" cy="3454400"/>
          </a:xfrm>
          <a:prstGeom prst="roundRect">
            <a:avLst>
              <a:gd name="adj" fmla="val 441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0750" y="2400300"/>
            <a:ext cx="3619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A7B8CF"/>
                </a:solidFill>
                <a:latin typeface="DejaVu Sans"/>
              </a:rPr>
              <a:t>BEFORE</a:t>
            </a:r>
          </a:p>
        </p:txBody>
      </p:sp>
      <p:sp>
        <p:nvSpPr>
          <p:cNvPr id="13" name="TextBox 12"/>
          <p:cNvSpPr txBox="1"/>
          <p:nvPr/>
        </p:nvSpPr>
        <p:spPr>
          <a:xfrm>
            <a:off x="920750" y="2806700"/>
            <a:ext cx="3619500" cy="614680"/>
          </a:xfrm>
          <a:prstGeom prst="rect">
            <a:avLst/>
          </a:prstGeom>
          <a:noFill/>
        </p:spPr>
        <p:txBody>
          <a:bodyPr wrap="none" lIns="0" rIns="0" tIns="0" bIns="0" anchor="t">
            <a:noAutofit/>
          </a:bodyPr>
          <a:lstStyle/>
          <a:p>
            <a:pPr>
              <a:lnSpc>
                <a:spcPts val="4440"/>
              </a:lnSpc>
              <a:spcBef>
                <a:spcPts val="0"/>
              </a:spcBef>
              <a:spcAft>
                <a:spcPts val="0"/>
              </a:spcAft>
            </a:pPr>
            <a:r>
              <a:rPr b="1" sz="3700">
                <a:solidFill>
                  <a:srgbClr val="5CE4BF"/>
                </a:solidFill>
                <a:latin typeface="DejaVu Sans"/>
              </a:rPr>
              <a:t>1 lane</a:t>
            </a:r>
          </a:p>
        </p:txBody>
      </p:sp>
      <p:sp>
        <p:nvSpPr>
          <p:cNvPr id="14" name="TextBox 13"/>
          <p:cNvSpPr txBox="1"/>
          <p:nvPr/>
        </p:nvSpPr>
        <p:spPr>
          <a:xfrm>
            <a:off x="920750" y="3505200"/>
            <a:ext cx="3619500" cy="347980"/>
          </a:xfrm>
          <a:prstGeom prst="rect">
            <a:avLst/>
          </a:prstGeom>
          <a:noFill/>
        </p:spPr>
        <p:txBody>
          <a:bodyPr wrap="none" lIns="0" rIns="0" tIns="0" bIns="0" anchor="t">
            <a:noAutofit/>
          </a:bodyPr>
          <a:lstStyle/>
          <a:p>
            <a:pPr>
              <a:lnSpc>
                <a:spcPts val="2340"/>
              </a:lnSpc>
              <a:spcBef>
                <a:spcPts val="0"/>
              </a:spcBef>
              <a:spcAft>
                <a:spcPts val="0"/>
              </a:spcAft>
            </a:pPr>
            <a:r>
              <a:rPr b="0" sz="1950">
                <a:solidFill>
                  <a:srgbClr val="F1F5FA"/>
                </a:solidFill>
                <a:latin typeface="DejaVu Sans"/>
              </a:rPr>
              <a:t>1 column × every key</a:t>
            </a:r>
          </a:p>
        </p:txBody>
      </p:sp>
      <p:sp>
        <p:nvSpPr>
          <p:cNvPr id="15" name="TextBox 14"/>
          <p:cNvSpPr txBox="1"/>
          <p:nvPr/>
        </p:nvSpPr>
        <p:spPr>
          <a:xfrm>
            <a:off x="920750" y="4044950"/>
            <a:ext cx="3619500" cy="309880"/>
          </a:xfrm>
          <a:prstGeom prst="rect">
            <a:avLst/>
          </a:prstGeom>
          <a:noFill/>
        </p:spPr>
        <p:txBody>
          <a:bodyPr wrap="none" lIns="0" rIns="0" tIns="0" bIns="0" anchor="t">
            <a:noAutofit/>
          </a:bodyPr>
          <a:lstStyle/>
          <a:p>
            <a:pPr>
              <a:lnSpc>
                <a:spcPts val="2039"/>
              </a:lnSpc>
              <a:spcBef>
                <a:spcPts val="0"/>
              </a:spcBef>
              <a:spcAft>
                <a:spcPts val="0"/>
              </a:spcAft>
            </a:pPr>
            <a:r>
              <a:rPr b="0" sz="1700">
                <a:solidFill>
                  <a:srgbClr val="A7B8CF"/>
                </a:solidFill>
                <a:latin typeface="Liberation Mono"/>
              </a:rPr>
              <a:t>sum_k p[k] * V[k,c]</a:t>
            </a:r>
          </a:p>
        </p:txBody>
      </p:sp>
      <p:sp>
        <p:nvSpPr>
          <p:cNvPr id="16" name="TextBox 15"/>
          <p:cNvSpPr txBox="1"/>
          <p:nvPr/>
        </p:nvSpPr>
        <p:spPr>
          <a:xfrm>
            <a:off x="920750" y="4787900"/>
            <a:ext cx="3619500" cy="566420"/>
          </a:xfrm>
          <a:prstGeom prst="rect">
            <a:avLst/>
          </a:prstGeom>
          <a:noFill/>
        </p:spPr>
        <p:txBody>
          <a:bodyPr wrap="none" lIns="0" rIns="0" tIns="0" bIns="0" anchor="t">
            <a:noAutofit/>
          </a:bodyPr>
          <a:lstStyle/>
          <a:p>
            <a:pPr>
              <a:lnSpc>
                <a:spcPts val="2030"/>
              </a:lnSpc>
              <a:spcBef>
                <a:spcPts val="0"/>
              </a:spcBef>
              <a:spcAft>
                <a:spcPts val="0"/>
              </a:spcAft>
            </a:pPr>
            <a:r>
              <a:rPr b="0" sz="1400">
                <a:solidFill>
                  <a:srgbClr val="A7B8CF"/>
                </a:solidFill>
                <a:latin typeface="DejaVu Sans"/>
              </a:rPr>
              <a:t>Guard: 1 warp · 32 columns</a:t>
            </a:r>
          </a:p>
          <a:p>
            <a:pPr>
              <a:lnSpc>
                <a:spcPts val="2030"/>
              </a:lnSpc>
              <a:spcBef>
                <a:spcPts val="0"/>
              </a:spcBef>
              <a:spcAft>
                <a:spcPts val="0"/>
              </a:spcAft>
            </a:pPr>
            <a:r>
              <a:rPr b="0" sz="1400">
                <a:solidFill>
                  <a:srgbClr val="A7B8CF"/>
                </a:solidFill>
                <a:latin typeface="DejaVu Sans"/>
              </a:rPr>
              <a:t>Aligned loads + closed suffix</a:t>
            </a:r>
          </a:p>
        </p:txBody>
      </p:sp>
      <p:sp>
        <p:nvSpPr>
          <p:cNvPr id="17" name="Rounded Rectangle 16"/>
          <p:cNvSpPr/>
          <p:nvPr/>
        </p:nvSpPr>
        <p:spPr>
          <a:xfrm>
            <a:off x="5207000" y="2165350"/>
            <a:ext cx="6286500" cy="3454400"/>
          </a:xfrm>
          <a:prstGeom prst="roundRect">
            <a:avLst>
              <a:gd name="adj" fmla="val 441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16550" y="2400300"/>
            <a:ext cx="5873750" cy="309880"/>
          </a:xfrm>
          <a:prstGeom prst="rect">
            <a:avLst/>
          </a:prstGeom>
          <a:noFill/>
        </p:spPr>
        <p:txBody>
          <a:bodyPr wrap="none" lIns="0" rIns="0" tIns="0" bIns="0" anchor="t">
            <a:noAutofit/>
          </a:bodyPr>
          <a:lstStyle/>
          <a:p>
            <a:pPr>
              <a:lnSpc>
                <a:spcPts val="2039"/>
              </a:lnSpc>
              <a:spcBef>
                <a:spcPts val="0"/>
              </a:spcBef>
              <a:spcAft>
                <a:spcPts val="0"/>
              </a:spcAft>
            </a:pPr>
            <a:r>
              <a:rPr b="1" sz="1700">
                <a:solidFill>
                  <a:srgbClr val="F1F5FA"/>
                </a:solidFill>
                <a:latin typeface="DejaVu Sans"/>
              </a:rPr>
              <a:t>AFTER · 4 groups × 8 lanes</a:t>
            </a:r>
          </a:p>
        </p:txBody>
      </p:sp>
      <p:sp>
        <p:nvSpPr>
          <p:cNvPr id="19" name="TextBox 18"/>
          <p:cNvSpPr txBox="1"/>
          <p:nvPr/>
        </p:nvSpPr>
        <p:spPr>
          <a:xfrm>
            <a:off x="6337300" y="2774950"/>
            <a:ext cx="4762500" cy="241300"/>
          </a:xfrm>
          <a:prstGeom prst="rect">
            <a:avLst/>
          </a:prstGeom>
          <a:noFill/>
        </p:spPr>
        <p:txBody>
          <a:bodyPr wrap="none" lIns="0" rIns="0" tIns="0" bIns="0" anchor="t">
            <a:noAutofit/>
          </a:bodyPr>
          <a:lstStyle/>
          <a:p>
            <a:pPr>
              <a:lnSpc>
                <a:spcPts val="1500"/>
              </a:lnSpc>
              <a:spcBef>
                <a:spcPts val="0"/>
              </a:spcBef>
              <a:spcAft>
                <a:spcPts val="0"/>
              </a:spcAft>
            </a:pPr>
            <a:r>
              <a:rPr b="0" sz="1250">
                <a:solidFill>
                  <a:srgbClr val="A7B8CF"/>
                </a:solidFill>
                <a:latin typeface="DejaVu Sans"/>
              </a:rPr>
              <a:t>Four adjacent columns per lane</a:t>
            </a:r>
          </a:p>
        </p:txBody>
      </p:sp>
      <p:sp>
        <p:nvSpPr>
          <p:cNvPr id="20" name="TextBox 19"/>
          <p:cNvSpPr txBox="1"/>
          <p:nvPr/>
        </p:nvSpPr>
        <p:spPr>
          <a:xfrm>
            <a:off x="5416550" y="3194050"/>
            <a:ext cx="9017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DejaVu Sans"/>
              </a:rPr>
              <a:t>Shard 0</a:t>
            </a:r>
          </a:p>
        </p:txBody>
      </p:sp>
      <p:sp>
        <p:nvSpPr>
          <p:cNvPr id="21" name="Rounded Rectangle 20"/>
          <p:cNvSpPr/>
          <p:nvPr/>
        </p:nvSpPr>
        <p:spPr>
          <a:xfrm>
            <a:off x="63627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0–3</a:t>
            </a:r>
          </a:p>
        </p:txBody>
      </p:sp>
      <p:sp>
        <p:nvSpPr>
          <p:cNvPr id="23" name="Rounded Rectangle 22"/>
          <p:cNvSpPr/>
          <p:nvPr/>
        </p:nvSpPr>
        <p:spPr>
          <a:xfrm>
            <a:off x="69596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1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4–7</a:t>
            </a:r>
          </a:p>
        </p:txBody>
      </p:sp>
      <p:sp>
        <p:nvSpPr>
          <p:cNvPr id="25" name="Rounded Rectangle 24"/>
          <p:cNvSpPr/>
          <p:nvPr/>
        </p:nvSpPr>
        <p:spPr>
          <a:xfrm>
            <a:off x="75565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8–11</a:t>
            </a:r>
          </a:p>
        </p:txBody>
      </p:sp>
      <p:sp>
        <p:nvSpPr>
          <p:cNvPr id="27" name="Rounded Rectangle 26"/>
          <p:cNvSpPr/>
          <p:nvPr/>
        </p:nvSpPr>
        <p:spPr>
          <a:xfrm>
            <a:off x="81534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69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12–15</a:t>
            </a:r>
          </a:p>
        </p:txBody>
      </p:sp>
      <p:sp>
        <p:nvSpPr>
          <p:cNvPr id="29" name="Rounded Rectangle 28"/>
          <p:cNvSpPr/>
          <p:nvPr/>
        </p:nvSpPr>
        <p:spPr>
          <a:xfrm>
            <a:off x="87503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138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16–19</a:t>
            </a:r>
          </a:p>
        </p:txBody>
      </p:sp>
      <p:sp>
        <p:nvSpPr>
          <p:cNvPr id="31" name="Rounded Rectangle 30"/>
          <p:cNvSpPr/>
          <p:nvPr/>
        </p:nvSpPr>
        <p:spPr>
          <a:xfrm>
            <a:off x="93472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107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20–23</a:t>
            </a:r>
          </a:p>
        </p:txBody>
      </p:sp>
      <p:sp>
        <p:nvSpPr>
          <p:cNvPr id="33" name="Rounded Rectangle 32"/>
          <p:cNvSpPr/>
          <p:nvPr/>
        </p:nvSpPr>
        <p:spPr>
          <a:xfrm>
            <a:off x="99441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076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24–27</a:t>
            </a:r>
          </a:p>
        </p:txBody>
      </p:sp>
      <p:sp>
        <p:nvSpPr>
          <p:cNvPr id="35" name="Rounded Rectangle 34"/>
          <p:cNvSpPr/>
          <p:nvPr/>
        </p:nvSpPr>
        <p:spPr>
          <a:xfrm>
            <a:off x="10541000" y="31115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04500" y="32131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28–31</a:t>
            </a:r>
          </a:p>
        </p:txBody>
      </p:sp>
      <p:sp>
        <p:nvSpPr>
          <p:cNvPr id="37" name="TextBox 36"/>
          <p:cNvSpPr txBox="1"/>
          <p:nvPr/>
        </p:nvSpPr>
        <p:spPr>
          <a:xfrm>
            <a:off x="5416550" y="3644900"/>
            <a:ext cx="9017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DejaVu Sans"/>
              </a:rPr>
              <a:t>Shard 1</a:t>
            </a:r>
          </a:p>
        </p:txBody>
      </p:sp>
      <p:sp>
        <p:nvSpPr>
          <p:cNvPr id="38" name="Rounded Rectangle 37"/>
          <p:cNvSpPr/>
          <p:nvPr/>
        </p:nvSpPr>
        <p:spPr>
          <a:xfrm>
            <a:off x="63627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262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0–3</a:t>
            </a:r>
          </a:p>
        </p:txBody>
      </p:sp>
      <p:sp>
        <p:nvSpPr>
          <p:cNvPr id="40" name="Rounded Rectangle 39"/>
          <p:cNvSpPr/>
          <p:nvPr/>
        </p:nvSpPr>
        <p:spPr>
          <a:xfrm>
            <a:off x="69596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231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4–7</a:t>
            </a:r>
          </a:p>
        </p:txBody>
      </p:sp>
      <p:sp>
        <p:nvSpPr>
          <p:cNvPr id="42" name="Rounded Rectangle 41"/>
          <p:cNvSpPr/>
          <p:nvPr/>
        </p:nvSpPr>
        <p:spPr>
          <a:xfrm>
            <a:off x="75565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00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8–11</a:t>
            </a:r>
          </a:p>
        </p:txBody>
      </p:sp>
      <p:sp>
        <p:nvSpPr>
          <p:cNvPr id="44" name="Rounded Rectangle 43"/>
          <p:cNvSpPr/>
          <p:nvPr/>
        </p:nvSpPr>
        <p:spPr>
          <a:xfrm>
            <a:off x="81534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169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12–15</a:t>
            </a:r>
          </a:p>
        </p:txBody>
      </p:sp>
      <p:sp>
        <p:nvSpPr>
          <p:cNvPr id="46" name="Rounded Rectangle 45"/>
          <p:cNvSpPr/>
          <p:nvPr/>
        </p:nvSpPr>
        <p:spPr>
          <a:xfrm>
            <a:off x="87503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8138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16–19</a:t>
            </a:r>
          </a:p>
        </p:txBody>
      </p:sp>
      <p:sp>
        <p:nvSpPr>
          <p:cNvPr id="48" name="Rounded Rectangle 47"/>
          <p:cNvSpPr/>
          <p:nvPr/>
        </p:nvSpPr>
        <p:spPr>
          <a:xfrm>
            <a:off x="93472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107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20–23</a:t>
            </a:r>
          </a:p>
        </p:txBody>
      </p:sp>
      <p:sp>
        <p:nvSpPr>
          <p:cNvPr id="50" name="Rounded Rectangle 49"/>
          <p:cNvSpPr/>
          <p:nvPr/>
        </p:nvSpPr>
        <p:spPr>
          <a:xfrm>
            <a:off x="99441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076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24–27</a:t>
            </a:r>
          </a:p>
        </p:txBody>
      </p:sp>
      <p:sp>
        <p:nvSpPr>
          <p:cNvPr id="52" name="Rounded Rectangle 51"/>
          <p:cNvSpPr/>
          <p:nvPr/>
        </p:nvSpPr>
        <p:spPr>
          <a:xfrm>
            <a:off x="10541000" y="35623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04500" y="36639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28–31</a:t>
            </a:r>
          </a:p>
        </p:txBody>
      </p:sp>
      <p:sp>
        <p:nvSpPr>
          <p:cNvPr id="54" name="TextBox 53"/>
          <p:cNvSpPr txBox="1"/>
          <p:nvPr/>
        </p:nvSpPr>
        <p:spPr>
          <a:xfrm>
            <a:off x="5416550" y="4095750"/>
            <a:ext cx="9017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DejaVu Sans"/>
              </a:rPr>
              <a:t>Shard 2</a:t>
            </a:r>
          </a:p>
        </p:txBody>
      </p:sp>
      <p:sp>
        <p:nvSpPr>
          <p:cNvPr id="55" name="Rounded Rectangle 54"/>
          <p:cNvSpPr/>
          <p:nvPr/>
        </p:nvSpPr>
        <p:spPr>
          <a:xfrm>
            <a:off x="63627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262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0–3</a:t>
            </a:r>
          </a:p>
        </p:txBody>
      </p:sp>
      <p:sp>
        <p:nvSpPr>
          <p:cNvPr id="57" name="Rounded Rectangle 56"/>
          <p:cNvSpPr/>
          <p:nvPr/>
        </p:nvSpPr>
        <p:spPr>
          <a:xfrm>
            <a:off x="69596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231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4–7</a:t>
            </a:r>
          </a:p>
        </p:txBody>
      </p:sp>
      <p:sp>
        <p:nvSpPr>
          <p:cNvPr id="59" name="Rounded Rectangle 58"/>
          <p:cNvSpPr/>
          <p:nvPr/>
        </p:nvSpPr>
        <p:spPr>
          <a:xfrm>
            <a:off x="75565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200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8–11</a:t>
            </a:r>
          </a:p>
        </p:txBody>
      </p:sp>
      <p:sp>
        <p:nvSpPr>
          <p:cNvPr id="61" name="Rounded Rectangle 60"/>
          <p:cNvSpPr/>
          <p:nvPr/>
        </p:nvSpPr>
        <p:spPr>
          <a:xfrm>
            <a:off x="81534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169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12–15</a:t>
            </a:r>
          </a:p>
        </p:txBody>
      </p:sp>
      <p:sp>
        <p:nvSpPr>
          <p:cNvPr id="63" name="Rounded Rectangle 62"/>
          <p:cNvSpPr/>
          <p:nvPr/>
        </p:nvSpPr>
        <p:spPr>
          <a:xfrm>
            <a:off x="87503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8138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16–19</a:t>
            </a:r>
          </a:p>
        </p:txBody>
      </p:sp>
      <p:sp>
        <p:nvSpPr>
          <p:cNvPr id="65" name="Rounded Rectangle 64"/>
          <p:cNvSpPr/>
          <p:nvPr/>
        </p:nvSpPr>
        <p:spPr>
          <a:xfrm>
            <a:off x="93472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4107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20–23</a:t>
            </a:r>
          </a:p>
        </p:txBody>
      </p:sp>
      <p:sp>
        <p:nvSpPr>
          <p:cNvPr id="67" name="Rounded Rectangle 66"/>
          <p:cNvSpPr/>
          <p:nvPr/>
        </p:nvSpPr>
        <p:spPr>
          <a:xfrm>
            <a:off x="99441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0076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24–27</a:t>
            </a:r>
          </a:p>
        </p:txBody>
      </p:sp>
      <p:sp>
        <p:nvSpPr>
          <p:cNvPr id="69" name="Rounded Rectangle 68"/>
          <p:cNvSpPr/>
          <p:nvPr/>
        </p:nvSpPr>
        <p:spPr>
          <a:xfrm>
            <a:off x="10541000" y="4013200"/>
            <a:ext cx="533400" cy="342900"/>
          </a:xfrm>
          <a:prstGeom prst="roundRect">
            <a:avLst>
              <a:gd name="adj" fmla="val 14814"/>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604500" y="411480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28–31</a:t>
            </a:r>
          </a:p>
        </p:txBody>
      </p:sp>
      <p:sp>
        <p:nvSpPr>
          <p:cNvPr id="71" name="TextBox 70"/>
          <p:cNvSpPr txBox="1"/>
          <p:nvPr/>
        </p:nvSpPr>
        <p:spPr>
          <a:xfrm>
            <a:off x="5416550" y="4546600"/>
            <a:ext cx="9017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95B4FF"/>
                </a:solidFill>
                <a:latin typeface="DejaVu Sans"/>
              </a:rPr>
              <a:t>Shard 3</a:t>
            </a:r>
          </a:p>
        </p:txBody>
      </p:sp>
      <p:sp>
        <p:nvSpPr>
          <p:cNvPr id="72" name="Rounded Rectangle 71"/>
          <p:cNvSpPr/>
          <p:nvPr/>
        </p:nvSpPr>
        <p:spPr>
          <a:xfrm>
            <a:off x="63627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262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0–3</a:t>
            </a:r>
          </a:p>
        </p:txBody>
      </p:sp>
      <p:sp>
        <p:nvSpPr>
          <p:cNvPr id="74" name="Rounded Rectangle 73"/>
          <p:cNvSpPr/>
          <p:nvPr/>
        </p:nvSpPr>
        <p:spPr>
          <a:xfrm>
            <a:off x="69596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0231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4–7</a:t>
            </a:r>
          </a:p>
        </p:txBody>
      </p:sp>
      <p:sp>
        <p:nvSpPr>
          <p:cNvPr id="76" name="Rounded Rectangle 75"/>
          <p:cNvSpPr/>
          <p:nvPr/>
        </p:nvSpPr>
        <p:spPr>
          <a:xfrm>
            <a:off x="75565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6200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8–11</a:t>
            </a:r>
          </a:p>
        </p:txBody>
      </p:sp>
      <p:sp>
        <p:nvSpPr>
          <p:cNvPr id="78" name="Rounded Rectangle 77"/>
          <p:cNvSpPr/>
          <p:nvPr/>
        </p:nvSpPr>
        <p:spPr>
          <a:xfrm>
            <a:off x="81534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169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12–15</a:t>
            </a:r>
          </a:p>
        </p:txBody>
      </p:sp>
      <p:sp>
        <p:nvSpPr>
          <p:cNvPr id="80" name="Rounded Rectangle 79"/>
          <p:cNvSpPr/>
          <p:nvPr/>
        </p:nvSpPr>
        <p:spPr>
          <a:xfrm>
            <a:off x="87503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8138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16–19</a:t>
            </a:r>
          </a:p>
        </p:txBody>
      </p:sp>
      <p:sp>
        <p:nvSpPr>
          <p:cNvPr id="82" name="Rounded Rectangle 81"/>
          <p:cNvSpPr/>
          <p:nvPr/>
        </p:nvSpPr>
        <p:spPr>
          <a:xfrm>
            <a:off x="93472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4107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20–23</a:t>
            </a:r>
          </a:p>
        </p:txBody>
      </p:sp>
      <p:sp>
        <p:nvSpPr>
          <p:cNvPr id="84" name="Rounded Rectangle 83"/>
          <p:cNvSpPr/>
          <p:nvPr/>
        </p:nvSpPr>
        <p:spPr>
          <a:xfrm>
            <a:off x="99441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0076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24–27</a:t>
            </a:r>
          </a:p>
        </p:txBody>
      </p:sp>
      <p:sp>
        <p:nvSpPr>
          <p:cNvPr id="86" name="Rounded Rectangle 85"/>
          <p:cNvSpPr/>
          <p:nvPr/>
        </p:nvSpPr>
        <p:spPr>
          <a:xfrm>
            <a:off x="10541000" y="4464050"/>
            <a:ext cx="533400" cy="342900"/>
          </a:xfrm>
          <a:prstGeom prst="roundRect">
            <a:avLst>
              <a:gd name="adj" fmla="val 14814"/>
            </a:avLst>
          </a:prstGeom>
          <a:solidFill>
            <a:srgbClr val="2D41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604500" y="4565650"/>
            <a:ext cx="444500" cy="203200"/>
          </a:xfrm>
          <a:prstGeom prst="rect">
            <a:avLst/>
          </a:prstGeom>
          <a:noFill/>
        </p:spPr>
        <p:txBody>
          <a:bodyPr wrap="none" lIns="0" rIns="0" tIns="0" bIns="0" anchor="t">
            <a:noAutofit/>
          </a:bodyPr>
          <a:lstStyle/>
          <a:p>
            <a:pPr>
              <a:lnSpc>
                <a:spcPts val="1200"/>
              </a:lnSpc>
              <a:spcBef>
                <a:spcPts val="0"/>
              </a:spcBef>
              <a:spcAft>
                <a:spcPts val="0"/>
              </a:spcAft>
            </a:pPr>
            <a:r>
              <a:rPr b="0" sz="1000">
                <a:solidFill>
                  <a:srgbClr val="F1F5FA"/>
                </a:solidFill>
                <a:latin typeface="Liberation Mono"/>
              </a:rPr>
              <a:t>28–31</a:t>
            </a:r>
          </a:p>
        </p:txBody>
      </p:sp>
      <p:sp>
        <p:nvSpPr>
          <p:cNvPr id="88" name="TextBox 87"/>
          <p:cNvSpPr txBox="1"/>
          <p:nvPr/>
        </p:nvSpPr>
        <p:spPr>
          <a:xfrm>
            <a:off x="5416550" y="5086350"/>
            <a:ext cx="5873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5CE4BF"/>
                </a:solidFill>
                <a:latin typeface="DejaVu Sans"/>
              </a:rPr>
              <a:t>Shuffle offsets 16 + 8 → first 8 lanes write</a:t>
            </a:r>
          </a:p>
        </p:txBody>
      </p:sp>
      <p:sp>
        <p:nvSpPr>
          <p:cNvPr id="89" name="Rounded Rectangle 88"/>
          <p:cNvSpPr/>
          <p:nvPr/>
        </p:nvSpPr>
        <p:spPr>
          <a:xfrm>
            <a:off x="698500" y="5816600"/>
            <a:ext cx="10795000" cy="406400"/>
          </a:xfrm>
          <a:prstGeom prst="roundRect">
            <a:avLst>
              <a:gd name="adj" fmla="val 25000"/>
            </a:avLst>
          </a:prstGeom>
          <a:solidFill>
            <a:srgbClr val="2459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95350" y="5918200"/>
            <a:ext cx="10382250" cy="287020"/>
          </a:xfrm>
          <a:prstGeom prst="rect">
            <a:avLst/>
          </a:prstGeom>
          <a:noFill/>
        </p:spPr>
        <p:txBody>
          <a:bodyPr wrap="none" lIns="0" rIns="0" tIns="0" bIns="0" anchor="t">
            <a:noAutofit/>
          </a:bodyPr>
          <a:lstStyle/>
          <a:p>
            <a:pPr>
              <a:lnSpc>
                <a:spcPts val="1859"/>
              </a:lnSpc>
              <a:spcBef>
                <a:spcPts val="0"/>
              </a:spcBef>
              <a:spcAft>
                <a:spcPts val="0"/>
              </a:spcAft>
            </a:pPr>
            <a:r>
              <a:rPr b="0" sz="1550">
                <a:solidFill>
                  <a:srgbClr val="F1F5FA"/>
                </a:solidFill>
                <a:latin typeface="DejaVu Sans"/>
              </a:rPr>
              <a:t>Correct suffix replay: restore the saved denominator before every column.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79375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 / COMPILER PASSES</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09 / 09</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7874000" cy="210820"/>
          </a:xfrm>
          <a:prstGeom prst="rect">
            <a:avLst/>
          </a:prstGeom>
          <a:noFill/>
        </p:spPr>
        <p:txBody>
          <a:bodyPr wrap="none" lIns="0" rIns="0" tIns="0" bIns="0" anchor="t">
            <a:noAutofit/>
          </a:bodyPr>
          <a:lstStyle/>
          <a:p>
            <a:pPr>
              <a:lnSpc>
                <a:spcPts val="1260"/>
              </a:lnSpc>
              <a:spcBef>
                <a:spcPts val="0"/>
              </a:spcBef>
              <a:spcAft>
                <a:spcPts val="0"/>
              </a:spcAft>
            </a:pPr>
            <a:r>
              <a:rPr b="0" sz="105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71550"/>
            <a:ext cx="10795000" cy="553720"/>
          </a:xfrm>
          <a:prstGeom prst="rect">
            <a:avLst/>
          </a:prstGeom>
          <a:noFill/>
        </p:spPr>
        <p:txBody>
          <a:bodyPr wrap="none" lIns="0" rIns="0" tIns="0" bIns="0" anchor="t">
            <a:noAutofit/>
          </a:bodyPr>
          <a:lstStyle/>
          <a:p>
            <a:pPr>
              <a:lnSpc>
                <a:spcPts val="3960"/>
              </a:lnSpc>
              <a:spcBef>
                <a:spcPts val="0"/>
              </a:spcBef>
              <a:spcAft>
                <a:spcPts val="0"/>
              </a:spcAft>
            </a:pPr>
            <a:r>
              <a:rPr b="1" sz="3300">
                <a:solidFill>
                  <a:srgbClr val="F1F5FA"/>
                </a:solidFill>
                <a:latin typeface="DejaVu Sans"/>
              </a:rPr>
              <a:t>RTX 5090 · whole-compiler results</a:t>
            </a:r>
          </a:p>
        </p:txBody>
      </p:sp>
      <p:sp>
        <p:nvSpPr>
          <p:cNvPr id="10" name="TextBox 9"/>
          <p:cNvSpPr txBox="1"/>
          <p:nvPr/>
        </p:nvSpPr>
        <p:spPr>
          <a:xfrm>
            <a:off x="711200" y="1670050"/>
            <a:ext cx="1069975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A7B8CF"/>
                </a:solidFill>
                <a:latin typeface="DejaVu Sans"/>
              </a:rPr>
              <a:t>Geometric mean warm latency · 15 open workloads · lower is better</a:t>
            </a:r>
          </a:p>
        </p:txBody>
      </p:sp>
      <p:sp>
        <p:nvSpPr>
          <p:cNvPr id="11" name="TextBox 10"/>
          <p:cNvSpPr txBox="1"/>
          <p:nvPr/>
        </p:nvSpPr>
        <p:spPr>
          <a:xfrm>
            <a:off x="7048500" y="2159000"/>
            <a:ext cx="508000" cy="248920"/>
          </a:xfrm>
          <a:prstGeom prst="rect">
            <a:avLst/>
          </a:prstGeom>
          <a:noFill/>
        </p:spPr>
        <p:txBody>
          <a:bodyPr wrap="none" lIns="0" rIns="0" tIns="0" bIns="0" anchor="t">
            <a:noAutofit/>
          </a:bodyPr>
          <a:lstStyle/>
          <a:p>
            <a:pPr>
              <a:lnSpc>
                <a:spcPts val="1560"/>
              </a:lnSpc>
              <a:spcBef>
                <a:spcPts val="0"/>
              </a:spcBef>
              <a:spcAft>
                <a:spcPts val="0"/>
              </a:spcAft>
            </a:pPr>
            <a:r>
              <a:rPr b="0" sz="1300">
                <a:solidFill>
                  <a:srgbClr val="A7B8CF"/>
                </a:solidFill>
                <a:latin typeface="DejaVu Sans"/>
              </a:rPr>
              <a:t>µs</a:t>
            </a:r>
          </a:p>
        </p:txBody>
      </p:sp>
      <p:sp>
        <p:nvSpPr>
          <p:cNvPr id="12" name="TextBox 11"/>
          <p:cNvSpPr txBox="1"/>
          <p:nvPr/>
        </p:nvSpPr>
        <p:spPr>
          <a:xfrm>
            <a:off x="762000" y="27622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Deuteron</a:t>
            </a:r>
          </a:p>
        </p:txBody>
      </p:sp>
      <p:sp>
        <p:nvSpPr>
          <p:cNvPr id="13" name="Rounded Rectangle 12"/>
          <p:cNvSpPr/>
          <p:nvPr/>
        </p:nvSpPr>
        <p:spPr>
          <a:xfrm>
            <a:off x="2159000" y="2654300"/>
            <a:ext cx="2638092" cy="495300"/>
          </a:xfrm>
          <a:prstGeom prst="roundRect">
            <a:avLst>
              <a:gd name="adj" fmla="val 10256"/>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05042" y="27622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3.752</a:t>
            </a:r>
          </a:p>
        </p:txBody>
      </p:sp>
      <p:sp>
        <p:nvSpPr>
          <p:cNvPr id="15" name="TextBox 14"/>
          <p:cNvSpPr txBox="1"/>
          <p:nvPr/>
        </p:nvSpPr>
        <p:spPr>
          <a:xfrm>
            <a:off x="762000" y="36766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NVCC 12.8</a:t>
            </a:r>
          </a:p>
        </p:txBody>
      </p:sp>
      <p:sp>
        <p:nvSpPr>
          <p:cNvPr id="16" name="Rounded Rectangle 15"/>
          <p:cNvSpPr/>
          <p:nvPr/>
        </p:nvSpPr>
        <p:spPr>
          <a:xfrm>
            <a:off x="2159000" y="3568700"/>
            <a:ext cx="4370295" cy="495300"/>
          </a:xfrm>
          <a:prstGeom prst="roundRect">
            <a:avLst>
              <a:gd name="adj" fmla="val 10256"/>
            </a:avLst>
          </a:prstGeom>
          <a:solidFill>
            <a:srgbClr val="8496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37245" y="36766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6.216</a:t>
            </a:r>
          </a:p>
        </p:txBody>
      </p:sp>
      <p:sp>
        <p:nvSpPr>
          <p:cNvPr id="18" name="TextBox 17"/>
          <p:cNvSpPr txBox="1"/>
          <p:nvPr/>
        </p:nvSpPr>
        <p:spPr>
          <a:xfrm>
            <a:off x="762000" y="45910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Triton 3.6</a:t>
            </a:r>
          </a:p>
        </p:txBody>
      </p:sp>
      <p:sp>
        <p:nvSpPr>
          <p:cNvPr id="19" name="Rounded Rectangle 18"/>
          <p:cNvSpPr/>
          <p:nvPr/>
        </p:nvSpPr>
        <p:spPr>
          <a:xfrm>
            <a:off x="2159000" y="4483100"/>
            <a:ext cx="3045577" cy="495300"/>
          </a:xfrm>
          <a:prstGeom prst="roundRect">
            <a:avLst>
              <a:gd name="adj" fmla="val 10256"/>
            </a:avLst>
          </a:prstGeom>
          <a:solidFill>
            <a:srgbClr val="95B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2527" y="45910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4.332</a:t>
            </a:r>
          </a:p>
        </p:txBody>
      </p:sp>
      <p:cxnSp>
        <p:nvCxnSpPr>
          <p:cNvPr id="21" name="Connector 20"/>
          <p:cNvCxnSpPr/>
          <p:nvPr/>
        </p:nvCxnSpPr>
        <p:spPr>
          <a:xfrm>
            <a:off x="2159000" y="5289550"/>
            <a:ext cx="492125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159000" y="5289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114550" y="5448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0</a:t>
            </a:r>
          </a:p>
        </p:txBody>
      </p:sp>
      <p:cxnSp>
        <p:nvCxnSpPr>
          <p:cNvPr id="24" name="Connector 23"/>
          <p:cNvCxnSpPr/>
          <p:nvPr/>
        </p:nvCxnSpPr>
        <p:spPr>
          <a:xfrm>
            <a:off x="3565071" y="5289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20621" y="5448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2</a:t>
            </a:r>
          </a:p>
        </p:txBody>
      </p:sp>
      <p:cxnSp>
        <p:nvCxnSpPr>
          <p:cNvPr id="26" name="Connector 25"/>
          <p:cNvCxnSpPr/>
          <p:nvPr/>
        </p:nvCxnSpPr>
        <p:spPr>
          <a:xfrm>
            <a:off x="4971142" y="5289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926692" y="5448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4</a:t>
            </a:r>
          </a:p>
        </p:txBody>
      </p:sp>
      <p:cxnSp>
        <p:nvCxnSpPr>
          <p:cNvPr id="28" name="Connector 27"/>
          <p:cNvCxnSpPr/>
          <p:nvPr/>
        </p:nvCxnSpPr>
        <p:spPr>
          <a:xfrm>
            <a:off x="6377214" y="5289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32764" y="5448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6</a:t>
            </a:r>
          </a:p>
        </p:txBody>
      </p:sp>
      <p:sp>
        <p:nvSpPr>
          <p:cNvPr id="30" name="Rounded Rectangle 29"/>
          <p:cNvSpPr/>
          <p:nvPr/>
        </p:nvSpPr>
        <p:spPr>
          <a:xfrm>
            <a:off x="8286750" y="2368550"/>
            <a:ext cx="3206750" cy="1409700"/>
          </a:xfrm>
          <a:prstGeom prst="roundRect">
            <a:avLst>
              <a:gd name="adj" fmla="val 1036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9000" y="2527300"/>
            <a:ext cx="2774950" cy="812800"/>
          </a:xfrm>
          <a:prstGeom prst="rect">
            <a:avLst/>
          </a:prstGeom>
          <a:noFill/>
        </p:spPr>
        <p:txBody>
          <a:bodyPr wrap="none" lIns="0" rIns="0" tIns="0" bIns="0" anchor="t">
            <a:noAutofit/>
          </a:bodyPr>
          <a:lstStyle/>
          <a:p>
            <a:pPr>
              <a:lnSpc>
                <a:spcPts val="6000"/>
              </a:lnSpc>
              <a:spcBef>
                <a:spcPts val="0"/>
              </a:spcBef>
              <a:spcAft>
                <a:spcPts val="0"/>
              </a:spcAft>
            </a:pPr>
            <a:r>
              <a:rPr b="1" sz="5000">
                <a:solidFill>
                  <a:srgbClr val="5CE4BF"/>
                </a:solidFill>
                <a:latin typeface="DejaVu Sans"/>
              </a:rPr>
              <a:t>1.66×</a:t>
            </a:r>
          </a:p>
        </p:txBody>
      </p:sp>
      <p:sp>
        <p:nvSpPr>
          <p:cNvPr id="32" name="TextBox 31"/>
          <p:cNvSpPr txBox="1"/>
          <p:nvPr/>
        </p:nvSpPr>
        <p:spPr>
          <a:xfrm>
            <a:off x="8509000" y="3295650"/>
            <a:ext cx="2774950" cy="265112"/>
          </a:xfrm>
          <a:prstGeom prst="rect">
            <a:avLst/>
          </a:prstGeom>
          <a:noFill/>
        </p:spPr>
        <p:txBody>
          <a:bodyPr wrap="none" lIns="0" rIns="0" tIns="0" bIns="0" anchor="t">
            <a:noAutofit/>
          </a:bodyPr>
          <a:lstStyle/>
          <a:p>
            <a:pPr>
              <a:lnSpc>
                <a:spcPts val="1687"/>
              </a:lnSpc>
              <a:spcBef>
                <a:spcPts val="0"/>
              </a:spcBef>
              <a:spcAft>
                <a:spcPts val="0"/>
              </a:spcAft>
            </a:pPr>
            <a:r>
              <a:rPr b="0" sz="1350">
                <a:solidFill>
                  <a:srgbClr val="F1F5FA"/>
                </a:solidFill>
                <a:latin typeface="DejaVu Sans"/>
              </a:rPr>
              <a:t>vs generated CUDA / NVCC</a:t>
            </a:r>
          </a:p>
        </p:txBody>
      </p:sp>
      <p:sp>
        <p:nvSpPr>
          <p:cNvPr id="33" name="Rounded Rectangle 32"/>
          <p:cNvSpPr/>
          <p:nvPr/>
        </p:nvSpPr>
        <p:spPr>
          <a:xfrm>
            <a:off x="8286750" y="4044950"/>
            <a:ext cx="3206750" cy="1409700"/>
          </a:xfrm>
          <a:prstGeom prst="roundRect">
            <a:avLst>
              <a:gd name="adj" fmla="val 1036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09000" y="4203700"/>
            <a:ext cx="2774950" cy="812800"/>
          </a:xfrm>
          <a:prstGeom prst="rect">
            <a:avLst/>
          </a:prstGeom>
          <a:noFill/>
        </p:spPr>
        <p:txBody>
          <a:bodyPr wrap="none" lIns="0" rIns="0" tIns="0" bIns="0" anchor="t">
            <a:noAutofit/>
          </a:bodyPr>
          <a:lstStyle/>
          <a:p>
            <a:pPr>
              <a:lnSpc>
                <a:spcPts val="6000"/>
              </a:lnSpc>
              <a:spcBef>
                <a:spcPts val="0"/>
              </a:spcBef>
              <a:spcAft>
                <a:spcPts val="0"/>
              </a:spcAft>
            </a:pPr>
            <a:r>
              <a:rPr b="1" sz="5000">
                <a:solidFill>
                  <a:srgbClr val="5CE4BF"/>
                </a:solidFill>
                <a:latin typeface="DejaVu Sans"/>
              </a:rPr>
              <a:t>1.15×</a:t>
            </a:r>
          </a:p>
        </p:txBody>
      </p:sp>
      <p:sp>
        <p:nvSpPr>
          <p:cNvPr id="35" name="TextBox 34"/>
          <p:cNvSpPr txBox="1"/>
          <p:nvPr/>
        </p:nvSpPr>
        <p:spPr>
          <a:xfrm>
            <a:off x="8509000" y="4972050"/>
            <a:ext cx="2774950" cy="265112"/>
          </a:xfrm>
          <a:prstGeom prst="rect">
            <a:avLst/>
          </a:prstGeom>
          <a:noFill/>
        </p:spPr>
        <p:txBody>
          <a:bodyPr wrap="none" lIns="0" rIns="0" tIns="0" bIns="0" anchor="t">
            <a:noAutofit/>
          </a:bodyPr>
          <a:lstStyle/>
          <a:p>
            <a:pPr>
              <a:lnSpc>
                <a:spcPts val="1687"/>
              </a:lnSpc>
              <a:spcBef>
                <a:spcPts val="0"/>
              </a:spcBef>
              <a:spcAft>
                <a:spcPts val="0"/>
              </a:spcAft>
            </a:pPr>
            <a:r>
              <a:rPr b="0" sz="1350">
                <a:solidFill>
                  <a:srgbClr val="F1F5FA"/>
                </a:solidFill>
                <a:latin typeface="DejaVu Sans"/>
              </a:rPr>
              <a:t>vs tested Triton baseline</a:t>
            </a:r>
          </a:p>
        </p:txBody>
      </p:sp>
      <p:sp>
        <p:nvSpPr>
          <p:cNvPr id="36" name="TextBox 35"/>
          <p:cNvSpPr txBox="1"/>
          <p:nvPr/>
        </p:nvSpPr>
        <p:spPr>
          <a:xfrm>
            <a:off x="723900" y="584835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270 balanced warm calls · Original inputs and numerical tolerances · All output checks pass</a:t>
            </a:r>
          </a:p>
        </p:txBody>
      </p:sp>
      <p:sp>
        <p:nvSpPr>
          <p:cNvPr id="37" name="TextBox 36"/>
          <p:cNvSpPr txBox="1"/>
          <p:nvPr/>
        </p:nvSpPr>
        <p:spPr>
          <a:xfrm>
            <a:off x="723900" y="6153150"/>
            <a:ext cx="10731500" cy="226059"/>
          </a:xfrm>
          <a:prstGeom prst="rect">
            <a:avLst/>
          </a:prstGeom>
          <a:noFill/>
        </p:spPr>
        <p:txBody>
          <a:bodyPr wrap="none" lIns="0" rIns="0" tIns="0" bIns="0" anchor="t">
            <a:noAutofit/>
          </a:bodyPr>
          <a:lstStyle/>
          <a:p>
            <a:pPr>
              <a:lnSpc>
                <a:spcPts val="1380"/>
              </a:lnSpc>
              <a:spcBef>
                <a:spcPts val="0"/>
              </a:spcBef>
              <a:spcAft>
                <a:spcPts val="0"/>
              </a:spcAft>
            </a:pPr>
            <a:r>
              <a:rPr b="0" sz="1150">
                <a:solidFill>
                  <a:srgbClr val="A7B8CF"/>
                </a:solidFill>
                <a:latin typeface="DejaVu Sans"/>
              </a:rPr>
              <a:t>20 warmups / 200 iterations · Limited Triton search · Compile / assembly / transport excluded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Deuteron — compiler passes and innovations</dc:title>
  <dc:subject>Implemented compiler transformations and verified RTX 5090 measurements</dc:subject>
  <dc:creator>Deuteron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