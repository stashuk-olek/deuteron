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0:00–0:12 | The compiler transformations we built</a:t>
            </a:r>
          </a:p>
          <a:p/>
          <a:p>
            <a:r>
              <a:t>Deuteron compiles scheduled Emmy Kernel IR into PTX for the RTX 5090. Our contribution is guarded compiler passes that change memory reuse, parallel work, and tensor pipelines.</a:t>
            </a:r>
          </a:p>
          <a:p/>
          <a:p>
            <a:r>
              <a:t>VISUAL: Show the title and the three contribution families: reuse data, redistribute work, and build tensor pipelines. Keep scheduled Emmy IR and RTX 5090 visible.</a:t>
            </a:r>
          </a:p>
          <a:p/>
          <a:p/>
          <a:p/>
          <a:p>
            <a:r>
              <a:t>Evidence: passes.json, pass-reference.md, innovations.md, and recorded round-6 measurements. These are rehearsal cues; align the edit to the actual recording. The aggregate benchmark is not an individual-pass ablation.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0:12–0:27 | Where our passes run</a:t>
            </a:r>
          </a:p>
          <a:p/>
          <a:p>
            <a:r>
              <a:t>We validate IR and metadata; each rewrite checks index and ownership conditions. Early passes vectorize loops, forward reduction inputs, reorder recurrences, and fold split-K grids. Specialized lowering follows; LLVM supplies optimization and NVPTX code generation.</a:t>
            </a:r>
          </a:p>
          <a:p/>
          <a:p>
            <a:r>
              <a:t>VISUAL: Show input validation, the actual early rewrite order, specialized lowering, and LLVM/NVPTX. The early order is vectorization, register forwarding, recurrence reordering, then grid folding. Name the project contribution: recognizers, guards, and transformed GPU schedules.</a:t>
            </a:r>
          </a:p>
          <a:p/>
          <a:p>
            <a:r>
              <a:t>P01: Symbolic index and effect analysis | compiler/analysis.py | Guard: Integer coordinates and supported operators; non-affine products decline.</a:t>
            </a:r>
          </a:p>
          <a:p>
            <a:r>
              <a:t>P02: Storage typing | compiler/storage.py | Guard: f16/f32 global buffers, control-only indices, explicit f32 results, plain stores.</a:t>
            </a:r>
          </a:p>
          <a:p>
            <a:r>
              <a:t>P03: Elementwise vectorization | compiler/passes/vectorize.py | Guard: Extent divisible by 4×threads; contiguous indices; safe overlap and lifetimes.</a:t>
            </a:r>
          </a:p>
          <a:p>
            <a:r>
              <a:t>P04: Reduction load forwarding | compiler/passes/regforward.py | Guard: Readonly matching input, no writes, intervening CTA barrier, ≤8 vector trips.</a:t>
            </a:r>
          </a:p>
          <a:p>
            <a:r>
              <a:t>P05: Recurrence-axis reordering | compiler/passes/recurrence.py | Guard: Closed named coordinates, exact tile coverage, no rasterization, wider sharing.</a:t>
            </a:r>
          </a:p>
          <a:p>
            <a:r>
              <a:t>P06: Split-K grid folding | compiler/passes/gridfold.py | Guard: Atomic dense contraction; affine coverage; depth≤32, shared≤48 KiB, enough work.</a:t>
            </a:r>
          </a:p>
          <a:p/>
          <a:p>
            <a:r>
              <a:t>Evidence: passes.json, pass-reference.md, innovations.md, and recorded round-6 measurements. These are rehearsal cues; align the edit to the actual recording. The aggregate benchmark is not an individual-pass ablation.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0:27–0:44 | Reuse data before loading it again</a:t>
            </a:r>
          </a:p>
          <a:p/>
          <a:p>
            <a:r>
              <a:t>We look for repeated reads of the same input, or neighboring values loaded one at a time. We keep reusable values in registers and load nearby values together. That means fewer repeated trips to global memory.</a:t>
            </a:r>
          </a:p>
          <a:p/>
          <a:p>
            <a:r>
              <a:t>VISUAL: Show scalar loop to four values per lane; then load vector, reduce, and reuse the same vector in a consumer. Highlight matching indices, readonly input, closed lifetimes, and aligned complete coverage.</a:t>
            </a:r>
          </a:p>
          <a:p/>
          <a:p>
            <a:r>
              <a:t>P03: Elementwise vectorization | compiler/passes/vectorize.py | Guard: Extent divisible by 4×threads; contiguous indices; safe overlap and lifetimes.</a:t>
            </a:r>
          </a:p>
          <a:p>
            <a:r>
              <a:t>P04: Reduction load forwarding | compiler/passes/regforward.py | Guard: Readonly matching input, no writes, intervening CTA barrier, ≤8 vector trips.</a:t>
            </a:r>
          </a:p>
          <a:p>
            <a:r>
              <a:t>P08: Coalesced sum/square reduction | compiler/transforms.py | Guard: Seeded sum/square with matching warp/tree reduction; long path also readonly.</a:t>
            </a:r>
          </a:p>
          <a:p/>
          <a:p>
            <a:r>
              <a:t>Evidence: passes.json, pass-reference.md, innovations.md, and recorded round-6 measurements. These are rehearsal cues; align the edit to the actual recording. The aggregate benchmark is not an individual-pass ablation.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0:44–1:03 | Reshape parallel work</a:t>
            </a:r>
          </a:p>
          <a:p/>
          <a:p>
            <a:r>
              <a:t>We look for repeated calculations and blocks doing tiny pieces of work. We share dot products across threads, remove unnecessary reduction steps, and merge small pieces when enough parallel work remains. That reduces duplicated work and scheduling overhead.</a:t>
            </a:r>
          </a:p>
          <a:p/>
          <a:p>
            <a:r>
              <a:t>VISUAL: Use two concrete illustrations: repeated dot to lane partials plus shuffle, and four eligible split-K partitions folded into two logical partitions with twice the K work. Label the factor-two drawing illustrative; the actual factor is guarded. Surplus physical CTAs exit; the original atomic output remains. The four partitions are per output tile within a larger grid; sufficient total parallelism remains a guard.</a:t>
            </a:r>
          </a:p>
          <a:p/>
          <a:p>
            <a:r>
              <a:t>P06: Split-K grid folding | compiler/passes/gridfold.py | Guard: Atomic dense contraction; affine coverage; depth≤32, shared≤48 KiB, enough work.</a:t>
            </a:r>
          </a:p>
          <a:p>
            <a:r>
              <a:t>P07: Cooperative dot reduction | compiler/transforms.py | Guard: Closed load/load/product/sum loop, full warps, uniform scope, width≤32.</a:t>
            </a:r>
          </a:p>
          <a:p>
            <a:r>
              <a:t>P09: Small-tree elimination | compiler/passes/tailtree.py | Guard: 2–8 power-of-two partials, producer barrier, exclusive scratch, closed states.</a:t>
            </a:r>
          </a:p>
          <a:p>
            <a:r>
              <a:t>P10: Warp tree specialization | compiler/codegen/lower.py | Guard: Enabled specialization, warp-indexed tree, no inner dimension, length≤32.</a:t>
            </a:r>
          </a:p>
          <a:p/>
          <a:p>
            <a:r>
              <a:t>Evidence: passes.json, pass-reference.md, innovations.md, and recorded round-6 measurements. These are rehearsal cues; align the edit to the actual recording. The aggregate benchmark is not an individual-pass ablation.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1:03–1:26 | Turn contractions into tensor work</a:t>
            </a:r>
          </a:p>
          <a:p/>
          <a:p>
            <a:r>
              <a:t>We look for matrix multiplication written as ordinary multiply-and-add loops. We replace them with tensor-core operations, using three lower-precision products to approximate the result while adding them together in 32-bit precision. We also arrange shared memory so tensor cores can read it efficiently.</a:t>
            </a:r>
          </a:p>
          <a:p/>
          <a:p>
            <a:r>
              <a:t>VISUAL: Show a shared-memory contraction becoming warp MMA, with high/high, high/low, and low/high products. Label low/low omitted, FP32 buffers and accumulation, and ordinary FP32 mode available. Show a separate FP16 storage to FP32 arithmetic to nearest-even FP16 store strip.</a:t>
            </a:r>
          </a:p>
          <a:p/>
          <a:p>
            <a:r>
              <a:t>P02: Storage typing | compiler/storage.py | Guard: f16/f32 global buffers, control-only indices, explicit f32 results, plain stores.</a:t>
            </a:r>
          </a:p>
          <a:p>
            <a:r>
              <a:t>P11: Contraction tensorization | compiler/passes/contraction.py | Guard: Complete affine tiles, full warps, closed scalar scope, supported M/N/K sizes.</a:t>
            </a:r>
          </a:p>
          <a:p>
            <a:r>
              <a:t>P12: Tensor shared-memory layout | compiler/codegen/tensor.py | Guard: Recognized tensor operands; compatible dimensions and packed BF16 eligibility.</a:t>
            </a:r>
          </a:p>
          <a:p/>
          <a:p>
            <a:r>
              <a:t>Evidence: passes.json, pass-reference.md, innovations.md, and recorded round-6 measurements. These are rehearsal cues; align the edit to the actual recording. The aggregate benchmark is not an individual-pass ablation.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1:26–1:49 | Rewrite the pipeline feeding tensor cores</a:t>
            </a:r>
          </a:p>
          <a:p/>
          <a:p>
            <a:r>
              <a:t>We look for tensor-core loops that repeatedly copy and convert their matrix inputs. For the supported BF16 path, we fetch upcoming inputs early and pack them before the tensor cores need them. We also skip the final prefetch when there is no more work.</a:t>
            </a:r>
          </a:p>
          <a:p/>
          <a:p>
            <a:r>
              <a:t>VISUAL: Compare the scheduled FP32 asynchronous copy ring with the certified packed BF16 rewrite: register prefetch, producer packing, shared layout, and fragment lookahead. Keep the exact copy-phase guard visible. Show final unused prefetch/consumer barrier omitted while producer synchronization remains. TF32x3 and FP32 retain the eligible cp.async path.</a:t>
            </a:r>
          </a:p>
          <a:p/>
          <a:p>
            <a:r>
              <a:t>P12: Tensor shared-memory layout | compiler/codegen/tensor.py | Guard: Recognized tensor operands; compatible dimensions and packed BF16 eligibility.</a:t>
            </a:r>
          </a:p>
          <a:p>
            <a:r>
              <a:t>P13: Packed register staging | compiler/passes/regstage.py | Guard: Exact original future phase, complete aligned copies, readonly inputs, closed ring.</a:t>
            </a:r>
          </a:p>
          <a:p>
            <a:r>
              <a:t>P14: Tensor fragment pipelining | compiler/codegen/tensor.py | Guard: Certified packed BF16 operands; compatible fragment depth and loop bounds.</a:t>
            </a:r>
          </a:p>
          <a:p>
            <a:r>
              <a:t>P15: Pipeline drain | compiler/passes/regstage.py | Guard: Certified staging loop with uniform next-tile predicate and no later shared users.</a:t>
            </a:r>
          </a:p>
          <a:p/>
          <a:p>
            <a:r>
              <a:t>Evidence: passes.json, pass-reference.md, innovations.md, and recorded round-6 measurements. These are rehearsal cues; align the edit to the actual recording. The aggregate benchmark is not an individual-pass ablation.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1:49–2:12 | Recognize and stage the attention recurrence</a:t>
            </a:r>
          </a:p>
          <a:p/>
          <a:p>
            <a:r>
              <a:t>We look for attention loops that repeat the score calculation across output columns. We calculate scores once per group and reuse their weights. We also load neighboring keys together and reuse temporary storage once its values are no longer needed.</a:t>
            </a:r>
          </a:p>
          <a:p/>
          <a:p>
            <a:r>
              <a:t>VISUAL: Show repeated score and online max/mass/value work becoming score reuse, row maximum, shared unnormalized weights, and separate mass/PV accumulation. Show two/four adjacent key rounds and read-to-maximum-to-store lifetime ordering in the same warp and component. Each unnormalized weight feeds register mass accumulation directly and shared storage for PV; mass does not reread shared weights.</a:t>
            </a:r>
          </a:p>
          <a:p/>
          <a:p>
            <a:r>
              <a:t>P16: Staged online recurrence | compiler/passes/recurrence.py | Guard: Exact recurrence algebra, readonly operands, uniform scale, bounded rounds/scratch.</a:t>
            </a:r>
          </a:p>
          <a:p>
            <a:r>
              <a:t>P17: Blocked recurrence loads and address hoisting | compiler/passes/recurrence.py | Guard: Compatible 2/4 key rounds; unstaged operands; affine bounded full value coverage.</a:t>
            </a:r>
          </a:p>
          <a:p>
            <a:r>
              <a:t>P19: Recurrence shared-storage reuse | compiler/passes/lifetime.py | Guard: Same warp/component ownership; finite negative identity; bounded full mapping.</a:t>
            </a:r>
          </a:p>
          <a:p/>
          <a:p>
            <a:r>
              <a:t>Evidence: passes.json, pass-reference.md, innovations.md, and recorded round-6 measurements. These are rehearsal cues; align the edit to the actual recording. The aggregate benchmark is not an individual-pass ablation.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2:12–2:30 | Redistribute probability–value work</a:t>
            </a:r>
          </a:p>
          <a:p/>
          <a:p>
            <a:r>
              <a:t>We look for attention loops where each thread scans every key for one output column. We split keys among thread groups, load four adjacent columns together, and combine their partial results. Each column keeps its original normalization.</a:t>
            </a:r>
          </a:p>
          <a:p/>
          <a:p>
            <a:r>
              <a:t>VISUAL: Draw four eight-lane groups, each processing a key shard and four adjacent columns per lane. Combine groups with butterfly offsets 16 and 8; only the first eight lanes write. Show restoring the saved denominator before each closed per-column suffix replay.</a:t>
            </a:r>
          </a:p>
          <a:p/>
          <a:p>
            <a:r>
              <a:t>P18: Warp-distributed vector PV reduction | compiler/passes/recurrence.py | Guard: Single full warp, 32 columns, one component, full ownership, replayable suffix.</a:t>
            </a:r>
          </a:p>
          <a:p/>
          <a:p>
            <a:r>
              <a:t>Evidence: passes.json, pass-reference.md, innovations.md, and recorded round-6 measurements. These are rehearsal cues; align the edit to the actual recording. The aggregate benchmark is not an individual-pass ablation.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2:30–2:55 | Measure the whole compiler on RTX 5090</a:t>
            </a:r>
          </a:p>
          <a:p/>
          <a:p>
            <a:r>
              <a:t>On fifteen open workloads, geometric mean warm latency is three point seven five microseconds. Speedups are one point six six times over generated CUDA with NVCC, and one point one five times over the tested Triton baseline. All two hundred seventy calls passed the original checks. These are whole-compiler results with a limited Triton search.</a:t>
            </a:r>
          </a:p>
          <a:p/>
          <a:p>
            <a:r>
              <a:t>VISUAL: Show the recorded warm latency bars: Deuteron 3.752 microseconds, NVCC 6.216, tested Triton 4.332. Show 1.66x and 1.15x, 15 open workloads, 270 balanced calls, 20 warmups/200 iterations, original output checks, and compile/assembly/transport excluded. Hold this slide unchanged for the last five seconds.</a:t>
            </a:r>
          </a:p>
          <a:p/>
          <a:p/>
          <a:p/>
          <a:p>
            <a:r>
              <a:t>Evidence: passes.json, pass-reference.md, innovations.md, and recorded round-6 measurements. These are rehearsal cues; align the edit to the actual recording. The aggregate benchmark is not an individual-pass ablation.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C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19100"/>
            <a:ext cx="304800" cy="44450"/>
          </a:xfrm>
          <a:prstGeom prst="rect">
            <a:avLst/>
          </a:prstGeom>
          <a:solidFill>
            <a:srgbClr val="5CE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336550"/>
            <a:ext cx="7937500" cy="241300"/>
          </a:xfrm>
          <a:prstGeom prst="rect">
            <a:avLst/>
          </a:prstGeom>
          <a:noFill/>
        </p:spPr>
        <p:txBody>
          <a:bodyPr wrap="none" lIns="0" rIns="0" tIns="0" bIns="0" anchor="t">
            <a:noAutofit/>
          </a:bodyPr>
          <a:lstStyle/>
          <a:p>
            <a:pPr>
              <a:lnSpc>
                <a:spcPts val="1500"/>
              </a:lnSpc>
              <a:spcBef>
                <a:spcPts val="0"/>
              </a:spcBef>
              <a:spcAft>
                <a:spcPts val="0"/>
              </a:spcAft>
            </a:pPr>
            <a:r>
              <a:rPr b="1" sz="1250">
                <a:solidFill>
                  <a:srgbClr val="5CE4BF"/>
                </a:solidFill>
                <a:latin typeface="DejaVu Sans"/>
              </a:rPr>
              <a:t>DEUTERON / COMPILER PASSES</a:t>
            </a:r>
          </a:p>
        </p:txBody>
      </p:sp>
      <p:sp>
        <p:nvSpPr>
          <p:cNvPr id="5" name="TextBox 4"/>
          <p:cNvSpPr txBox="1"/>
          <p:nvPr/>
        </p:nvSpPr>
        <p:spPr>
          <a:xfrm>
            <a:off x="10572750" y="336550"/>
            <a:ext cx="952500" cy="241300"/>
          </a:xfrm>
          <a:prstGeom prst="rect">
            <a:avLst/>
          </a:prstGeom>
          <a:noFill/>
        </p:spPr>
        <p:txBody>
          <a:bodyPr wrap="none" lIns="0" rIns="0" tIns="0" bIns="0" anchor="t">
            <a:noAutofit/>
          </a:bodyPr>
          <a:lstStyle/>
          <a:p>
            <a:pPr algn="r">
              <a:lnSpc>
                <a:spcPts val="1500"/>
              </a:lnSpc>
              <a:spcBef>
                <a:spcPts val="0"/>
              </a:spcBef>
              <a:spcAft>
                <a:spcPts val="0"/>
              </a:spcAft>
            </a:pPr>
            <a:r>
              <a:rPr b="0" sz="1250">
                <a:solidFill>
                  <a:srgbClr val="A7B8CF"/>
                </a:solidFill>
                <a:latin typeface="DejaVu Sans"/>
              </a:rPr>
              <a:t>01 / 09</a:t>
            </a:r>
          </a:p>
        </p:txBody>
      </p:sp>
      <p:cxnSp>
        <p:nvCxnSpPr>
          <p:cNvPr id="6" name="Connector 5"/>
          <p:cNvCxnSpPr/>
          <p:nvPr/>
        </p:nvCxnSpPr>
        <p:spPr>
          <a:xfrm>
            <a:off x="609600" y="6375400"/>
            <a:ext cx="10972800" cy="0"/>
          </a:xfrm>
          <a:prstGeom prst="line">
            <a:avLst/>
          </a:prstGeom>
          <a:ln w="12700">
            <a:solidFill>
              <a:srgbClr val="2C3C5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35000" y="6496050"/>
            <a:ext cx="7874000" cy="210820"/>
          </a:xfrm>
          <a:prstGeom prst="rect">
            <a:avLst/>
          </a:prstGeom>
          <a:noFill/>
        </p:spPr>
        <p:txBody>
          <a:bodyPr wrap="none" lIns="0" rIns="0" tIns="0" bIns="0" anchor="t">
            <a:noAutofit/>
          </a:bodyPr>
          <a:lstStyle/>
          <a:p>
            <a:pPr>
              <a:lnSpc>
                <a:spcPts val="1260"/>
              </a:lnSpc>
              <a:spcBef>
                <a:spcPts val="0"/>
              </a:spcBef>
              <a:spcAft>
                <a:spcPts val="0"/>
              </a:spcAft>
            </a:pPr>
            <a:r>
              <a:rPr b="0" sz="1050">
                <a:solidFill>
                  <a:srgbClr val="A7B8CF"/>
                </a:solidFill>
                <a:latin typeface="DejaVu Sans"/>
              </a:rPr>
              <a:t>Scheduled Emmy IR → NVIDIA PTX</a:t>
            </a:r>
          </a:p>
        </p:txBody>
      </p:sp>
      <p:sp>
        <p:nvSpPr>
          <p:cNvPr id="8" name="TextBox 7"/>
          <p:cNvSpPr txBox="1"/>
          <p:nvPr/>
        </p:nvSpPr>
        <p:spPr>
          <a:xfrm>
            <a:off x="8699500" y="6496050"/>
            <a:ext cx="2857500" cy="218440"/>
          </a:xfrm>
          <a:prstGeom prst="rect">
            <a:avLst/>
          </a:prstGeom>
          <a:noFill/>
        </p:spPr>
        <p:txBody>
          <a:bodyPr wrap="none" lIns="0" rIns="0" tIns="0" bIns="0" anchor="t">
            <a:noAutofit/>
          </a:bodyPr>
          <a:lstStyle/>
          <a:p>
            <a:pPr algn="r">
              <a:lnSpc>
                <a:spcPts val="1320"/>
              </a:lnSpc>
              <a:spcBef>
                <a:spcPts val="0"/>
              </a:spcBef>
              <a:spcAft>
                <a:spcPts val="0"/>
              </a:spcAft>
            </a:pPr>
            <a:r>
              <a:rPr b="0" sz="1100">
                <a:solidFill>
                  <a:srgbClr val="A7B8CF"/>
                </a:solidFill>
                <a:latin typeface="DejaVu Sans"/>
              </a:rPr>
              <a:t>RTX 5090  /  SM120</a:t>
            </a:r>
          </a:p>
        </p:txBody>
      </p:sp>
      <p:sp>
        <p:nvSpPr>
          <p:cNvPr id="9" name="TextBox 8"/>
          <p:cNvSpPr txBox="1"/>
          <p:nvPr/>
        </p:nvSpPr>
        <p:spPr>
          <a:xfrm>
            <a:off x="698500" y="1403350"/>
            <a:ext cx="10477500" cy="1193800"/>
          </a:xfrm>
          <a:prstGeom prst="rect">
            <a:avLst/>
          </a:prstGeom>
          <a:noFill/>
        </p:spPr>
        <p:txBody>
          <a:bodyPr wrap="none" lIns="0" rIns="0" tIns="0" bIns="0" anchor="t">
            <a:noAutofit/>
          </a:bodyPr>
          <a:lstStyle/>
          <a:p>
            <a:pPr>
              <a:lnSpc>
                <a:spcPts val="9000"/>
              </a:lnSpc>
              <a:spcBef>
                <a:spcPts val="0"/>
              </a:spcBef>
              <a:spcAft>
                <a:spcPts val="0"/>
              </a:spcAft>
            </a:pPr>
            <a:r>
              <a:rPr b="1" sz="7500">
                <a:solidFill>
                  <a:srgbClr val="F1F5FA"/>
                </a:solidFill>
                <a:latin typeface="DejaVu Sans"/>
              </a:rPr>
              <a:t>Deuteron</a:t>
            </a:r>
          </a:p>
        </p:txBody>
      </p:sp>
      <p:sp>
        <p:nvSpPr>
          <p:cNvPr id="10" name="TextBox 9"/>
          <p:cNvSpPr txBox="1"/>
          <p:nvPr/>
        </p:nvSpPr>
        <p:spPr>
          <a:xfrm>
            <a:off x="762000" y="2717800"/>
            <a:ext cx="10604500" cy="416559"/>
          </a:xfrm>
          <a:prstGeom prst="rect">
            <a:avLst/>
          </a:prstGeom>
          <a:noFill/>
        </p:spPr>
        <p:txBody>
          <a:bodyPr wrap="none" lIns="0" rIns="0" tIns="0" bIns="0" anchor="t">
            <a:noAutofit/>
          </a:bodyPr>
          <a:lstStyle/>
          <a:p>
            <a:pPr>
              <a:lnSpc>
                <a:spcPts val="2879"/>
              </a:lnSpc>
              <a:spcBef>
                <a:spcPts val="0"/>
              </a:spcBef>
              <a:spcAft>
                <a:spcPts val="0"/>
              </a:spcAft>
            </a:pPr>
            <a:r>
              <a:rPr b="0" sz="2400">
                <a:solidFill>
                  <a:srgbClr val="F1F5FA"/>
                </a:solidFill>
                <a:latin typeface="DejaVu Sans"/>
              </a:rPr>
              <a:t>The compiler transformations we built</a:t>
            </a:r>
          </a:p>
        </p:txBody>
      </p:sp>
      <p:sp>
        <p:nvSpPr>
          <p:cNvPr id="11" name="TextBox 10"/>
          <p:cNvSpPr txBox="1"/>
          <p:nvPr/>
        </p:nvSpPr>
        <p:spPr>
          <a:xfrm>
            <a:off x="762000" y="3289300"/>
            <a:ext cx="10604500" cy="340360"/>
          </a:xfrm>
          <a:prstGeom prst="rect">
            <a:avLst/>
          </a:prstGeom>
          <a:noFill/>
        </p:spPr>
        <p:txBody>
          <a:bodyPr wrap="none" lIns="0" rIns="0" tIns="0" bIns="0" anchor="t">
            <a:noAutofit/>
          </a:bodyPr>
          <a:lstStyle/>
          <a:p>
            <a:pPr>
              <a:lnSpc>
                <a:spcPts val="2280"/>
              </a:lnSpc>
              <a:spcBef>
                <a:spcPts val="0"/>
              </a:spcBef>
              <a:spcAft>
                <a:spcPts val="0"/>
              </a:spcAft>
            </a:pPr>
            <a:r>
              <a:rPr b="0" sz="1900">
                <a:solidFill>
                  <a:srgbClr val="A7B8CF"/>
                </a:solidFill>
                <a:latin typeface="DejaVu Sans"/>
              </a:rPr>
              <a:t>Scheduled Emmy IR → PTX  ·  RTX 5090</a:t>
            </a:r>
          </a:p>
        </p:txBody>
      </p:sp>
      <p:sp>
        <p:nvSpPr>
          <p:cNvPr id="12" name="TextBox 11"/>
          <p:cNvSpPr txBox="1"/>
          <p:nvPr/>
        </p:nvSpPr>
        <p:spPr>
          <a:xfrm>
            <a:off x="762000" y="3848100"/>
            <a:ext cx="10668000" cy="294640"/>
          </a:xfrm>
          <a:prstGeom prst="rect">
            <a:avLst/>
          </a:prstGeom>
          <a:noFill/>
        </p:spPr>
        <p:txBody>
          <a:bodyPr wrap="none" lIns="0" rIns="0" tIns="0" bIns="0" anchor="t">
            <a:noAutofit/>
          </a:bodyPr>
          <a:lstStyle/>
          <a:p>
            <a:pPr>
              <a:lnSpc>
                <a:spcPts val="1920"/>
              </a:lnSpc>
              <a:spcBef>
                <a:spcPts val="0"/>
              </a:spcBef>
              <a:spcAft>
                <a:spcPts val="0"/>
              </a:spcAft>
            </a:pPr>
            <a:r>
              <a:rPr b="0" sz="1600">
                <a:solidFill>
                  <a:srgbClr val="5CE4BF"/>
                </a:solidFill>
                <a:latin typeface="DejaVu Sans"/>
              </a:rPr>
              <a:t>Recognize structure. Check the rewrite. Change the GPU work.</a:t>
            </a:r>
          </a:p>
        </p:txBody>
      </p:sp>
      <p:sp>
        <p:nvSpPr>
          <p:cNvPr id="13" name="Rounded Rectangle 12"/>
          <p:cNvSpPr/>
          <p:nvPr/>
        </p:nvSpPr>
        <p:spPr>
          <a:xfrm>
            <a:off x="711200" y="4578350"/>
            <a:ext cx="3429000" cy="1409700"/>
          </a:xfrm>
          <a:prstGeom prst="roundRect">
            <a:avLst>
              <a:gd name="adj" fmla="val 10810"/>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11200" y="4578350"/>
            <a:ext cx="3429000" cy="31750"/>
          </a:xfrm>
          <a:prstGeom prst="rect">
            <a:avLst/>
          </a:prstGeom>
          <a:solidFill>
            <a:srgbClr val="5CE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1700" y="4775200"/>
            <a:ext cx="3048000" cy="332740"/>
          </a:xfrm>
          <a:prstGeom prst="rect">
            <a:avLst/>
          </a:prstGeom>
          <a:noFill/>
        </p:spPr>
        <p:txBody>
          <a:bodyPr wrap="none" lIns="0" rIns="0" tIns="0" bIns="0" anchor="t">
            <a:noAutofit/>
          </a:bodyPr>
          <a:lstStyle/>
          <a:p>
            <a:pPr>
              <a:lnSpc>
                <a:spcPts val="2220"/>
              </a:lnSpc>
              <a:spcBef>
                <a:spcPts val="0"/>
              </a:spcBef>
              <a:spcAft>
                <a:spcPts val="0"/>
              </a:spcAft>
            </a:pPr>
            <a:r>
              <a:rPr b="1" sz="1850">
                <a:solidFill>
                  <a:srgbClr val="5CE4BF"/>
                </a:solidFill>
                <a:latin typeface="DejaVu Sans"/>
              </a:rPr>
              <a:t>Reuse data</a:t>
            </a:r>
          </a:p>
        </p:txBody>
      </p:sp>
      <p:sp>
        <p:nvSpPr>
          <p:cNvPr id="16" name="TextBox 15"/>
          <p:cNvSpPr txBox="1"/>
          <p:nvPr/>
        </p:nvSpPr>
        <p:spPr>
          <a:xfrm>
            <a:off x="901700" y="5200650"/>
            <a:ext cx="3048000" cy="529590"/>
          </a:xfrm>
          <a:prstGeom prst="rect">
            <a:avLst/>
          </a:prstGeom>
          <a:noFill/>
        </p:spPr>
        <p:txBody>
          <a:bodyPr wrap="none" lIns="0" rIns="0" tIns="0" bIns="0" anchor="t">
            <a:noAutofit/>
          </a:bodyPr>
          <a:lstStyle/>
          <a:p>
            <a:pPr>
              <a:lnSpc>
                <a:spcPts val="1885"/>
              </a:lnSpc>
              <a:spcBef>
                <a:spcPts val="0"/>
              </a:spcBef>
              <a:spcAft>
                <a:spcPts val="0"/>
              </a:spcAft>
            </a:pPr>
            <a:r>
              <a:rPr b="0" sz="1450">
                <a:solidFill>
                  <a:srgbClr val="F1F5FA"/>
                </a:solidFill>
                <a:latin typeface="DejaVu Sans"/>
              </a:rPr>
              <a:t>Vectorize loads</a:t>
            </a:r>
          </a:p>
          <a:p>
            <a:pPr>
              <a:lnSpc>
                <a:spcPts val="1885"/>
              </a:lnSpc>
              <a:spcBef>
                <a:spcPts val="0"/>
              </a:spcBef>
              <a:spcAft>
                <a:spcPts val="0"/>
              </a:spcAft>
            </a:pPr>
            <a:r>
              <a:rPr b="0" sz="1450">
                <a:solidFill>
                  <a:srgbClr val="F1F5FA"/>
                </a:solidFill>
                <a:latin typeface="DejaVu Sans"/>
              </a:rPr>
              <a:t>Keep reduction inputs</a:t>
            </a:r>
          </a:p>
        </p:txBody>
      </p:sp>
      <p:sp>
        <p:nvSpPr>
          <p:cNvPr id="17" name="Rounded Rectangle 16"/>
          <p:cNvSpPr/>
          <p:nvPr/>
        </p:nvSpPr>
        <p:spPr>
          <a:xfrm>
            <a:off x="4381500" y="4578350"/>
            <a:ext cx="3429000" cy="1409700"/>
          </a:xfrm>
          <a:prstGeom prst="roundRect">
            <a:avLst>
              <a:gd name="adj" fmla="val 10810"/>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1500" y="4578350"/>
            <a:ext cx="3429000" cy="31750"/>
          </a:xfrm>
          <a:prstGeom prst="rect">
            <a:avLst/>
          </a:prstGeom>
          <a:solidFill>
            <a:srgbClr val="95B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4775200"/>
            <a:ext cx="3048000" cy="332740"/>
          </a:xfrm>
          <a:prstGeom prst="rect">
            <a:avLst/>
          </a:prstGeom>
          <a:noFill/>
        </p:spPr>
        <p:txBody>
          <a:bodyPr wrap="none" lIns="0" rIns="0" tIns="0" bIns="0" anchor="t">
            <a:noAutofit/>
          </a:bodyPr>
          <a:lstStyle/>
          <a:p>
            <a:pPr>
              <a:lnSpc>
                <a:spcPts val="2220"/>
              </a:lnSpc>
              <a:spcBef>
                <a:spcPts val="0"/>
              </a:spcBef>
              <a:spcAft>
                <a:spcPts val="0"/>
              </a:spcAft>
            </a:pPr>
            <a:r>
              <a:rPr b="1" sz="1850">
                <a:solidFill>
                  <a:srgbClr val="95B4FF"/>
                </a:solidFill>
                <a:latin typeface="DejaVu Sans"/>
              </a:rPr>
              <a:t>Redistribute work</a:t>
            </a:r>
          </a:p>
        </p:txBody>
      </p:sp>
      <p:sp>
        <p:nvSpPr>
          <p:cNvPr id="20" name="TextBox 19"/>
          <p:cNvSpPr txBox="1"/>
          <p:nvPr/>
        </p:nvSpPr>
        <p:spPr>
          <a:xfrm>
            <a:off x="4572000" y="5200650"/>
            <a:ext cx="3048000" cy="529590"/>
          </a:xfrm>
          <a:prstGeom prst="rect">
            <a:avLst/>
          </a:prstGeom>
          <a:noFill/>
        </p:spPr>
        <p:txBody>
          <a:bodyPr wrap="none" lIns="0" rIns="0" tIns="0" bIns="0" anchor="t">
            <a:noAutofit/>
          </a:bodyPr>
          <a:lstStyle/>
          <a:p>
            <a:pPr>
              <a:lnSpc>
                <a:spcPts val="1885"/>
              </a:lnSpc>
              <a:spcBef>
                <a:spcPts val="0"/>
              </a:spcBef>
              <a:spcAft>
                <a:spcPts val="0"/>
              </a:spcAft>
            </a:pPr>
            <a:r>
              <a:rPr b="0" sz="1450">
                <a:solidFill>
                  <a:srgbClr val="F1F5FA"/>
                </a:solidFill>
                <a:latin typeface="DejaVu Sans"/>
              </a:rPr>
              <a:t>Cooperate across lanes</a:t>
            </a:r>
          </a:p>
          <a:p>
            <a:pPr>
              <a:lnSpc>
                <a:spcPts val="1885"/>
              </a:lnSpc>
              <a:spcBef>
                <a:spcPts val="0"/>
              </a:spcBef>
              <a:spcAft>
                <a:spcPts val="0"/>
              </a:spcAft>
            </a:pPr>
            <a:r>
              <a:rPr b="0" sz="1450">
                <a:solidFill>
                  <a:srgbClr val="F1F5FA"/>
                </a:solidFill>
                <a:latin typeface="DejaVu Sans"/>
              </a:rPr>
              <a:t>Fold eligible K partitions</a:t>
            </a:r>
          </a:p>
        </p:txBody>
      </p:sp>
      <p:sp>
        <p:nvSpPr>
          <p:cNvPr id="21" name="Rounded Rectangle 20"/>
          <p:cNvSpPr/>
          <p:nvPr/>
        </p:nvSpPr>
        <p:spPr>
          <a:xfrm>
            <a:off x="8051800" y="4578350"/>
            <a:ext cx="3429000" cy="1409700"/>
          </a:xfrm>
          <a:prstGeom prst="roundRect">
            <a:avLst>
              <a:gd name="adj" fmla="val 10810"/>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51800" y="4578350"/>
            <a:ext cx="3429000" cy="31750"/>
          </a:xfrm>
          <a:prstGeom prst="rect">
            <a:avLst/>
          </a:prstGeom>
          <a:solidFill>
            <a:srgbClr val="F1C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42300" y="4775200"/>
            <a:ext cx="3048000" cy="332740"/>
          </a:xfrm>
          <a:prstGeom prst="rect">
            <a:avLst/>
          </a:prstGeom>
          <a:noFill/>
        </p:spPr>
        <p:txBody>
          <a:bodyPr wrap="none" lIns="0" rIns="0" tIns="0" bIns="0" anchor="t">
            <a:noAutofit/>
          </a:bodyPr>
          <a:lstStyle/>
          <a:p>
            <a:pPr>
              <a:lnSpc>
                <a:spcPts val="2220"/>
              </a:lnSpc>
              <a:spcBef>
                <a:spcPts val="0"/>
              </a:spcBef>
              <a:spcAft>
                <a:spcPts val="0"/>
              </a:spcAft>
            </a:pPr>
            <a:r>
              <a:rPr b="1" sz="1850">
                <a:solidFill>
                  <a:srgbClr val="F1CC83"/>
                </a:solidFill>
                <a:latin typeface="DejaVu Sans"/>
              </a:rPr>
              <a:t>Build pipelines</a:t>
            </a:r>
          </a:p>
        </p:txBody>
      </p:sp>
      <p:sp>
        <p:nvSpPr>
          <p:cNvPr id="24" name="TextBox 23"/>
          <p:cNvSpPr txBox="1"/>
          <p:nvPr/>
        </p:nvSpPr>
        <p:spPr>
          <a:xfrm>
            <a:off x="8242300" y="5200650"/>
            <a:ext cx="3048000" cy="529590"/>
          </a:xfrm>
          <a:prstGeom prst="rect">
            <a:avLst/>
          </a:prstGeom>
          <a:noFill/>
        </p:spPr>
        <p:txBody>
          <a:bodyPr wrap="none" lIns="0" rIns="0" tIns="0" bIns="0" anchor="t">
            <a:noAutofit/>
          </a:bodyPr>
          <a:lstStyle/>
          <a:p>
            <a:pPr>
              <a:lnSpc>
                <a:spcPts val="1885"/>
              </a:lnSpc>
              <a:spcBef>
                <a:spcPts val="0"/>
              </a:spcBef>
              <a:spcAft>
                <a:spcPts val="0"/>
              </a:spcAft>
            </a:pPr>
            <a:r>
              <a:rPr b="0" sz="1450">
                <a:solidFill>
                  <a:srgbClr val="F1F5FA"/>
                </a:solidFill>
                <a:latin typeface="DejaVu Sans"/>
              </a:rPr>
              <a:t>Pack tensor operands</a:t>
            </a:r>
          </a:p>
          <a:p>
            <a:pPr>
              <a:lnSpc>
                <a:spcPts val="1885"/>
              </a:lnSpc>
              <a:spcBef>
                <a:spcPts val="0"/>
              </a:spcBef>
              <a:spcAft>
                <a:spcPts val="0"/>
              </a:spcAft>
            </a:pPr>
            <a:r>
              <a:rPr b="0" sz="1450">
                <a:solidFill>
                  <a:srgbClr val="F1F5FA"/>
                </a:solidFill>
                <a:latin typeface="DejaVu Sans"/>
              </a:rPr>
              <a:t>Stage attention weights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C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19100"/>
            <a:ext cx="304800" cy="44450"/>
          </a:xfrm>
          <a:prstGeom prst="rect">
            <a:avLst/>
          </a:prstGeom>
          <a:solidFill>
            <a:srgbClr val="5CE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336550"/>
            <a:ext cx="7937500" cy="241300"/>
          </a:xfrm>
          <a:prstGeom prst="rect">
            <a:avLst/>
          </a:prstGeom>
          <a:noFill/>
        </p:spPr>
        <p:txBody>
          <a:bodyPr wrap="none" lIns="0" rIns="0" tIns="0" bIns="0" anchor="t">
            <a:noAutofit/>
          </a:bodyPr>
          <a:lstStyle/>
          <a:p>
            <a:pPr>
              <a:lnSpc>
                <a:spcPts val="1500"/>
              </a:lnSpc>
              <a:spcBef>
                <a:spcPts val="0"/>
              </a:spcBef>
              <a:spcAft>
                <a:spcPts val="0"/>
              </a:spcAft>
            </a:pPr>
            <a:r>
              <a:rPr b="1" sz="1250">
                <a:solidFill>
                  <a:srgbClr val="5CE4BF"/>
                </a:solidFill>
                <a:latin typeface="DejaVu Sans"/>
              </a:rPr>
              <a:t>DEUTERON / COMPILER PASSES</a:t>
            </a:r>
          </a:p>
        </p:txBody>
      </p:sp>
      <p:sp>
        <p:nvSpPr>
          <p:cNvPr id="5" name="TextBox 4"/>
          <p:cNvSpPr txBox="1"/>
          <p:nvPr/>
        </p:nvSpPr>
        <p:spPr>
          <a:xfrm>
            <a:off x="10572750" y="336550"/>
            <a:ext cx="952500" cy="241300"/>
          </a:xfrm>
          <a:prstGeom prst="rect">
            <a:avLst/>
          </a:prstGeom>
          <a:noFill/>
        </p:spPr>
        <p:txBody>
          <a:bodyPr wrap="none" lIns="0" rIns="0" tIns="0" bIns="0" anchor="t">
            <a:noAutofit/>
          </a:bodyPr>
          <a:lstStyle/>
          <a:p>
            <a:pPr algn="r">
              <a:lnSpc>
                <a:spcPts val="1500"/>
              </a:lnSpc>
              <a:spcBef>
                <a:spcPts val="0"/>
              </a:spcBef>
              <a:spcAft>
                <a:spcPts val="0"/>
              </a:spcAft>
            </a:pPr>
            <a:r>
              <a:rPr b="0" sz="1250">
                <a:solidFill>
                  <a:srgbClr val="A7B8CF"/>
                </a:solidFill>
                <a:latin typeface="DejaVu Sans"/>
              </a:rPr>
              <a:t>02 / 09</a:t>
            </a:r>
          </a:p>
        </p:txBody>
      </p:sp>
      <p:cxnSp>
        <p:nvCxnSpPr>
          <p:cNvPr id="6" name="Connector 5"/>
          <p:cNvCxnSpPr/>
          <p:nvPr/>
        </p:nvCxnSpPr>
        <p:spPr>
          <a:xfrm>
            <a:off x="609600" y="6375400"/>
            <a:ext cx="10972800" cy="0"/>
          </a:xfrm>
          <a:prstGeom prst="line">
            <a:avLst/>
          </a:prstGeom>
          <a:ln w="12700">
            <a:solidFill>
              <a:srgbClr val="2C3C5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35000" y="6496050"/>
            <a:ext cx="7874000" cy="210820"/>
          </a:xfrm>
          <a:prstGeom prst="rect">
            <a:avLst/>
          </a:prstGeom>
          <a:noFill/>
        </p:spPr>
        <p:txBody>
          <a:bodyPr wrap="none" lIns="0" rIns="0" tIns="0" bIns="0" anchor="t">
            <a:noAutofit/>
          </a:bodyPr>
          <a:lstStyle/>
          <a:p>
            <a:pPr>
              <a:lnSpc>
                <a:spcPts val="1260"/>
              </a:lnSpc>
              <a:spcBef>
                <a:spcPts val="0"/>
              </a:spcBef>
              <a:spcAft>
                <a:spcPts val="0"/>
              </a:spcAft>
            </a:pPr>
            <a:r>
              <a:rPr b="0" sz="1050">
                <a:solidFill>
                  <a:srgbClr val="A7B8CF"/>
                </a:solidFill>
                <a:latin typeface="DejaVu Sans"/>
              </a:rPr>
              <a:t>compiler/build.py · compiler/analysis.py · compiler/codegen/lower.py</a:t>
            </a:r>
          </a:p>
        </p:txBody>
      </p:sp>
      <p:sp>
        <p:nvSpPr>
          <p:cNvPr id="8" name="TextBox 7"/>
          <p:cNvSpPr txBox="1"/>
          <p:nvPr/>
        </p:nvSpPr>
        <p:spPr>
          <a:xfrm>
            <a:off x="8699500" y="6496050"/>
            <a:ext cx="2857500" cy="218440"/>
          </a:xfrm>
          <a:prstGeom prst="rect">
            <a:avLst/>
          </a:prstGeom>
          <a:noFill/>
        </p:spPr>
        <p:txBody>
          <a:bodyPr wrap="none" lIns="0" rIns="0" tIns="0" bIns="0" anchor="t">
            <a:noAutofit/>
          </a:bodyPr>
          <a:lstStyle/>
          <a:p>
            <a:pPr algn="r">
              <a:lnSpc>
                <a:spcPts val="1320"/>
              </a:lnSpc>
              <a:spcBef>
                <a:spcPts val="0"/>
              </a:spcBef>
              <a:spcAft>
                <a:spcPts val="0"/>
              </a:spcAft>
            </a:pPr>
            <a:r>
              <a:rPr b="0" sz="1100">
                <a:solidFill>
                  <a:srgbClr val="A7B8CF"/>
                </a:solidFill>
                <a:latin typeface="DejaVu Sans"/>
              </a:rPr>
              <a:t>RTX 5090  /  SM120</a:t>
            </a:r>
          </a:p>
        </p:txBody>
      </p:sp>
      <p:sp>
        <p:nvSpPr>
          <p:cNvPr id="9" name="TextBox 8"/>
          <p:cNvSpPr txBox="1"/>
          <p:nvPr/>
        </p:nvSpPr>
        <p:spPr>
          <a:xfrm>
            <a:off x="685800" y="971550"/>
            <a:ext cx="10795000" cy="553720"/>
          </a:xfrm>
          <a:prstGeom prst="rect">
            <a:avLst/>
          </a:prstGeom>
          <a:noFill/>
        </p:spPr>
        <p:txBody>
          <a:bodyPr wrap="none" lIns="0" rIns="0" tIns="0" bIns="0" anchor="t">
            <a:noAutofit/>
          </a:bodyPr>
          <a:lstStyle/>
          <a:p>
            <a:pPr>
              <a:lnSpc>
                <a:spcPts val="3960"/>
              </a:lnSpc>
              <a:spcBef>
                <a:spcPts val="0"/>
              </a:spcBef>
              <a:spcAft>
                <a:spcPts val="0"/>
              </a:spcAft>
            </a:pPr>
            <a:r>
              <a:rPr b="1" sz="3300">
                <a:solidFill>
                  <a:srgbClr val="F1F5FA"/>
                </a:solidFill>
                <a:latin typeface="DejaVu Sans"/>
              </a:rPr>
              <a:t>Where our passes run</a:t>
            </a:r>
          </a:p>
        </p:txBody>
      </p:sp>
      <p:sp>
        <p:nvSpPr>
          <p:cNvPr id="10" name="TextBox 9"/>
          <p:cNvSpPr txBox="1"/>
          <p:nvPr/>
        </p:nvSpPr>
        <p:spPr>
          <a:xfrm>
            <a:off x="711200" y="1670050"/>
            <a:ext cx="10699750" cy="271780"/>
          </a:xfrm>
          <a:prstGeom prst="rect">
            <a:avLst/>
          </a:prstGeom>
          <a:noFill/>
        </p:spPr>
        <p:txBody>
          <a:bodyPr wrap="none" lIns="0" rIns="0" tIns="0" bIns="0" anchor="t">
            <a:noAutofit/>
          </a:bodyPr>
          <a:lstStyle/>
          <a:p>
            <a:pPr>
              <a:lnSpc>
                <a:spcPts val="1739"/>
              </a:lnSpc>
              <a:spcBef>
                <a:spcPts val="0"/>
              </a:spcBef>
              <a:spcAft>
                <a:spcPts val="0"/>
              </a:spcAft>
            </a:pPr>
            <a:r>
              <a:rPr b="0" sz="1450">
                <a:solidFill>
                  <a:srgbClr val="A7B8CF"/>
                </a:solidFill>
                <a:latin typeface="DejaVu Sans"/>
              </a:rPr>
              <a:t>Our contribution: structural recognizers, rewrite guards, and transformed GPU schedules.</a:t>
            </a:r>
          </a:p>
        </p:txBody>
      </p:sp>
      <p:sp>
        <p:nvSpPr>
          <p:cNvPr id="11" name="Rounded Rectangle 10"/>
          <p:cNvSpPr/>
          <p:nvPr/>
        </p:nvSpPr>
        <p:spPr>
          <a:xfrm>
            <a:off x="698500" y="2317750"/>
            <a:ext cx="2032000" cy="2152650"/>
          </a:xfrm>
          <a:prstGeom prst="roundRect">
            <a:avLst>
              <a:gd name="adj" fmla="val 7500"/>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9950" y="2514600"/>
            <a:ext cx="571500" cy="264160"/>
          </a:xfrm>
          <a:prstGeom prst="rect">
            <a:avLst/>
          </a:prstGeom>
          <a:noFill/>
        </p:spPr>
        <p:txBody>
          <a:bodyPr wrap="none" lIns="0" rIns="0" tIns="0" bIns="0" anchor="t">
            <a:noAutofit/>
          </a:bodyPr>
          <a:lstStyle/>
          <a:p>
            <a:pPr>
              <a:lnSpc>
                <a:spcPts val="1680"/>
              </a:lnSpc>
              <a:spcBef>
                <a:spcPts val="0"/>
              </a:spcBef>
              <a:spcAft>
                <a:spcPts val="0"/>
              </a:spcAft>
            </a:pPr>
            <a:r>
              <a:rPr b="1" sz="1400">
                <a:solidFill>
                  <a:srgbClr val="5CE4BF"/>
                </a:solidFill>
                <a:latin typeface="DejaVu Sans"/>
              </a:rPr>
              <a:t>01</a:t>
            </a:r>
          </a:p>
        </p:txBody>
      </p:sp>
      <p:sp>
        <p:nvSpPr>
          <p:cNvPr id="13" name="TextBox 12"/>
          <p:cNvSpPr txBox="1"/>
          <p:nvPr/>
        </p:nvSpPr>
        <p:spPr>
          <a:xfrm>
            <a:off x="869950" y="2870200"/>
            <a:ext cx="1689100" cy="317500"/>
          </a:xfrm>
          <a:prstGeom prst="rect">
            <a:avLst/>
          </a:prstGeom>
          <a:noFill/>
        </p:spPr>
        <p:txBody>
          <a:bodyPr wrap="none" lIns="0" rIns="0" tIns="0" bIns="0" anchor="t">
            <a:noAutofit/>
          </a:bodyPr>
          <a:lstStyle/>
          <a:p>
            <a:pPr>
              <a:lnSpc>
                <a:spcPts val="2100"/>
              </a:lnSpc>
              <a:spcBef>
                <a:spcPts val="0"/>
              </a:spcBef>
              <a:spcAft>
                <a:spcPts val="0"/>
              </a:spcAft>
            </a:pPr>
            <a:r>
              <a:rPr b="1" sz="1750">
                <a:solidFill>
                  <a:srgbClr val="F1F5FA"/>
                </a:solidFill>
                <a:latin typeface="DejaVu Sans"/>
              </a:rPr>
              <a:t>Validate</a:t>
            </a:r>
          </a:p>
        </p:txBody>
      </p:sp>
      <p:sp>
        <p:nvSpPr>
          <p:cNvPr id="14" name="TextBox 13"/>
          <p:cNvSpPr txBox="1"/>
          <p:nvPr/>
        </p:nvSpPr>
        <p:spPr>
          <a:xfrm>
            <a:off x="869950" y="3308350"/>
            <a:ext cx="1689100" cy="848042"/>
          </a:xfrm>
          <a:prstGeom prst="rect">
            <a:avLst/>
          </a:prstGeom>
          <a:noFill/>
        </p:spPr>
        <p:txBody>
          <a:bodyPr wrap="none" lIns="0" rIns="0" tIns="0" bIns="0" anchor="t">
            <a:noAutofit/>
          </a:bodyPr>
          <a:lstStyle/>
          <a:p>
            <a:pPr>
              <a:lnSpc>
                <a:spcPts val="2092"/>
              </a:lnSpc>
              <a:spcBef>
                <a:spcPts val="0"/>
              </a:spcBef>
              <a:spcAft>
                <a:spcPts val="0"/>
              </a:spcAft>
            </a:pPr>
            <a:r>
              <a:rPr b="0" sz="1350">
                <a:solidFill>
                  <a:srgbClr val="A7B8CF"/>
                </a:solidFill>
                <a:latin typeface="DejaVu Sans"/>
              </a:rPr>
              <a:t>Scheduled IR</a:t>
            </a:r>
          </a:p>
          <a:p>
            <a:pPr>
              <a:lnSpc>
                <a:spcPts val="2092"/>
              </a:lnSpc>
              <a:spcBef>
                <a:spcPts val="0"/>
              </a:spcBef>
              <a:spcAft>
                <a:spcPts val="0"/>
              </a:spcAft>
            </a:pPr>
            <a:r>
              <a:rPr b="0" sz="1350">
                <a:solidFill>
                  <a:srgbClr val="A7B8CF"/>
                </a:solidFill>
                <a:latin typeface="DejaVu Sans"/>
              </a:rPr>
              <a:t>+ launch metadata</a:t>
            </a:r>
          </a:p>
          <a:p>
            <a:pPr>
              <a:lnSpc>
                <a:spcPts val="2092"/>
              </a:lnSpc>
              <a:spcBef>
                <a:spcPts val="0"/>
              </a:spcBef>
              <a:spcAft>
                <a:spcPts val="0"/>
              </a:spcAft>
            </a:pPr>
            <a:r>
              <a:rPr b="0" sz="1350">
                <a:solidFill>
                  <a:srgbClr val="A7B8CF"/>
                </a:solidFill>
                <a:latin typeface="DejaVu Sans"/>
              </a:rPr>
              <a:t>Types and contract</a:t>
            </a:r>
          </a:p>
        </p:txBody>
      </p:sp>
      <p:cxnSp>
        <p:nvCxnSpPr>
          <p:cNvPr id="15" name="Connector 14"/>
          <p:cNvCxnSpPr/>
          <p:nvPr/>
        </p:nvCxnSpPr>
        <p:spPr>
          <a:xfrm>
            <a:off x="2794000" y="3352800"/>
            <a:ext cx="177800" cy="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901950" y="3289300"/>
            <a:ext cx="69850" cy="6350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901950" y="3352800"/>
            <a:ext cx="69850" cy="6350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079750" y="2317750"/>
            <a:ext cx="2984500" cy="2152650"/>
          </a:xfrm>
          <a:prstGeom prst="roundRect">
            <a:avLst>
              <a:gd name="adj" fmla="val 7079"/>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51200" y="2514600"/>
            <a:ext cx="571500" cy="264160"/>
          </a:xfrm>
          <a:prstGeom prst="rect">
            <a:avLst/>
          </a:prstGeom>
          <a:noFill/>
        </p:spPr>
        <p:txBody>
          <a:bodyPr wrap="none" lIns="0" rIns="0" tIns="0" bIns="0" anchor="t">
            <a:noAutofit/>
          </a:bodyPr>
          <a:lstStyle/>
          <a:p>
            <a:pPr>
              <a:lnSpc>
                <a:spcPts val="1680"/>
              </a:lnSpc>
              <a:spcBef>
                <a:spcPts val="0"/>
              </a:spcBef>
              <a:spcAft>
                <a:spcPts val="0"/>
              </a:spcAft>
            </a:pPr>
            <a:r>
              <a:rPr b="1" sz="1400">
                <a:solidFill>
                  <a:srgbClr val="5CE4BF"/>
                </a:solidFill>
                <a:latin typeface="DejaVu Sans"/>
              </a:rPr>
              <a:t>02</a:t>
            </a:r>
          </a:p>
        </p:txBody>
      </p:sp>
      <p:sp>
        <p:nvSpPr>
          <p:cNvPr id="20" name="TextBox 19"/>
          <p:cNvSpPr txBox="1"/>
          <p:nvPr/>
        </p:nvSpPr>
        <p:spPr>
          <a:xfrm>
            <a:off x="3251200" y="2870200"/>
            <a:ext cx="2641600" cy="317500"/>
          </a:xfrm>
          <a:prstGeom prst="rect">
            <a:avLst/>
          </a:prstGeom>
          <a:noFill/>
        </p:spPr>
        <p:txBody>
          <a:bodyPr wrap="none" lIns="0" rIns="0" tIns="0" bIns="0" anchor="t">
            <a:noAutofit/>
          </a:bodyPr>
          <a:lstStyle/>
          <a:p>
            <a:pPr>
              <a:lnSpc>
                <a:spcPts val="2100"/>
              </a:lnSpc>
              <a:spcBef>
                <a:spcPts val="0"/>
              </a:spcBef>
              <a:spcAft>
                <a:spcPts val="0"/>
              </a:spcAft>
            </a:pPr>
            <a:r>
              <a:rPr b="1" sz="1750">
                <a:solidFill>
                  <a:srgbClr val="F1F5FA"/>
                </a:solidFill>
                <a:latin typeface="DejaVu Sans"/>
              </a:rPr>
              <a:t>Rewrite</a:t>
            </a:r>
          </a:p>
        </p:txBody>
      </p:sp>
      <p:sp>
        <p:nvSpPr>
          <p:cNvPr id="21" name="TextBox 20"/>
          <p:cNvSpPr txBox="1"/>
          <p:nvPr/>
        </p:nvSpPr>
        <p:spPr>
          <a:xfrm>
            <a:off x="3251200" y="3308350"/>
            <a:ext cx="2641600" cy="582295"/>
          </a:xfrm>
          <a:prstGeom prst="rect">
            <a:avLst/>
          </a:prstGeom>
          <a:noFill/>
        </p:spPr>
        <p:txBody>
          <a:bodyPr wrap="none" lIns="0" rIns="0" tIns="0" bIns="0" anchor="t">
            <a:noAutofit/>
          </a:bodyPr>
          <a:lstStyle/>
          <a:p>
            <a:pPr>
              <a:lnSpc>
                <a:spcPts val="2092"/>
              </a:lnSpc>
              <a:spcBef>
                <a:spcPts val="0"/>
              </a:spcBef>
              <a:spcAft>
                <a:spcPts val="0"/>
              </a:spcAft>
            </a:pPr>
            <a:r>
              <a:rPr b="0" sz="1350">
                <a:solidFill>
                  <a:srgbClr val="A7B8CF"/>
                </a:solidFill>
                <a:latin typeface="DejaVu Sans"/>
              </a:rPr>
              <a:t>Vectorize → forward loads</a:t>
            </a:r>
          </a:p>
          <a:p>
            <a:pPr>
              <a:lnSpc>
                <a:spcPts val="2092"/>
              </a:lnSpc>
              <a:spcBef>
                <a:spcPts val="0"/>
              </a:spcBef>
              <a:spcAft>
                <a:spcPts val="0"/>
              </a:spcAft>
            </a:pPr>
            <a:r>
              <a:rPr b="0" sz="1350">
                <a:solidFill>
                  <a:srgbClr val="A7B8CF"/>
                </a:solidFill>
                <a:latin typeface="DejaVu Sans"/>
              </a:rPr>
              <a:t>Reorder → fold split-K</a:t>
            </a:r>
          </a:p>
        </p:txBody>
      </p:sp>
      <p:cxnSp>
        <p:nvCxnSpPr>
          <p:cNvPr id="22" name="Connector 21"/>
          <p:cNvCxnSpPr/>
          <p:nvPr/>
        </p:nvCxnSpPr>
        <p:spPr>
          <a:xfrm>
            <a:off x="6127750" y="3352800"/>
            <a:ext cx="177800" cy="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235700" y="3289300"/>
            <a:ext cx="69850" cy="6350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6235700" y="3352800"/>
            <a:ext cx="69850" cy="6350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413500" y="2317750"/>
            <a:ext cx="2317750" cy="2152650"/>
          </a:xfrm>
          <a:prstGeom prst="roundRect">
            <a:avLst>
              <a:gd name="adj" fmla="val 7079"/>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4950" y="2514600"/>
            <a:ext cx="571500" cy="264160"/>
          </a:xfrm>
          <a:prstGeom prst="rect">
            <a:avLst/>
          </a:prstGeom>
          <a:noFill/>
        </p:spPr>
        <p:txBody>
          <a:bodyPr wrap="none" lIns="0" rIns="0" tIns="0" bIns="0" anchor="t">
            <a:noAutofit/>
          </a:bodyPr>
          <a:lstStyle/>
          <a:p>
            <a:pPr>
              <a:lnSpc>
                <a:spcPts val="1680"/>
              </a:lnSpc>
              <a:spcBef>
                <a:spcPts val="0"/>
              </a:spcBef>
              <a:spcAft>
                <a:spcPts val="0"/>
              </a:spcAft>
            </a:pPr>
            <a:r>
              <a:rPr b="1" sz="1400">
                <a:solidFill>
                  <a:srgbClr val="95B4FF"/>
                </a:solidFill>
                <a:latin typeface="DejaVu Sans"/>
              </a:rPr>
              <a:t>03</a:t>
            </a:r>
          </a:p>
        </p:txBody>
      </p:sp>
      <p:sp>
        <p:nvSpPr>
          <p:cNvPr id="27" name="TextBox 26"/>
          <p:cNvSpPr txBox="1"/>
          <p:nvPr/>
        </p:nvSpPr>
        <p:spPr>
          <a:xfrm>
            <a:off x="6584950" y="2870200"/>
            <a:ext cx="1974850" cy="317500"/>
          </a:xfrm>
          <a:prstGeom prst="rect">
            <a:avLst/>
          </a:prstGeom>
          <a:noFill/>
        </p:spPr>
        <p:txBody>
          <a:bodyPr wrap="none" lIns="0" rIns="0" tIns="0" bIns="0" anchor="t">
            <a:noAutofit/>
          </a:bodyPr>
          <a:lstStyle/>
          <a:p>
            <a:pPr>
              <a:lnSpc>
                <a:spcPts val="2100"/>
              </a:lnSpc>
              <a:spcBef>
                <a:spcPts val="0"/>
              </a:spcBef>
              <a:spcAft>
                <a:spcPts val="0"/>
              </a:spcAft>
            </a:pPr>
            <a:r>
              <a:rPr b="1" sz="1750">
                <a:solidFill>
                  <a:srgbClr val="F1F5FA"/>
                </a:solidFill>
                <a:latin typeface="DejaVu Sans"/>
              </a:rPr>
              <a:t>Lower</a:t>
            </a:r>
          </a:p>
        </p:txBody>
      </p:sp>
      <p:sp>
        <p:nvSpPr>
          <p:cNvPr id="28" name="TextBox 27"/>
          <p:cNvSpPr txBox="1"/>
          <p:nvPr/>
        </p:nvSpPr>
        <p:spPr>
          <a:xfrm>
            <a:off x="6584950" y="3308350"/>
            <a:ext cx="1974850" cy="848042"/>
          </a:xfrm>
          <a:prstGeom prst="rect">
            <a:avLst/>
          </a:prstGeom>
          <a:noFill/>
        </p:spPr>
        <p:txBody>
          <a:bodyPr wrap="none" lIns="0" rIns="0" tIns="0" bIns="0" anchor="t">
            <a:noAutofit/>
          </a:bodyPr>
          <a:lstStyle/>
          <a:p>
            <a:pPr>
              <a:lnSpc>
                <a:spcPts val="2092"/>
              </a:lnSpc>
              <a:spcBef>
                <a:spcPts val="0"/>
              </a:spcBef>
              <a:spcAft>
                <a:spcPts val="0"/>
              </a:spcAft>
            </a:pPr>
            <a:r>
              <a:rPr b="0" sz="1350">
                <a:solidFill>
                  <a:srgbClr val="A7B8CF"/>
                </a:solidFill>
                <a:latin typeface="DejaVu Sans"/>
              </a:rPr>
              <a:t>Reductions</a:t>
            </a:r>
          </a:p>
          <a:p>
            <a:pPr>
              <a:lnSpc>
                <a:spcPts val="2092"/>
              </a:lnSpc>
              <a:spcBef>
                <a:spcPts val="0"/>
              </a:spcBef>
              <a:spcAft>
                <a:spcPts val="0"/>
              </a:spcAft>
            </a:pPr>
            <a:r>
              <a:rPr b="0" sz="1350">
                <a:solidFill>
                  <a:srgbClr val="A7B8CF"/>
                </a:solidFill>
                <a:latin typeface="DejaVu Sans"/>
              </a:rPr>
              <a:t>Tensor pipelines</a:t>
            </a:r>
          </a:p>
          <a:p>
            <a:pPr>
              <a:lnSpc>
                <a:spcPts val="2092"/>
              </a:lnSpc>
              <a:spcBef>
                <a:spcPts val="0"/>
              </a:spcBef>
              <a:spcAft>
                <a:spcPts val="0"/>
              </a:spcAft>
            </a:pPr>
            <a:r>
              <a:rPr b="0" sz="1350">
                <a:solidFill>
                  <a:srgbClr val="A7B8CF"/>
                </a:solidFill>
                <a:latin typeface="DejaVu Sans"/>
              </a:rPr>
              <a:t>Staged recurrences</a:t>
            </a:r>
          </a:p>
        </p:txBody>
      </p:sp>
      <p:cxnSp>
        <p:nvCxnSpPr>
          <p:cNvPr id="29" name="Connector 28"/>
          <p:cNvCxnSpPr/>
          <p:nvPr/>
        </p:nvCxnSpPr>
        <p:spPr>
          <a:xfrm>
            <a:off x="8794750" y="3352800"/>
            <a:ext cx="177800" cy="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902700" y="3289300"/>
            <a:ext cx="69850" cy="6350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8902700" y="3352800"/>
            <a:ext cx="69850" cy="6350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080500" y="2317750"/>
            <a:ext cx="2413000" cy="2152650"/>
          </a:xfrm>
          <a:prstGeom prst="roundRect">
            <a:avLst>
              <a:gd name="adj" fmla="val 7079"/>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51950" y="2514600"/>
            <a:ext cx="571500" cy="264160"/>
          </a:xfrm>
          <a:prstGeom prst="rect">
            <a:avLst/>
          </a:prstGeom>
          <a:noFill/>
        </p:spPr>
        <p:txBody>
          <a:bodyPr wrap="none" lIns="0" rIns="0" tIns="0" bIns="0" anchor="t">
            <a:noAutofit/>
          </a:bodyPr>
          <a:lstStyle/>
          <a:p>
            <a:pPr>
              <a:lnSpc>
                <a:spcPts val="1680"/>
              </a:lnSpc>
              <a:spcBef>
                <a:spcPts val="0"/>
              </a:spcBef>
              <a:spcAft>
                <a:spcPts val="0"/>
              </a:spcAft>
            </a:pPr>
            <a:r>
              <a:rPr b="1" sz="1400">
                <a:solidFill>
                  <a:srgbClr val="F1CC83"/>
                </a:solidFill>
                <a:latin typeface="DejaVu Sans"/>
              </a:rPr>
              <a:t>04</a:t>
            </a:r>
          </a:p>
        </p:txBody>
      </p:sp>
      <p:sp>
        <p:nvSpPr>
          <p:cNvPr id="34" name="TextBox 33"/>
          <p:cNvSpPr txBox="1"/>
          <p:nvPr/>
        </p:nvSpPr>
        <p:spPr>
          <a:xfrm>
            <a:off x="9251950" y="2870200"/>
            <a:ext cx="2070100" cy="317500"/>
          </a:xfrm>
          <a:prstGeom prst="rect">
            <a:avLst/>
          </a:prstGeom>
          <a:noFill/>
        </p:spPr>
        <p:txBody>
          <a:bodyPr wrap="none" lIns="0" rIns="0" tIns="0" bIns="0" anchor="t">
            <a:noAutofit/>
          </a:bodyPr>
          <a:lstStyle/>
          <a:p>
            <a:pPr>
              <a:lnSpc>
                <a:spcPts val="2100"/>
              </a:lnSpc>
              <a:spcBef>
                <a:spcPts val="0"/>
              </a:spcBef>
              <a:spcAft>
                <a:spcPts val="0"/>
              </a:spcAft>
            </a:pPr>
            <a:r>
              <a:rPr b="1" sz="1750">
                <a:solidFill>
                  <a:srgbClr val="F1F5FA"/>
                </a:solidFill>
                <a:latin typeface="DejaVu Sans"/>
              </a:rPr>
              <a:t>LLVM → PTX</a:t>
            </a:r>
          </a:p>
        </p:txBody>
      </p:sp>
      <p:sp>
        <p:nvSpPr>
          <p:cNvPr id="35" name="TextBox 34"/>
          <p:cNvSpPr txBox="1"/>
          <p:nvPr/>
        </p:nvSpPr>
        <p:spPr>
          <a:xfrm>
            <a:off x="9251950" y="3308350"/>
            <a:ext cx="2070100" cy="848042"/>
          </a:xfrm>
          <a:prstGeom prst="rect">
            <a:avLst/>
          </a:prstGeom>
          <a:noFill/>
        </p:spPr>
        <p:txBody>
          <a:bodyPr wrap="none" lIns="0" rIns="0" tIns="0" bIns="0" anchor="t">
            <a:noAutofit/>
          </a:bodyPr>
          <a:lstStyle/>
          <a:p>
            <a:pPr>
              <a:lnSpc>
                <a:spcPts val="2092"/>
              </a:lnSpc>
              <a:spcBef>
                <a:spcPts val="0"/>
              </a:spcBef>
              <a:spcAft>
                <a:spcPts val="0"/>
              </a:spcAft>
            </a:pPr>
            <a:r>
              <a:rPr b="0" sz="1350">
                <a:solidFill>
                  <a:srgbClr val="A7B8CF"/>
                </a:solidFill>
                <a:latin typeface="DejaVu Sans"/>
              </a:rPr>
              <a:t>Typed LLVM IR</a:t>
            </a:r>
          </a:p>
          <a:p>
            <a:pPr>
              <a:lnSpc>
                <a:spcPts val="2092"/>
              </a:lnSpc>
              <a:spcBef>
                <a:spcPts val="0"/>
              </a:spcBef>
              <a:spcAft>
                <a:spcPts val="0"/>
              </a:spcAft>
            </a:pPr>
            <a:r>
              <a:rPr b="0" sz="1350">
                <a:solidFill>
                  <a:srgbClr val="A7B8CF"/>
                </a:solidFill>
                <a:latin typeface="DejaVu Sans"/>
              </a:rPr>
              <a:t>LLVM optimization</a:t>
            </a:r>
          </a:p>
          <a:p>
            <a:pPr>
              <a:lnSpc>
                <a:spcPts val="2092"/>
              </a:lnSpc>
              <a:spcBef>
                <a:spcPts val="0"/>
              </a:spcBef>
              <a:spcAft>
                <a:spcPts val="0"/>
              </a:spcAft>
            </a:pPr>
            <a:r>
              <a:rPr b="0" sz="1350">
                <a:solidFill>
                  <a:srgbClr val="A7B8CF"/>
                </a:solidFill>
                <a:latin typeface="DejaVu Sans"/>
              </a:rPr>
              <a:t>NVPTX code generation</a:t>
            </a:r>
          </a:p>
        </p:txBody>
      </p:sp>
      <p:sp>
        <p:nvSpPr>
          <p:cNvPr id="36" name="TextBox 35"/>
          <p:cNvSpPr txBox="1"/>
          <p:nvPr/>
        </p:nvSpPr>
        <p:spPr>
          <a:xfrm>
            <a:off x="723900" y="4895850"/>
            <a:ext cx="10668000" cy="264160"/>
          </a:xfrm>
          <a:prstGeom prst="rect">
            <a:avLst/>
          </a:prstGeom>
          <a:noFill/>
        </p:spPr>
        <p:txBody>
          <a:bodyPr wrap="none" lIns="0" rIns="0" tIns="0" bIns="0" anchor="t">
            <a:noAutofit/>
          </a:bodyPr>
          <a:lstStyle/>
          <a:p>
            <a:pPr>
              <a:lnSpc>
                <a:spcPts val="1680"/>
              </a:lnSpc>
              <a:spcBef>
                <a:spcPts val="0"/>
              </a:spcBef>
              <a:spcAft>
                <a:spcPts val="0"/>
              </a:spcAft>
            </a:pPr>
            <a:r>
              <a:rPr b="1" sz="1400">
                <a:solidFill>
                  <a:srgbClr val="5CE4BF"/>
                </a:solidFill>
                <a:latin typeface="DejaVu Sans"/>
              </a:rPr>
              <a:t>Actual early rewrite order</a:t>
            </a:r>
          </a:p>
        </p:txBody>
      </p:sp>
      <p:sp>
        <p:nvSpPr>
          <p:cNvPr id="37" name="TextBox 36"/>
          <p:cNvSpPr txBox="1"/>
          <p:nvPr/>
        </p:nvSpPr>
        <p:spPr>
          <a:xfrm>
            <a:off x="723900" y="5232400"/>
            <a:ext cx="10668000" cy="279400"/>
          </a:xfrm>
          <a:prstGeom prst="rect">
            <a:avLst/>
          </a:prstGeom>
          <a:noFill/>
        </p:spPr>
        <p:txBody>
          <a:bodyPr wrap="none" lIns="0" rIns="0" tIns="0" bIns="0" anchor="t">
            <a:noAutofit/>
          </a:bodyPr>
          <a:lstStyle/>
          <a:p>
            <a:pPr>
              <a:lnSpc>
                <a:spcPts val="1800"/>
              </a:lnSpc>
              <a:spcBef>
                <a:spcPts val="0"/>
              </a:spcBef>
              <a:spcAft>
                <a:spcPts val="0"/>
              </a:spcAft>
            </a:pPr>
            <a:r>
              <a:rPr b="0" sz="1500">
                <a:solidFill>
                  <a:srgbClr val="F1F5FA"/>
                </a:solidFill>
                <a:latin typeface="Liberation Mono"/>
              </a:rPr>
              <a:t>vectorize.py  →  regforward.py  →  recurrence.py  →  gridfold.py</a:t>
            </a:r>
          </a:p>
        </p:txBody>
      </p:sp>
      <p:sp>
        <p:nvSpPr>
          <p:cNvPr id="38" name="TextBox 37"/>
          <p:cNvSpPr txBox="1"/>
          <p:nvPr/>
        </p:nvSpPr>
        <p:spPr>
          <a:xfrm>
            <a:off x="723900" y="5810250"/>
            <a:ext cx="10731500" cy="287020"/>
          </a:xfrm>
          <a:prstGeom prst="rect">
            <a:avLst/>
          </a:prstGeom>
          <a:noFill/>
        </p:spPr>
        <p:txBody>
          <a:bodyPr wrap="none" lIns="0" rIns="0" tIns="0" bIns="0" anchor="t">
            <a:noAutofit/>
          </a:bodyPr>
          <a:lstStyle/>
          <a:p>
            <a:pPr>
              <a:lnSpc>
                <a:spcPts val="1859"/>
              </a:lnSpc>
              <a:spcBef>
                <a:spcPts val="0"/>
              </a:spcBef>
              <a:spcAft>
                <a:spcPts val="0"/>
              </a:spcAft>
            </a:pPr>
            <a:r>
              <a:rPr b="0" sz="1550">
                <a:solidFill>
                  <a:srgbClr val="A7B8CF"/>
                </a:solidFill>
                <a:latin typeface="DejaVu Sans"/>
              </a:rPr>
              <a:t>Each rewrite checks its own indices, ownership, and lifetime conditions.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C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19100"/>
            <a:ext cx="304800" cy="44450"/>
          </a:xfrm>
          <a:prstGeom prst="rect">
            <a:avLst/>
          </a:prstGeom>
          <a:solidFill>
            <a:srgbClr val="5CE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336550"/>
            <a:ext cx="7937500" cy="241300"/>
          </a:xfrm>
          <a:prstGeom prst="rect">
            <a:avLst/>
          </a:prstGeom>
          <a:noFill/>
        </p:spPr>
        <p:txBody>
          <a:bodyPr wrap="none" lIns="0" rIns="0" tIns="0" bIns="0" anchor="t">
            <a:noAutofit/>
          </a:bodyPr>
          <a:lstStyle/>
          <a:p>
            <a:pPr>
              <a:lnSpc>
                <a:spcPts val="1500"/>
              </a:lnSpc>
              <a:spcBef>
                <a:spcPts val="0"/>
              </a:spcBef>
              <a:spcAft>
                <a:spcPts val="0"/>
              </a:spcAft>
            </a:pPr>
            <a:r>
              <a:rPr b="1" sz="1250">
                <a:solidFill>
                  <a:srgbClr val="5CE4BF"/>
                </a:solidFill>
                <a:latin typeface="DejaVu Sans"/>
              </a:rPr>
              <a:t>DEUTERON / COMPILER PASSES</a:t>
            </a:r>
          </a:p>
        </p:txBody>
      </p:sp>
      <p:sp>
        <p:nvSpPr>
          <p:cNvPr id="5" name="TextBox 4"/>
          <p:cNvSpPr txBox="1"/>
          <p:nvPr/>
        </p:nvSpPr>
        <p:spPr>
          <a:xfrm>
            <a:off x="10572750" y="336550"/>
            <a:ext cx="952500" cy="241300"/>
          </a:xfrm>
          <a:prstGeom prst="rect">
            <a:avLst/>
          </a:prstGeom>
          <a:noFill/>
        </p:spPr>
        <p:txBody>
          <a:bodyPr wrap="none" lIns="0" rIns="0" tIns="0" bIns="0" anchor="t">
            <a:noAutofit/>
          </a:bodyPr>
          <a:lstStyle/>
          <a:p>
            <a:pPr algn="r">
              <a:lnSpc>
                <a:spcPts val="1500"/>
              </a:lnSpc>
              <a:spcBef>
                <a:spcPts val="0"/>
              </a:spcBef>
              <a:spcAft>
                <a:spcPts val="0"/>
              </a:spcAft>
            </a:pPr>
            <a:r>
              <a:rPr b="0" sz="1250">
                <a:solidFill>
                  <a:srgbClr val="A7B8CF"/>
                </a:solidFill>
                <a:latin typeface="DejaVu Sans"/>
              </a:rPr>
              <a:t>03 / 09</a:t>
            </a:r>
          </a:p>
        </p:txBody>
      </p:sp>
      <p:cxnSp>
        <p:nvCxnSpPr>
          <p:cNvPr id="6" name="Connector 5"/>
          <p:cNvCxnSpPr/>
          <p:nvPr/>
        </p:nvCxnSpPr>
        <p:spPr>
          <a:xfrm>
            <a:off x="609600" y="6375400"/>
            <a:ext cx="10972800" cy="0"/>
          </a:xfrm>
          <a:prstGeom prst="line">
            <a:avLst/>
          </a:prstGeom>
          <a:ln w="12700">
            <a:solidFill>
              <a:srgbClr val="2C3C5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35000" y="6496050"/>
            <a:ext cx="7874000" cy="210820"/>
          </a:xfrm>
          <a:prstGeom prst="rect">
            <a:avLst/>
          </a:prstGeom>
          <a:noFill/>
        </p:spPr>
        <p:txBody>
          <a:bodyPr wrap="none" lIns="0" rIns="0" tIns="0" bIns="0" anchor="t">
            <a:noAutofit/>
          </a:bodyPr>
          <a:lstStyle/>
          <a:p>
            <a:pPr>
              <a:lnSpc>
                <a:spcPts val="1260"/>
              </a:lnSpc>
              <a:spcBef>
                <a:spcPts val="0"/>
              </a:spcBef>
              <a:spcAft>
                <a:spcPts val="0"/>
              </a:spcAft>
            </a:pPr>
            <a:r>
              <a:rPr b="0" sz="1050">
                <a:solidFill>
                  <a:srgbClr val="A7B8CF"/>
                </a:solidFill>
                <a:latin typeface="DejaVu Sans"/>
              </a:rPr>
              <a:t>compiler/passes/vectorize.py · compiler/passes/regforward.py · compiler/transforms.py</a:t>
            </a:r>
          </a:p>
        </p:txBody>
      </p:sp>
      <p:sp>
        <p:nvSpPr>
          <p:cNvPr id="8" name="TextBox 7"/>
          <p:cNvSpPr txBox="1"/>
          <p:nvPr/>
        </p:nvSpPr>
        <p:spPr>
          <a:xfrm>
            <a:off x="8699500" y="6496050"/>
            <a:ext cx="2857500" cy="218440"/>
          </a:xfrm>
          <a:prstGeom prst="rect">
            <a:avLst/>
          </a:prstGeom>
          <a:noFill/>
        </p:spPr>
        <p:txBody>
          <a:bodyPr wrap="none" lIns="0" rIns="0" tIns="0" bIns="0" anchor="t">
            <a:noAutofit/>
          </a:bodyPr>
          <a:lstStyle/>
          <a:p>
            <a:pPr algn="r">
              <a:lnSpc>
                <a:spcPts val="1320"/>
              </a:lnSpc>
              <a:spcBef>
                <a:spcPts val="0"/>
              </a:spcBef>
              <a:spcAft>
                <a:spcPts val="0"/>
              </a:spcAft>
            </a:pPr>
            <a:r>
              <a:rPr b="0" sz="1100">
                <a:solidFill>
                  <a:srgbClr val="A7B8CF"/>
                </a:solidFill>
                <a:latin typeface="DejaVu Sans"/>
              </a:rPr>
              <a:t>RTX 5090  /  SM120</a:t>
            </a:r>
          </a:p>
        </p:txBody>
      </p:sp>
      <p:sp>
        <p:nvSpPr>
          <p:cNvPr id="9" name="TextBox 8"/>
          <p:cNvSpPr txBox="1"/>
          <p:nvPr/>
        </p:nvSpPr>
        <p:spPr>
          <a:xfrm>
            <a:off x="685800" y="971550"/>
            <a:ext cx="10795000" cy="553720"/>
          </a:xfrm>
          <a:prstGeom prst="rect">
            <a:avLst/>
          </a:prstGeom>
          <a:noFill/>
        </p:spPr>
        <p:txBody>
          <a:bodyPr wrap="none" lIns="0" rIns="0" tIns="0" bIns="0" anchor="t">
            <a:noAutofit/>
          </a:bodyPr>
          <a:lstStyle/>
          <a:p>
            <a:pPr>
              <a:lnSpc>
                <a:spcPts val="3960"/>
              </a:lnSpc>
              <a:spcBef>
                <a:spcPts val="0"/>
              </a:spcBef>
              <a:spcAft>
                <a:spcPts val="0"/>
              </a:spcAft>
            </a:pPr>
            <a:r>
              <a:rPr b="1" sz="3300">
                <a:solidFill>
                  <a:srgbClr val="F1F5FA"/>
                </a:solidFill>
                <a:latin typeface="DejaVu Sans"/>
              </a:rPr>
              <a:t>Reuse data before reloading it</a:t>
            </a:r>
          </a:p>
        </p:txBody>
      </p:sp>
      <p:sp>
        <p:nvSpPr>
          <p:cNvPr id="10" name="TextBox 9"/>
          <p:cNvSpPr txBox="1"/>
          <p:nvPr/>
        </p:nvSpPr>
        <p:spPr>
          <a:xfrm>
            <a:off x="711200" y="1670050"/>
            <a:ext cx="10699750" cy="271780"/>
          </a:xfrm>
          <a:prstGeom prst="rect">
            <a:avLst/>
          </a:prstGeom>
          <a:noFill/>
        </p:spPr>
        <p:txBody>
          <a:bodyPr wrap="none" lIns="0" rIns="0" tIns="0" bIns="0" anchor="t">
            <a:noAutofit/>
          </a:bodyPr>
          <a:lstStyle/>
          <a:p>
            <a:pPr>
              <a:lnSpc>
                <a:spcPts val="1739"/>
              </a:lnSpc>
              <a:spcBef>
                <a:spcPts val="0"/>
              </a:spcBef>
              <a:spcAft>
                <a:spcPts val="0"/>
              </a:spcAft>
            </a:pPr>
            <a:r>
              <a:rPr b="0" sz="1450">
                <a:solidFill>
                  <a:srgbClr val="A7B8CF"/>
                </a:solidFill>
                <a:latin typeface="DejaVu Sans"/>
              </a:rPr>
              <a:t>Elementwise vectorization · Reduction load forwarding · Coalesced sum/square reduction</a:t>
            </a:r>
          </a:p>
        </p:txBody>
      </p:sp>
      <p:sp>
        <p:nvSpPr>
          <p:cNvPr id="11" name="Rounded Rectangle 10"/>
          <p:cNvSpPr/>
          <p:nvPr/>
        </p:nvSpPr>
        <p:spPr>
          <a:xfrm>
            <a:off x="698500" y="2190750"/>
            <a:ext cx="5143500" cy="1498600"/>
          </a:xfrm>
          <a:prstGeom prst="roundRect">
            <a:avLst>
              <a:gd name="adj" fmla="val 9745"/>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50000" y="2190750"/>
            <a:ext cx="5143500" cy="1498600"/>
          </a:xfrm>
          <a:prstGeom prst="roundRect">
            <a:avLst>
              <a:gd name="adj" fmla="val 9745"/>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1700" y="2387600"/>
            <a:ext cx="4699000" cy="309880"/>
          </a:xfrm>
          <a:prstGeom prst="rect">
            <a:avLst/>
          </a:prstGeom>
          <a:noFill/>
        </p:spPr>
        <p:txBody>
          <a:bodyPr wrap="none" lIns="0" rIns="0" tIns="0" bIns="0" anchor="t">
            <a:noAutofit/>
          </a:bodyPr>
          <a:lstStyle/>
          <a:p>
            <a:pPr>
              <a:lnSpc>
                <a:spcPts val="2039"/>
              </a:lnSpc>
              <a:spcBef>
                <a:spcPts val="0"/>
              </a:spcBef>
              <a:spcAft>
                <a:spcPts val="0"/>
              </a:spcAft>
            </a:pPr>
            <a:r>
              <a:rPr b="1" sz="1700">
                <a:solidFill>
                  <a:srgbClr val="A7B8CF"/>
                </a:solidFill>
                <a:latin typeface="DejaVu Sans"/>
              </a:rPr>
              <a:t>Scalar loop</a:t>
            </a:r>
          </a:p>
        </p:txBody>
      </p:sp>
      <p:sp>
        <p:nvSpPr>
          <p:cNvPr id="14" name="Rounded Rectangle 13"/>
          <p:cNvSpPr/>
          <p:nvPr/>
        </p:nvSpPr>
        <p:spPr>
          <a:xfrm>
            <a:off x="920750" y="2895600"/>
            <a:ext cx="939800" cy="444500"/>
          </a:xfrm>
          <a:prstGeom prst="roundRect">
            <a:avLst>
              <a:gd name="adj" fmla="val 14285"/>
            </a:avLst>
          </a:prstGeom>
          <a:solidFill>
            <a:srgbClr val="2C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17600" y="3009900"/>
            <a:ext cx="635000" cy="271780"/>
          </a:xfrm>
          <a:prstGeom prst="rect">
            <a:avLst/>
          </a:prstGeom>
          <a:noFill/>
        </p:spPr>
        <p:txBody>
          <a:bodyPr wrap="none" lIns="0" rIns="0" tIns="0" bIns="0" anchor="t">
            <a:noAutofit/>
          </a:bodyPr>
          <a:lstStyle/>
          <a:p>
            <a:pPr>
              <a:lnSpc>
                <a:spcPts val="1739"/>
              </a:lnSpc>
              <a:spcBef>
                <a:spcPts val="0"/>
              </a:spcBef>
              <a:spcAft>
                <a:spcPts val="0"/>
              </a:spcAft>
            </a:pPr>
            <a:r>
              <a:rPr b="0" sz="1450">
                <a:solidFill>
                  <a:srgbClr val="F1F5FA"/>
                </a:solidFill>
                <a:latin typeface="Liberation Mono"/>
              </a:rPr>
              <a:t>load</a:t>
            </a:r>
          </a:p>
        </p:txBody>
      </p:sp>
      <p:cxnSp>
        <p:nvCxnSpPr>
          <p:cNvPr id="16" name="Connector 15"/>
          <p:cNvCxnSpPr/>
          <p:nvPr/>
        </p:nvCxnSpPr>
        <p:spPr>
          <a:xfrm>
            <a:off x="1892300" y="3117850"/>
            <a:ext cx="127000" cy="0"/>
          </a:xfrm>
          <a:prstGeom prst="line">
            <a:avLst/>
          </a:prstGeom>
          <a:ln w="25400">
            <a:solidFill>
              <a:srgbClr val="A7B8C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949450" y="3054350"/>
            <a:ext cx="69850" cy="63500"/>
          </a:xfrm>
          <a:prstGeom prst="line">
            <a:avLst/>
          </a:prstGeom>
          <a:ln w="25400">
            <a:solidFill>
              <a:srgbClr val="A7B8C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949450" y="3117850"/>
            <a:ext cx="69850" cy="63500"/>
          </a:xfrm>
          <a:prstGeom prst="line">
            <a:avLst/>
          </a:prstGeom>
          <a:ln w="25400">
            <a:solidFill>
              <a:srgbClr val="A7B8CF"/>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070100" y="2895600"/>
            <a:ext cx="939800" cy="444500"/>
          </a:xfrm>
          <a:prstGeom prst="roundRect">
            <a:avLst>
              <a:gd name="adj" fmla="val 14285"/>
            </a:avLst>
          </a:prstGeom>
          <a:solidFill>
            <a:srgbClr val="2C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66950" y="3009900"/>
            <a:ext cx="635000" cy="271780"/>
          </a:xfrm>
          <a:prstGeom prst="rect">
            <a:avLst/>
          </a:prstGeom>
          <a:noFill/>
        </p:spPr>
        <p:txBody>
          <a:bodyPr wrap="none" lIns="0" rIns="0" tIns="0" bIns="0" anchor="t">
            <a:noAutofit/>
          </a:bodyPr>
          <a:lstStyle/>
          <a:p>
            <a:pPr>
              <a:lnSpc>
                <a:spcPts val="1739"/>
              </a:lnSpc>
              <a:spcBef>
                <a:spcPts val="0"/>
              </a:spcBef>
              <a:spcAft>
                <a:spcPts val="0"/>
              </a:spcAft>
            </a:pPr>
            <a:r>
              <a:rPr b="0" sz="1450">
                <a:solidFill>
                  <a:srgbClr val="F1F5FA"/>
                </a:solidFill>
                <a:latin typeface="Liberation Mono"/>
              </a:rPr>
              <a:t>load</a:t>
            </a:r>
          </a:p>
        </p:txBody>
      </p:sp>
      <p:cxnSp>
        <p:nvCxnSpPr>
          <p:cNvPr id="21" name="Connector 20"/>
          <p:cNvCxnSpPr/>
          <p:nvPr/>
        </p:nvCxnSpPr>
        <p:spPr>
          <a:xfrm>
            <a:off x="3041650" y="3117850"/>
            <a:ext cx="127000" cy="0"/>
          </a:xfrm>
          <a:prstGeom prst="line">
            <a:avLst/>
          </a:prstGeom>
          <a:ln w="25400">
            <a:solidFill>
              <a:srgbClr val="A7B8C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098800" y="3054350"/>
            <a:ext cx="69850" cy="63500"/>
          </a:xfrm>
          <a:prstGeom prst="line">
            <a:avLst/>
          </a:prstGeom>
          <a:ln w="25400">
            <a:solidFill>
              <a:srgbClr val="A7B8C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3098800" y="3117850"/>
            <a:ext cx="69850" cy="63500"/>
          </a:xfrm>
          <a:prstGeom prst="line">
            <a:avLst/>
          </a:prstGeom>
          <a:ln w="25400">
            <a:solidFill>
              <a:srgbClr val="A7B8CF"/>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3219450" y="2895600"/>
            <a:ext cx="939800" cy="444500"/>
          </a:xfrm>
          <a:prstGeom prst="roundRect">
            <a:avLst>
              <a:gd name="adj" fmla="val 14285"/>
            </a:avLst>
          </a:prstGeom>
          <a:solidFill>
            <a:srgbClr val="2C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16300" y="3009900"/>
            <a:ext cx="635000" cy="271780"/>
          </a:xfrm>
          <a:prstGeom prst="rect">
            <a:avLst/>
          </a:prstGeom>
          <a:noFill/>
        </p:spPr>
        <p:txBody>
          <a:bodyPr wrap="none" lIns="0" rIns="0" tIns="0" bIns="0" anchor="t">
            <a:noAutofit/>
          </a:bodyPr>
          <a:lstStyle/>
          <a:p>
            <a:pPr>
              <a:lnSpc>
                <a:spcPts val="1739"/>
              </a:lnSpc>
              <a:spcBef>
                <a:spcPts val="0"/>
              </a:spcBef>
              <a:spcAft>
                <a:spcPts val="0"/>
              </a:spcAft>
            </a:pPr>
            <a:r>
              <a:rPr b="0" sz="1450">
                <a:solidFill>
                  <a:srgbClr val="F1F5FA"/>
                </a:solidFill>
                <a:latin typeface="Liberation Mono"/>
              </a:rPr>
              <a:t>load</a:t>
            </a:r>
          </a:p>
        </p:txBody>
      </p:sp>
      <p:cxnSp>
        <p:nvCxnSpPr>
          <p:cNvPr id="26" name="Connector 25"/>
          <p:cNvCxnSpPr/>
          <p:nvPr/>
        </p:nvCxnSpPr>
        <p:spPr>
          <a:xfrm>
            <a:off x="4191000" y="3117850"/>
            <a:ext cx="127000" cy="0"/>
          </a:xfrm>
          <a:prstGeom prst="line">
            <a:avLst/>
          </a:prstGeom>
          <a:ln w="25400">
            <a:solidFill>
              <a:srgbClr val="A7B8C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248150" y="3054350"/>
            <a:ext cx="69850" cy="63500"/>
          </a:xfrm>
          <a:prstGeom prst="line">
            <a:avLst/>
          </a:prstGeom>
          <a:ln w="25400">
            <a:solidFill>
              <a:srgbClr val="A7B8C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4248150" y="3117850"/>
            <a:ext cx="69850" cy="63500"/>
          </a:xfrm>
          <a:prstGeom prst="line">
            <a:avLst/>
          </a:prstGeom>
          <a:ln w="25400">
            <a:solidFill>
              <a:srgbClr val="A7B8CF"/>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368800" y="2895600"/>
            <a:ext cx="939800" cy="444500"/>
          </a:xfrm>
          <a:prstGeom prst="roundRect">
            <a:avLst>
              <a:gd name="adj" fmla="val 14285"/>
            </a:avLst>
          </a:prstGeom>
          <a:solidFill>
            <a:srgbClr val="2C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65650" y="3009900"/>
            <a:ext cx="635000" cy="271780"/>
          </a:xfrm>
          <a:prstGeom prst="rect">
            <a:avLst/>
          </a:prstGeom>
          <a:noFill/>
        </p:spPr>
        <p:txBody>
          <a:bodyPr wrap="none" lIns="0" rIns="0" tIns="0" bIns="0" anchor="t">
            <a:noAutofit/>
          </a:bodyPr>
          <a:lstStyle/>
          <a:p>
            <a:pPr>
              <a:lnSpc>
                <a:spcPts val="1739"/>
              </a:lnSpc>
              <a:spcBef>
                <a:spcPts val="0"/>
              </a:spcBef>
              <a:spcAft>
                <a:spcPts val="0"/>
              </a:spcAft>
            </a:pPr>
            <a:r>
              <a:rPr b="0" sz="1450">
                <a:solidFill>
                  <a:srgbClr val="F1F5FA"/>
                </a:solidFill>
                <a:latin typeface="Liberation Mono"/>
              </a:rPr>
              <a:t>load</a:t>
            </a:r>
          </a:p>
        </p:txBody>
      </p:sp>
      <p:sp>
        <p:nvSpPr>
          <p:cNvPr id="31" name="TextBox 30"/>
          <p:cNvSpPr txBox="1"/>
          <p:nvPr/>
        </p:nvSpPr>
        <p:spPr>
          <a:xfrm>
            <a:off x="6553200" y="2387600"/>
            <a:ext cx="4724400" cy="309880"/>
          </a:xfrm>
          <a:prstGeom prst="rect">
            <a:avLst/>
          </a:prstGeom>
          <a:noFill/>
        </p:spPr>
        <p:txBody>
          <a:bodyPr wrap="none" lIns="0" rIns="0" tIns="0" bIns="0" anchor="t">
            <a:noAutofit/>
          </a:bodyPr>
          <a:lstStyle/>
          <a:p>
            <a:pPr>
              <a:lnSpc>
                <a:spcPts val="2039"/>
              </a:lnSpc>
              <a:spcBef>
                <a:spcPts val="0"/>
              </a:spcBef>
              <a:spcAft>
                <a:spcPts val="0"/>
              </a:spcAft>
            </a:pPr>
            <a:r>
              <a:rPr b="1" sz="1700">
                <a:solidFill>
                  <a:srgbClr val="5CE4BF"/>
                </a:solidFill>
                <a:latin typeface="DejaVu Sans"/>
              </a:rPr>
              <a:t>Four contiguous values per lane</a:t>
            </a:r>
          </a:p>
        </p:txBody>
      </p:sp>
      <p:sp>
        <p:nvSpPr>
          <p:cNvPr id="32" name="Rounded Rectangle 31"/>
          <p:cNvSpPr/>
          <p:nvPr/>
        </p:nvSpPr>
        <p:spPr>
          <a:xfrm>
            <a:off x="6610350" y="2895600"/>
            <a:ext cx="1047750" cy="444500"/>
          </a:xfrm>
          <a:prstGeom prst="roundRect">
            <a:avLst>
              <a:gd name="adj" fmla="val 11428"/>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97700" y="3009900"/>
            <a:ext cx="508000" cy="279400"/>
          </a:xfrm>
          <a:prstGeom prst="rect">
            <a:avLst/>
          </a:prstGeom>
          <a:noFill/>
        </p:spPr>
        <p:txBody>
          <a:bodyPr wrap="none" lIns="0" rIns="0" tIns="0" bIns="0" anchor="t">
            <a:noAutofit/>
          </a:bodyPr>
          <a:lstStyle/>
          <a:p>
            <a:pPr>
              <a:lnSpc>
                <a:spcPts val="1800"/>
              </a:lnSpc>
              <a:spcBef>
                <a:spcPts val="0"/>
              </a:spcBef>
              <a:spcAft>
                <a:spcPts val="0"/>
              </a:spcAft>
            </a:pPr>
            <a:r>
              <a:rPr b="0" sz="1500">
                <a:solidFill>
                  <a:srgbClr val="5CE4BF"/>
                </a:solidFill>
                <a:latin typeface="Liberation Mono"/>
              </a:rPr>
              <a:t>x0</a:t>
            </a:r>
          </a:p>
        </p:txBody>
      </p:sp>
      <p:sp>
        <p:nvSpPr>
          <p:cNvPr id="34" name="Rounded Rectangle 33"/>
          <p:cNvSpPr/>
          <p:nvPr/>
        </p:nvSpPr>
        <p:spPr>
          <a:xfrm>
            <a:off x="7708900" y="2895600"/>
            <a:ext cx="1047750" cy="444500"/>
          </a:xfrm>
          <a:prstGeom prst="roundRect">
            <a:avLst>
              <a:gd name="adj" fmla="val 11428"/>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96250" y="3009900"/>
            <a:ext cx="508000" cy="279400"/>
          </a:xfrm>
          <a:prstGeom prst="rect">
            <a:avLst/>
          </a:prstGeom>
          <a:noFill/>
        </p:spPr>
        <p:txBody>
          <a:bodyPr wrap="none" lIns="0" rIns="0" tIns="0" bIns="0" anchor="t">
            <a:noAutofit/>
          </a:bodyPr>
          <a:lstStyle/>
          <a:p>
            <a:pPr>
              <a:lnSpc>
                <a:spcPts val="1800"/>
              </a:lnSpc>
              <a:spcBef>
                <a:spcPts val="0"/>
              </a:spcBef>
              <a:spcAft>
                <a:spcPts val="0"/>
              </a:spcAft>
            </a:pPr>
            <a:r>
              <a:rPr b="0" sz="1500">
                <a:solidFill>
                  <a:srgbClr val="5CE4BF"/>
                </a:solidFill>
                <a:latin typeface="Liberation Mono"/>
              </a:rPr>
              <a:t>x1</a:t>
            </a:r>
          </a:p>
        </p:txBody>
      </p:sp>
      <p:sp>
        <p:nvSpPr>
          <p:cNvPr id="36" name="Rounded Rectangle 35"/>
          <p:cNvSpPr/>
          <p:nvPr/>
        </p:nvSpPr>
        <p:spPr>
          <a:xfrm>
            <a:off x="8807450" y="2895600"/>
            <a:ext cx="1047750" cy="444500"/>
          </a:xfrm>
          <a:prstGeom prst="roundRect">
            <a:avLst>
              <a:gd name="adj" fmla="val 11428"/>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94800" y="3009900"/>
            <a:ext cx="508000" cy="279400"/>
          </a:xfrm>
          <a:prstGeom prst="rect">
            <a:avLst/>
          </a:prstGeom>
          <a:noFill/>
        </p:spPr>
        <p:txBody>
          <a:bodyPr wrap="none" lIns="0" rIns="0" tIns="0" bIns="0" anchor="t">
            <a:noAutofit/>
          </a:bodyPr>
          <a:lstStyle/>
          <a:p>
            <a:pPr>
              <a:lnSpc>
                <a:spcPts val="1800"/>
              </a:lnSpc>
              <a:spcBef>
                <a:spcPts val="0"/>
              </a:spcBef>
              <a:spcAft>
                <a:spcPts val="0"/>
              </a:spcAft>
            </a:pPr>
            <a:r>
              <a:rPr b="0" sz="1500">
                <a:solidFill>
                  <a:srgbClr val="5CE4BF"/>
                </a:solidFill>
                <a:latin typeface="Liberation Mono"/>
              </a:rPr>
              <a:t>x2</a:t>
            </a:r>
          </a:p>
        </p:txBody>
      </p:sp>
      <p:sp>
        <p:nvSpPr>
          <p:cNvPr id="38" name="Rounded Rectangle 37"/>
          <p:cNvSpPr/>
          <p:nvPr/>
        </p:nvSpPr>
        <p:spPr>
          <a:xfrm>
            <a:off x="9906000" y="2895600"/>
            <a:ext cx="1047750" cy="444500"/>
          </a:xfrm>
          <a:prstGeom prst="roundRect">
            <a:avLst>
              <a:gd name="adj" fmla="val 11428"/>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93350" y="3009900"/>
            <a:ext cx="508000" cy="279400"/>
          </a:xfrm>
          <a:prstGeom prst="rect">
            <a:avLst/>
          </a:prstGeom>
          <a:noFill/>
        </p:spPr>
        <p:txBody>
          <a:bodyPr wrap="none" lIns="0" rIns="0" tIns="0" bIns="0" anchor="t">
            <a:noAutofit/>
          </a:bodyPr>
          <a:lstStyle/>
          <a:p>
            <a:pPr>
              <a:lnSpc>
                <a:spcPts val="1800"/>
              </a:lnSpc>
              <a:spcBef>
                <a:spcPts val="0"/>
              </a:spcBef>
              <a:spcAft>
                <a:spcPts val="0"/>
              </a:spcAft>
            </a:pPr>
            <a:r>
              <a:rPr b="0" sz="1500">
                <a:solidFill>
                  <a:srgbClr val="5CE4BF"/>
                </a:solidFill>
                <a:latin typeface="Liberation Mono"/>
              </a:rPr>
              <a:t>x3</a:t>
            </a:r>
          </a:p>
        </p:txBody>
      </p:sp>
      <p:sp>
        <p:nvSpPr>
          <p:cNvPr id="40" name="Rounded Rectangle 39"/>
          <p:cNvSpPr/>
          <p:nvPr/>
        </p:nvSpPr>
        <p:spPr>
          <a:xfrm>
            <a:off x="698500" y="4013200"/>
            <a:ext cx="5143500" cy="1530350"/>
          </a:xfrm>
          <a:prstGeom prst="roundRect">
            <a:avLst>
              <a:gd name="adj" fmla="val 9543"/>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01700" y="4197350"/>
            <a:ext cx="4718050" cy="302260"/>
          </a:xfrm>
          <a:prstGeom prst="rect">
            <a:avLst/>
          </a:prstGeom>
          <a:noFill/>
        </p:spPr>
        <p:txBody>
          <a:bodyPr wrap="none" lIns="0" rIns="0" tIns="0" bIns="0" anchor="t">
            <a:noAutofit/>
          </a:bodyPr>
          <a:lstStyle/>
          <a:p>
            <a:pPr>
              <a:lnSpc>
                <a:spcPts val="1980"/>
              </a:lnSpc>
              <a:spcBef>
                <a:spcPts val="0"/>
              </a:spcBef>
              <a:spcAft>
                <a:spcPts val="0"/>
              </a:spcAft>
            </a:pPr>
            <a:r>
              <a:rPr b="1" sz="1650">
                <a:solidFill>
                  <a:srgbClr val="5CE4BF"/>
                </a:solidFill>
                <a:latin typeface="DejaVu Sans"/>
              </a:rPr>
              <a:t>Reduction load forwarding</a:t>
            </a:r>
          </a:p>
        </p:txBody>
      </p:sp>
      <p:sp>
        <p:nvSpPr>
          <p:cNvPr id="42" name="TextBox 41"/>
          <p:cNvSpPr txBox="1"/>
          <p:nvPr/>
        </p:nvSpPr>
        <p:spPr>
          <a:xfrm>
            <a:off x="901700" y="4679950"/>
            <a:ext cx="4718050" cy="287020"/>
          </a:xfrm>
          <a:prstGeom prst="rect">
            <a:avLst/>
          </a:prstGeom>
          <a:noFill/>
        </p:spPr>
        <p:txBody>
          <a:bodyPr wrap="none" lIns="0" rIns="0" tIns="0" bIns="0" anchor="t">
            <a:noAutofit/>
          </a:bodyPr>
          <a:lstStyle/>
          <a:p>
            <a:pPr>
              <a:lnSpc>
                <a:spcPts val="1859"/>
              </a:lnSpc>
              <a:spcBef>
                <a:spcPts val="0"/>
              </a:spcBef>
              <a:spcAft>
                <a:spcPts val="0"/>
              </a:spcAft>
            </a:pPr>
            <a:r>
              <a:rPr b="0" sz="1550">
                <a:solidFill>
                  <a:srgbClr val="F1F5FA"/>
                </a:solidFill>
                <a:latin typeface="DejaVu Sans"/>
              </a:rPr>
              <a:t>load vector → reduce → consumer</a:t>
            </a:r>
          </a:p>
        </p:txBody>
      </p:sp>
      <p:sp>
        <p:nvSpPr>
          <p:cNvPr id="43" name="TextBox 42"/>
          <p:cNvSpPr txBox="1"/>
          <p:nvPr/>
        </p:nvSpPr>
        <p:spPr>
          <a:xfrm>
            <a:off x="901700" y="5086350"/>
            <a:ext cx="4718050" cy="264160"/>
          </a:xfrm>
          <a:prstGeom prst="rect">
            <a:avLst/>
          </a:prstGeom>
          <a:noFill/>
        </p:spPr>
        <p:txBody>
          <a:bodyPr wrap="none" lIns="0" rIns="0" tIns="0" bIns="0" anchor="t">
            <a:noAutofit/>
          </a:bodyPr>
          <a:lstStyle/>
          <a:p>
            <a:pPr>
              <a:lnSpc>
                <a:spcPts val="1680"/>
              </a:lnSpc>
              <a:spcBef>
                <a:spcPts val="0"/>
              </a:spcBef>
              <a:spcAft>
                <a:spcPts val="0"/>
              </a:spcAft>
            </a:pPr>
            <a:r>
              <a:rPr b="0" sz="1400">
                <a:solidFill>
                  <a:srgbClr val="A7B8CF"/>
                </a:solidFill>
                <a:latin typeface="DejaVu Sans"/>
              </a:rPr>
              <a:t>Reuse the same registers; skip the reload.</a:t>
            </a:r>
          </a:p>
        </p:txBody>
      </p:sp>
      <p:sp>
        <p:nvSpPr>
          <p:cNvPr id="44" name="Rounded Rectangle 43"/>
          <p:cNvSpPr/>
          <p:nvPr/>
        </p:nvSpPr>
        <p:spPr>
          <a:xfrm>
            <a:off x="6350000" y="4013200"/>
            <a:ext cx="5143500" cy="1530350"/>
          </a:xfrm>
          <a:prstGeom prst="roundRect">
            <a:avLst>
              <a:gd name="adj" fmla="val 9543"/>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53200" y="4197350"/>
            <a:ext cx="4724400" cy="294640"/>
          </a:xfrm>
          <a:prstGeom prst="rect">
            <a:avLst/>
          </a:prstGeom>
          <a:noFill/>
        </p:spPr>
        <p:txBody>
          <a:bodyPr wrap="none" lIns="0" rIns="0" tIns="0" bIns="0" anchor="t">
            <a:noAutofit/>
          </a:bodyPr>
          <a:lstStyle/>
          <a:p>
            <a:pPr>
              <a:lnSpc>
                <a:spcPts val="1920"/>
              </a:lnSpc>
              <a:spcBef>
                <a:spcPts val="0"/>
              </a:spcBef>
              <a:spcAft>
                <a:spcPts val="0"/>
              </a:spcAft>
            </a:pPr>
            <a:r>
              <a:rPr b="1" sz="1600">
                <a:solidFill>
                  <a:srgbClr val="95B4FF"/>
                </a:solidFill>
                <a:latin typeface="DejaVu Sans"/>
              </a:rPr>
              <a:t>Coalesced sum/square reduction</a:t>
            </a:r>
          </a:p>
        </p:txBody>
      </p:sp>
      <p:sp>
        <p:nvSpPr>
          <p:cNvPr id="46" name="TextBox 45"/>
          <p:cNvSpPr txBox="1"/>
          <p:nvPr/>
        </p:nvSpPr>
        <p:spPr>
          <a:xfrm>
            <a:off x="6553200" y="4654550"/>
            <a:ext cx="4724400" cy="641350"/>
          </a:xfrm>
          <a:prstGeom prst="rect">
            <a:avLst/>
          </a:prstGeom>
          <a:noFill/>
        </p:spPr>
        <p:txBody>
          <a:bodyPr wrap="none" lIns="0" rIns="0" tIns="0" bIns="0" anchor="t">
            <a:noAutofit/>
          </a:bodyPr>
          <a:lstStyle/>
          <a:p>
            <a:pPr>
              <a:lnSpc>
                <a:spcPts val="2325"/>
              </a:lnSpc>
              <a:spcBef>
                <a:spcPts val="0"/>
              </a:spcBef>
              <a:spcAft>
                <a:spcPts val="0"/>
              </a:spcAft>
            </a:pPr>
            <a:r>
              <a:rPr b="0" sz="1550">
                <a:solidFill>
                  <a:srgbClr val="F1F5FA"/>
                </a:solidFill>
                <a:latin typeface="DejaVu Sans"/>
              </a:rPr>
              <a:t>Contiguous load batches</a:t>
            </a:r>
          </a:p>
          <a:p>
            <a:pPr>
              <a:lnSpc>
                <a:spcPts val="2325"/>
              </a:lnSpc>
              <a:spcBef>
                <a:spcPts val="0"/>
              </a:spcBef>
              <a:spcAft>
                <a:spcPts val="0"/>
              </a:spcAft>
            </a:pPr>
            <a:r>
              <a:rPr b="0" sz="1550">
                <a:solidFill>
                  <a:srgbClr val="F1F5FA"/>
                </a:solidFill>
                <a:latin typeface="DejaVu Sans"/>
              </a:rPr>
              <a:t>Long loops: independent accumulators</a:t>
            </a:r>
          </a:p>
        </p:txBody>
      </p:sp>
      <p:sp>
        <p:nvSpPr>
          <p:cNvPr id="47" name="TextBox 46"/>
          <p:cNvSpPr txBox="1"/>
          <p:nvPr/>
        </p:nvSpPr>
        <p:spPr>
          <a:xfrm>
            <a:off x="723900" y="5911850"/>
            <a:ext cx="10731500" cy="256540"/>
          </a:xfrm>
          <a:prstGeom prst="rect">
            <a:avLst/>
          </a:prstGeom>
          <a:noFill/>
        </p:spPr>
        <p:txBody>
          <a:bodyPr wrap="none" lIns="0" rIns="0" tIns="0" bIns="0" anchor="t">
            <a:noAutofit/>
          </a:bodyPr>
          <a:lstStyle/>
          <a:p>
            <a:pPr>
              <a:lnSpc>
                <a:spcPts val="1620"/>
              </a:lnSpc>
              <a:spcBef>
                <a:spcPts val="0"/>
              </a:spcBef>
              <a:spcAft>
                <a:spcPts val="0"/>
              </a:spcAft>
            </a:pPr>
            <a:r>
              <a:rPr b="0" sz="1350">
                <a:solidFill>
                  <a:srgbClr val="A7B8CF"/>
                </a:solidFill>
                <a:latin typeface="DejaVu Sans"/>
              </a:rPr>
              <a:t>Pass-specific guards: matching indices · readonly inputs · closed lifetimes · complete coverage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C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19100"/>
            <a:ext cx="304800" cy="44450"/>
          </a:xfrm>
          <a:prstGeom prst="rect">
            <a:avLst/>
          </a:prstGeom>
          <a:solidFill>
            <a:srgbClr val="5CE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336550"/>
            <a:ext cx="7937500" cy="241300"/>
          </a:xfrm>
          <a:prstGeom prst="rect">
            <a:avLst/>
          </a:prstGeom>
          <a:noFill/>
        </p:spPr>
        <p:txBody>
          <a:bodyPr wrap="none" lIns="0" rIns="0" tIns="0" bIns="0" anchor="t">
            <a:noAutofit/>
          </a:bodyPr>
          <a:lstStyle/>
          <a:p>
            <a:pPr>
              <a:lnSpc>
                <a:spcPts val="1500"/>
              </a:lnSpc>
              <a:spcBef>
                <a:spcPts val="0"/>
              </a:spcBef>
              <a:spcAft>
                <a:spcPts val="0"/>
              </a:spcAft>
            </a:pPr>
            <a:r>
              <a:rPr b="1" sz="1250">
                <a:solidFill>
                  <a:srgbClr val="5CE4BF"/>
                </a:solidFill>
                <a:latin typeface="DejaVu Sans"/>
              </a:rPr>
              <a:t>DEUTERON / COMPILER PASSES</a:t>
            </a:r>
          </a:p>
        </p:txBody>
      </p:sp>
      <p:sp>
        <p:nvSpPr>
          <p:cNvPr id="5" name="TextBox 4"/>
          <p:cNvSpPr txBox="1"/>
          <p:nvPr/>
        </p:nvSpPr>
        <p:spPr>
          <a:xfrm>
            <a:off x="10572750" y="336550"/>
            <a:ext cx="952500" cy="241300"/>
          </a:xfrm>
          <a:prstGeom prst="rect">
            <a:avLst/>
          </a:prstGeom>
          <a:noFill/>
        </p:spPr>
        <p:txBody>
          <a:bodyPr wrap="none" lIns="0" rIns="0" tIns="0" bIns="0" anchor="t">
            <a:noAutofit/>
          </a:bodyPr>
          <a:lstStyle/>
          <a:p>
            <a:pPr algn="r">
              <a:lnSpc>
                <a:spcPts val="1500"/>
              </a:lnSpc>
              <a:spcBef>
                <a:spcPts val="0"/>
              </a:spcBef>
              <a:spcAft>
                <a:spcPts val="0"/>
              </a:spcAft>
            </a:pPr>
            <a:r>
              <a:rPr b="0" sz="1250">
                <a:solidFill>
                  <a:srgbClr val="A7B8CF"/>
                </a:solidFill>
                <a:latin typeface="DejaVu Sans"/>
              </a:rPr>
              <a:t>04 / 09</a:t>
            </a:r>
          </a:p>
        </p:txBody>
      </p:sp>
      <p:cxnSp>
        <p:nvCxnSpPr>
          <p:cNvPr id="6" name="Connector 5"/>
          <p:cNvCxnSpPr/>
          <p:nvPr/>
        </p:nvCxnSpPr>
        <p:spPr>
          <a:xfrm>
            <a:off x="609600" y="6375400"/>
            <a:ext cx="10972800" cy="0"/>
          </a:xfrm>
          <a:prstGeom prst="line">
            <a:avLst/>
          </a:prstGeom>
          <a:ln w="12700">
            <a:solidFill>
              <a:srgbClr val="2C3C5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35000" y="6496050"/>
            <a:ext cx="7874000" cy="210820"/>
          </a:xfrm>
          <a:prstGeom prst="rect">
            <a:avLst/>
          </a:prstGeom>
          <a:noFill/>
        </p:spPr>
        <p:txBody>
          <a:bodyPr wrap="none" lIns="0" rIns="0" tIns="0" bIns="0" anchor="t">
            <a:noAutofit/>
          </a:bodyPr>
          <a:lstStyle/>
          <a:p>
            <a:pPr>
              <a:lnSpc>
                <a:spcPts val="1260"/>
              </a:lnSpc>
              <a:spcBef>
                <a:spcPts val="0"/>
              </a:spcBef>
              <a:spcAft>
                <a:spcPts val="0"/>
              </a:spcAft>
            </a:pPr>
            <a:r>
              <a:rPr b="0" sz="1050">
                <a:solidFill>
                  <a:srgbClr val="A7B8CF"/>
                </a:solidFill>
                <a:latin typeface="DejaVu Sans"/>
              </a:rPr>
              <a:t>compiler/transforms.py · compiler/passes/tailtree.py · compiler/passes/gridfold.py</a:t>
            </a:r>
          </a:p>
        </p:txBody>
      </p:sp>
      <p:sp>
        <p:nvSpPr>
          <p:cNvPr id="8" name="TextBox 7"/>
          <p:cNvSpPr txBox="1"/>
          <p:nvPr/>
        </p:nvSpPr>
        <p:spPr>
          <a:xfrm>
            <a:off x="8699500" y="6496050"/>
            <a:ext cx="2857500" cy="218440"/>
          </a:xfrm>
          <a:prstGeom prst="rect">
            <a:avLst/>
          </a:prstGeom>
          <a:noFill/>
        </p:spPr>
        <p:txBody>
          <a:bodyPr wrap="none" lIns="0" rIns="0" tIns="0" bIns="0" anchor="t">
            <a:noAutofit/>
          </a:bodyPr>
          <a:lstStyle/>
          <a:p>
            <a:pPr algn="r">
              <a:lnSpc>
                <a:spcPts val="1320"/>
              </a:lnSpc>
              <a:spcBef>
                <a:spcPts val="0"/>
              </a:spcBef>
              <a:spcAft>
                <a:spcPts val="0"/>
              </a:spcAft>
            </a:pPr>
            <a:r>
              <a:rPr b="0" sz="1100">
                <a:solidFill>
                  <a:srgbClr val="A7B8CF"/>
                </a:solidFill>
                <a:latin typeface="DejaVu Sans"/>
              </a:rPr>
              <a:t>RTX 5090  /  SM120</a:t>
            </a:r>
          </a:p>
        </p:txBody>
      </p:sp>
      <p:sp>
        <p:nvSpPr>
          <p:cNvPr id="9" name="TextBox 8"/>
          <p:cNvSpPr txBox="1"/>
          <p:nvPr/>
        </p:nvSpPr>
        <p:spPr>
          <a:xfrm>
            <a:off x="685800" y="971550"/>
            <a:ext cx="10795000" cy="553720"/>
          </a:xfrm>
          <a:prstGeom prst="rect">
            <a:avLst/>
          </a:prstGeom>
          <a:noFill/>
        </p:spPr>
        <p:txBody>
          <a:bodyPr wrap="none" lIns="0" rIns="0" tIns="0" bIns="0" anchor="t">
            <a:noAutofit/>
          </a:bodyPr>
          <a:lstStyle/>
          <a:p>
            <a:pPr>
              <a:lnSpc>
                <a:spcPts val="3960"/>
              </a:lnSpc>
              <a:spcBef>
                <a:spcPts val="0"/>
              </a:spcBef>
              <a:spcAft>
                <a:spcPts val="0"/>
              </a:spcAft>
            </a:pPr>
            <a:r>
              <a:rPr b="1" sz="3300">
                <a:solidFill>
                  <a:srgbClr val="F1F5FA"/>
                </a:solidFill>
                <a:latin typeface="DejaVu Sans"/>
              </a:rPr>
              <a:t>Reshape parallel work</a:t>
            </a:r>
          </a:p>
        </p:txBody>
      </p:sp>
      <p:sp>
        <p:nvSpPr>
          <p:cNvPr id="10" name="TextBox 9"/>
          <p:cNvSpPr txBox="1"/>
          <p:nvPr/>
        </p:nvSpPr>
        <p:spPr>
          <a:xfrm>
            <a:off x="711200" y="1670050"/>
            <a:ext cx="10699750" cy="271780"/>
          </a:xfrm>
          <a:prstGeom prst="rect">
            <a:avLst/>
          </a:prstGeom>
          <a:noFill/>
        </p:spPr>
        <p:txBody>
          <a:bodyPr wrap="none" lIns="0" rIns="0" tIns="0" bIns="0" anchor="t">
            <a:noAutofit/>
          </a:bodyPr>
          <a:lstStyle/>
          <a:p>
            <a:pPr>
              <a:lnSpc>
                <a:spcPts val="1739"/>
              </a:lnSpc>
              <a:spcBef>
                <a:spcPts val="0"/>
              </a:spcBef>
              <a:spcAft>
                <a:spcPts val="0"/>
              </a:spcAft>
            </a:pPr>
            <a:r>
              <a:rPr b="0" sz="1450">
                <a:solidFill>
                  <a:srgbClr val="A7B8CF"/>
                </a:solidFill>
                <a:latin typeface="DejaVu Sans"/>
              </a:rPr>
              <a:t>Cooperative dot reduction · Small-tree elimination · Split-K grid folding</a:t>
            </a:r>
          </a:p>
        </p:txBody>
      </p:sp>
      <p:sp>
        <p:nvSpPr>
          <p:cNvPr id="11" name="Rounded Rectangle 10"/>
          <p:cNvSpPr/>
          <p:nvPr/>
        </p:nvSpPr>
        <p:spPr>
          <a:xfrm>
            <a:off x="698500" y="2184400"/>
            <a:ext cx="5143500" cy="3079750"/>
          </a:xfrm>
          <a:prstGeom prst="roundRect">
            <a:avLst>
              <a:gd name="adj" fmla="val 4948"/>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50000" y="2184400"/>
            <a:ext cx="5143500" cy="3079750"/>
          </a:xfrm>
          <a:prstGeom prst="roundRect">
            <a:avLst>
              <a:gd name="adj" fmla="val 4948"/>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0750" y="2413000"/>
            <a:ext cx="4699000" cy="325120"/>
          </a:xfrm>
          <a:prstGeom prst="rect">
            <a:avLst/>
          </a:prstGeom>
          <a:noFill/>
        </p:spPr>
        <p:txBody>
          <a:bodyPr wrap="none" lIns="0" rIns="0" tIns="0" bIns="0" anchor="t">
            <a:noAutofit/>
          </a:bodyPr>
          <a:lstStyle/>
          <a:p>
            <a:pPr>
              <a:lnSpc>
                <a:spcPts val="2160"/>
              </a:lnSpc>
              <a:spcBef>
                <a:spcPts val="0"/>
              </a:spcBef>
              <a:spcAft>
                <a:spcPts val="0"/>
              </a:spcAft>
            </a:pPr>
            <a:r>
              <a:rPr b="1" sz="1800">
                <a:solidFill>
                  <a:srgbClr val="5CE4BF"/>
                </a:solidFill>
                <a:latin typeface="DejaVu Sans"/>
              </a:rPr>
              <a:t>Lane / warp work</a:t>
            </a:r>
          </a:p>
        </p:txBody>
      </p:sp>
      <p:sp>
        <p:nvSpPr>
          <p:cNvPr id="14" name="TextBox 13"/>
          <p:cNvSpPr txBox="1"/>
          <p:nvPr/>
        </p:nvSpPr>
        <p:spPr>
          <a:xfrm>
            <a:off x="920750" y="2895600"/>
            <a:ext cx="4699000" cy="287020"/>
          </a:xfrm>
          <a:prstGeom prst="rect">
            <a:avLst/>
          </a:prstGeom>
          <a:noFill/>
        </p:spPr>
        <p:txBody>
          <a:bodyPr wrap="none" lIns="0" rIns="0" tIns="0" bIns="0" anchor="t">
            <a:noAutofit/>
          </a:bodyPr>
          <a:lstStyle/>
          <a:p>
            <a:pPr>
              <a:lnSpc>
                <a:spcPts val="1859"/>
              </a:lnSpc>
              <a:spcBef>
                <a:spcPts val="0"/>
              </a:spcBef>
              <a:spcAft>
                <a:spcPts val="0"/>
              </a:spcAft>
            </a:pPr>
            <a:r>
              <a:rPr b="0" sz="1550">
                <a:solidFill>
                  <a:srgbClr val="F1F5FA"/>
                </a:solidFill>
                <a:latin typeface="DejaVu Sans"/>
              </a:rPr>
              <a:t>Repeated dot → lane partials → shuffle</a:t>
            </a:r>
          </a:p>
        </p:txBody>
      </p:sp>
      <p:sp>
        <p:nvSpPr>
          <p:cNvPr id="15" name="Rounded Rectangle 14"/>
          <p:cNvSpPr/>
          <p:nvPr/>
        </p:nvSpPr>
        <p:spPr>
          <a:xfrm>
            <a:off x="920750" y="3378200"/>
            <a:ext cx="990600" cy="527050"/>
          </a:xfrm>
          <a:prstGeom prst="roundRect">
            <a:avLst>
              <a:gd name="adj" fmla="val 12048"/>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57300" y="3492500"/>
            <a:ext cx="508000" cy="332740"/>
          </a:xfrm>
          <a:prstGeom prst="rect">
            <a:avLst/>
          </a:prstGeom>
          <a:noFill/>
        </p:spPr>
        <p:txBody>
          <a:bodyPr wrap="none" lIns="0" rIns="0" tIns="0" bIns="0" anchor="t">
            <a:noAutofit/>
          </a:bodyPr>
          <a:lstStyle/>
          <a:p>
            <a:pPr>
              <a:lnSpc>
                <a:spcPts val="2220"/>
              </a:lnSpc>
              <a:spcBef>
                <a:spcPts val="0"/>
              </a:spcBef>
              <a:spcAft>
                <a:spcPts val="0"/>
              </a:spcAft>
            </a:pPr>
            <a:r>
              <a:rPr b="0" sz="1850">
                <a:solidFill>
                  <a:srgbClr val="5CE4BF"/>
                </a:solidFill>
                <a:latin typeface="Liberation Mono"/>
              </a:rPr>
              <a:t>p0</a:t>
            </a:r>
          </a:p>
        </p:txBody>
      </p:sp>
      <p:sp>
        <p:nvSpPr>
          <p:cNvPr id="17" name="Rounded Rectangle 16"/>
          <p:cNvSpPr/>
          <p:nvPr/>
        </p:nvSpPr>
        <p:spPr>
          <a:xfrm>
            <a:off x="2076450" y="3378200"/>
            <a:ext cx="990600" cy="527050"/>
          </a:xfrm>
          <a:prstGeom prst="roundRect">
            <a:avLst>
              <a:gd name="adj" fmla="val 12048"/>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413000" y="3492500"/>
            <a:ext cx="508000" cy="332740"/>
          </a:xfrm>
          <a:prstGeom prst="rect">
            <a:avLst/>
          </a:prstGeom>
          <a:noFill/>
        </p:spPr>
        <p:txBody>
          <a:bodyPr wrap="none" lIns="0" rIns="0" tIns="0" bIns="0" anchor="t">
            <a:noAutofit/>
          </a:bodyPr>
          <a:lstStyle/>
          <a:p>
            <a:pPr>
              <a:lnSpc>
                <a:spcPts val="2220"/>
              </a:lnSpc>
              <a:spcBef>
                <a:spcPts val="0"/>
              </a:spcBef>
              <a:spcAft>
                <a:spcPts val="0"/>
              </a:spcAft>
            </a:pPr>
            <a:r>
              <a:rPr b="0" sz="1850">
                <a:solidFill>
                  <a:srgbClr val="5CE4BF"/>
                </a:solidFill>
                <a:latin typeface="Liberation Mono"/>
              </a:rPr>
              <a:t>p1</a:t>
            </a:r>
          </a:p>
        </p:txBody>
      </p:sp>
      <p:sp>
        <p:nvSpPr>
          <p:cNvPr id="19" name="Rounded Rectangle 18"/>
          <p:cNvSpPr/>
          <p:nvPr/>
        </p:nvSpPr>
        <p:spPr>
          <a:xfrm>
            <a:off x="3232150" y="3378200"/>
            <a:ext cx="990600" cy="527050"/>
          </a:xfrm>
          <a:prstGeom prst="roundRect">
            <a:avLst>
              <a:gd name="adj" fmla="val 12048"/>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68700" y="3492500"/>
            <a:ext cx="508000" cy="332740"/>
          </a:xfrm>
          <a:prstGeom prst="rect">
            <a:avLst/>
          </a:prstGeom>
          <a:noFill/>
        </p:spPr>
        <p:txBody>
          <a:bodyPr wrap="none" lIns="0" rIns="0" tIns="0" bIns="0" anchor="t">
            <a:noAutofit/>
          </a:bodyPr>
          <a:lstStyle/>
          <a:p>
            <a:pPr>
              <a:lnSpc>
                <a:spcPts val="2220"/>
              </a:lnSpc>
              <a:spcBef>
                <a:spcPts val="0"/>
              </a:spcBef>
              <a:spcAft>
                <a:spcPts val="0"/>
              </a:spcAft>
            </a:pPr>
            <a:r>
              <a:rPr b="0" sz="1850">
                <a:solidFill>
                  <a:srgbClr val="5CE4BF"/>
                </a:solidFill>
                <a:latin typeface="Liberation Mono"/>
              </a:rPr>
              <a:t>p2</a:t>
            </a:r>
          </a:p>
        </p:txBody>
      </p:sp>
      <p:sp>
        <p:nvSpPr>
          <p:cNvPr id="21" name="Rounded Rectangle 20"/>
          <p:cNvSpPr/>
          <p:nvPr/>
        </p:nvSpPr>
        <p:spPr>
          <a:xfrm>
            <a:off x="4387850" y="3378200"/>
            <a:ext cx="990600" cy="527050"/>
          </a:xfrm>
          <a:prstGeom prst="roundRect">
            <a:avLst>
              <a:gd name="adj" fmla="val 12048"/>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24400" y="3492500"/>
            <a:ext cx="508000" cy="332740"/>
          </a:xfrm>
          <a:prstGeom prst="rect">
            <a:avLst/>
          </a:prstGeom>
          <a:noFill/>
        </p:spPr>
        <p:txBody>
          <a:bodyPr wrap="none" lIns="0" rIns="0" tIns="0" bIns="0" anchor="t">
            <a:noAutofit/>
          </a:bodyPr>
          <a:lstStyle/>
          <a:p>
            <a:pPr>
              <a:lnSpc>
                <a:spcPts val="2220"/>
              </a:lnSpc>
              <a:spcBef>
                <a:spcPts val="0"/>
              </a:spcBef>
              <a:spcAft>
                <a:spcPts val="0"/>
              </a:spcAft>
            </a:pPr>
            <a:r>
              <a:rPr b="0" sz="1850">
                <a:solidFill>
                  <a:srgbClr val="5CE4BF"/>
                </a:solidFill>
                <a:latin typeface="Liberation Mono"/>
              </a:rPr>
              <a:t>p3</a:t>
            </a:r>
          </a:p>
        </p:txBody>
      </p:sp>
      <p:sp>
        <p:nvSpPr>
          <p:cNvPr id="23" name="TextBox 22"/>
          <p:cNvSpPr txBox="1"/>
          <p:nvPr/>
        </p:nvSpPr>
        <p:spPr>
          <a:xfrm>
            <a:off x="920750" y="4298950"/>
            <a:ext cx="4699000" cy="302260"/>
          </a:xfrm>
          <a:prstGeom prst="rect">
            <a:avLst/>
          </a:prstGeom>
          <a:noFill/>
        </p:spPr>
        <p:txBody>
          <a:bodyPr wrap="none" lIns="0" rIns="0" tIns="0" bIns="0" anchor="t">
            <a:noAutofit/>
          </a:bodyPr>
          <a:lstStyle/>
          <a:p>
            <a:pPr>
              <a:lnSpc>
                <a:spcPts val="1980"/>
              </a:lnSpc>
              <a:spcBef>
                <a:spcPts val="0"/>
              </a:spcBef>
              <a:spcAft>
                <a:spcPts val="0"/>
              </a:spcAft>
            </a:pPr>
            <a:r>
              <a:rPr b="0" sz="1650">
                <a:solidFill>
                  <a:srgbClr val="F1F5FA"/>
                </a:solidFill>
                <a:latin typeface="DejaVu Sans"/>
              </a:rPr>
              <a:t>Closed small trees → direct sums</a:t>
            </a:r>
          </a:p>
        </p:txBody>
      </p:sp>
      <p:sp>
        <p:nvSpPr>
          <p:cNvPr id="24" name="TextBox 23"/>
          <p:cNvSpPr txBox="1"/>
          <p:nvPr/>
        </p:nvSpPr>
        <p:spPr>
          <a:xfrm>
            <a:off x="920750" y="4743450"/>
            <a:ext cx="4699000" cy="256540"/>
          </a:xfrm>
          <a:prstGeom prst="rect">
            <a:avLst/>
          </a:prstGeom>
          <a:noFill/>
        </p:spPr>
        <p:txBody>
          <a:bodyPr wrap="none" lIns="0" rIns="0" tIns="0" bIns="0" anchor="t">
            <a:noAutofit/>
          </a:bodyPr>
          <a:lstStyle/>
          <a:p>
            <a:pPr>
              <a:lnSpc>
                <a:spcPts val="1620"/>
              </a:lnSpc>
              <a:spcBef>
                <a:spcPts val="0"/>
              </a:spcBef>
              <a:spcAft>
                <a:spcPts val="0"/>
              </a:spcAft>
            </a:pPr>
            <a:r>
              <a:rPr b="0" sz="1350">
                <a:solidFill>
                  <a:srgbClr val="A7B8CF"/>
                </a:solidFill>
                <a:latin typeface="DejaVu Sans"/>
              </a:rPr>
              <a:t>Warp 0 can combine up to 32 partials.</a:t>
            </a:r>
          </a:p>
        </p:txBody>
      </p:sp>
      <p:sp>
        <p:nvSpPr>
          <p:cNvPr id="25" name="TextBox 24"/>
          <p:cNvSpPr txBox="1"/>
          <p:nvPr/>
        </p:nvSpPr>
        <p:spPr>
          <a:xfrm>
            <a:off x="6565900" y="2413000"/>
            <a:ext cx="4699000" cy="325120"/>
          </a:xfrm>
          <a:prstGeom prst="rect">
            <a:avLst/>
          </a:prstGeom>
          <a:noFill/>
        </p:spPr>
        <p:txBody>
          <a:bodyPr wrap="none" lIns="0" rIns="0" tIns="0" bIns="0" anchor="t">
            <a:noAutofit/>
          </a:bodyPr>
          <a:lstStyle/>
          <a:p>
            <a:pPr>
              <a:lnSpc>
                <a:spcPts val="2160"/>
              </a:lnSpc>
              <a:spcBef>
                <a:spcPts val="0"/>
              </a:spcBef>
              <a:spcAft>
                <a:spcPts val="0"/>
              </a:spcAft>
            </a:pPr>
            <a:r>
              <a:rPr b="1" sz="1800">
                <a:solidFill>
                  <a:srgbClr val="95B4FF"/>
                </a:solidFill>
                <a:latin typeface="DejaVu Sans"/>
              </a:rPr>
              <a:t>Split-K grid folding</a:t>
            </a:r>
          </a:p>
        </p:txBody>
      </p:sp>
      <p:sp>
        <p:nvSpPr>
          <p:cNvPr id="26" name="TextBox 25"/>
          <p:cNvSpPr txBox="1"/>
          <p:nvPr/>
        </p:nvSpPr>
        <p:spPr>
          <a:xfrm>
            <a:off x="6565900" y="2800350"/>
            <a:ext cx="4699000" cy="248920"/>
          </a:xfrm>
          <a:prstGeom prst="rect">
            <a:avLst/>
          </a:prstGeom>
          <a:noFill/>
        </p:spPr>
        <p:txBody>
          <a:bodyPr wrap="none" lIns="0" rIns="0" tIns="0" bIns="0" anchor="t">
            <a:noAutofit/>
          </a:bodyPr>
          <a:lstStyle/>
          <a:p>
            <a:pPr>
              <a:lnSpc>
                <a:spcPts val="1560"/>
              </a:lnSpc>
              <a:spcBef>
                <a:spcPts val="0"/>
              </a:spcBef>
              <a:spcAft>
                <a:spcPts val="0"/>
              </a:spcAft>
            </a:pPr>
            <a:r>
              <a:rPr b="0" sz="1300">
                <a:solidFill>
                  <a:srgbClr val="A7B8CF"/>
                </a:solidFill>
                <a:latin typeface="DejaVu Sans"/>
              </a:rPr>
              <a:t>Partitions per output tile in a larger grid</a:t>
            </a:r>
          </a:p>
        </p:txBody>
      </p:sp>
      <p:sp>
        <p:nvSpPr>
          <p:cNvPr id="27" name="Rounded Rectangle 26"/>
          <p:cNvSpPr/>
          <p:nvPr/>
        </p:nvSpPr>
        <p:spPr>
          <a:xfrm>
            <a:off x="6572250" y="3143250"/>
            <a:ext cx="984250" cy="450850"/>
          </a:xfrm>
          <a:prstGeom prst="roundRect">
            <a:avLst>
              <a:gd name="adj" fmla="val 14084"/>
            </a:avLst>
          </a:prstGeom>
          <a:solidFill>
            <a:srgbClr val="2D4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43700" y="3270250"/>
            <a:ext cx="730250" cy="256540"/>
          </a:xfrm>
          <a:prstGeom prst="rect">
            <a:avLst/>
          </a:prstGeom>
          <a:noFill/>
        </p:spPr>
        <p:txBody>
          <a:bodyPr wrap="none" lIns="0" rIns="0" tIns="0" bIns="0" anchor="t">
            <a:noAutofit/>
          </a:bodyPr>
          <a:lstStyle/>
          <a:p>
            <a:pPr>
              <a:lnSpc>
                <a:spcPts val="1620"/>
              </a:lnSpc>
              <a:spcBef>
                <a:spcPts val="0"/>
              </a:spcBef>
              <a:spcAft>
                <a:spcPts val="0"/>
              </a:spcAft>
            </a:pPr>
            <a:r>
              <a:rPr b="0" sz="1350">
                <a:solidFill>
                  <a:srgbClr val="95B4FF"/>
                </a:solidFill>
                <a:latin typeface="Liberation Mono"/>
              </a:rPr>
              <a:t>CTA 0</a:t>
            </a:r>
          </a:p>
        </p:txBody>
      </p:sp>
      <p:sp>
        <p:nvSpPr>
          <p:cNvPr id="29" name="Rounded Rectangle 28"/>
          <p:cNvSpPr/>
          <p:nvPr/>
        </p:nvSpPr>
        <p:spPr>
          <a:xfrm>
            <a:off x="7727950" y="3143250"/>
            <a:ext cx="984250" cy="450850"/>
          </a:xfrm>
          <a:prstGeom prst="roundRect">
            <a:avLst>
              <a:gd name="adj" fmla="val 14084"/>
            </a:avLst>
          </a:prstGeom>
          <a:solidFill>
            <a:srgbClr val="2D4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99400" y="3270250"/>
            <a:ext cx="730250" cy="256540"/>
          </a:xfrm>
          <a:prstGeom prst="rect">
            <a:avLst/>
          </a:prstGeom>
          <a:noFill/>
        </p:spPr>
        <p:txBody>
          <a:bodyPr wrap="none" lIns="0" rIns="0" tIns="0" bIns="0" anchor="t">
            <a:noAutofit/>
          </a:bodyPr>
          <a:lstStyle/>
          <a:p>
            <a:pPr>
              <a:lnSpc>
                <a:spcPts val="1620"/>
              </a:lnSpc>
              <a:spcBef>
                <a:spcPts val="0"/>
              </a:spcBef>
              <a:spcAft>
                <a:spcPts val="0"/>
              </a:spcAft>
            </a:pPr>
            <a:r>
              <a:rPr b="0" sz="1350">
                <a:solidFill>
                  <a:srgbClr val="95B4FF"/>
                </a:solidFill>
                <a:latin typeface="Liberation Mono"/>
              </a:rPr>
              <a:t>CTA 1</a:t>
            </a:r>
          </a:p>
        </p:txBody>
      </p:sp>
      <p:sp>
        <p:nvSpPr>
          <p:cNvPr id="31" name="Rounded Rectangle 30"/>
          <p:cNvSpPr/>
          <p:nvPr/>
        </p:nvSpPr>
        <p:spPr>
          <a:xfrm>
            <a:off x="8883650" y="3143250"/>
            <a:ext cx="984250" cy="450850"/>
          </a:xfrm>
          <a:prstGeom prst="roundRect">
            <a:avLst>
              <a:gd name="adj" fmla="val 14084"/>
            </a:avLst>
          </a:prstGeom>
          <a:solidFill>
            <a:srgbClr val="1D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5100" y="3270250"/>
            <a:ext cx="730250" cy="256540"/>
          </a:xfrm>
          <a:prstGeom prst="rect">
            <a:avLst/>
          </a:prstGeom>
          <a:noFill/>
        </p:spPr>
        <p:txBody>
          <a:bodyPr wrap="none" lIns="0" rIns="0" tIns="0" bIns="0" anchor="t">
            <a:noAutofit/>
          </a:bodyPr>
          <a:lstStyle/>
          <a:p>
            <a:pPr>
              <a:lnSpc>
                <a:spcPts val="1620"/>
              </a:lnSpc>
              <a:spcBef>
                <a:spcPts val="0"/>
              </a:spcBef>
              <a:spcAft>
                <a:spcPts val="0"/>
              </a:spcAft>
            </a:pPr>
            <a:r>
              <a:rPr b="0" sz="1350">
                <a:solidFill>
                  <a:srgbClr val="A7B8CF"/>
                </a:solidFill>
                <a:latin typeface="Liberation Mono"/>
              </a:rPr>
              <a:t>exit</a:t>
            </a:r>
          </a:p>
        </p:txBody>
      </p:sp>
      <p:sp>
        <p:nvSpPr>
          <p:cNvPr id="33" name="Rounded Rectangle 32"/>
          <p:cNvSpPr/>
          <p:nvPr/>
        </p:nvSpPr>
        <p:spPr>
          <a:xfrm>
            <a:off x="10039350" y="3143250"/>
            <a:ext cx="984250" cy="450850"/>
          </a:xfrm>
          <a:prstGeom prst="roundRect">
            <a:avLst>
              <a:gd name="adj" fmla="val 14084"/>
            </a:avLst>
          </a:prstGeom>
          <a:solidFill>
            <a:srgbClr val="1D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210800" y="3270250"/>
            <a:ext cx="730250" cy="256540"/>
          </a:xfrm>
          <a:prstGeom prst="rect">
            <a:avLst/>
          </a:prstGeom>
          <a:noFill/>
        </p:spPr>
        <p:txBody>
          <a:bodyPr wrap="none" lIns="0" rIns="0" tIns="0" bIns="0" anchor="t">
            <a:noAutofit/>
          </a:bodyPr>
          <a:lstStyle/>
          <a:p>
            <a:pPr>
              <a:lnSpc>
                <a:spcPts val="1620"/>
              </a:lnSpc>
              <a:spcBef>
                <a:spcPts val="0"/>
              </a:spcBef>
              <a:spcAft>
                <a:spcPts val="0"/>
              </a:spcAft>
            </a:pPr>
            <a:r>
              <a:rPr b="0" sz="1350">
                <a:solidFill>
                  <a:srgbClr val="A7B8CF"/>
                </a:solidFill>
                <a:latin typeface="Liberation Mono"/>
              </a:rPr>
              <a:t>exit</a:t>
            </a:r>
          </a:p>
        </p:txBody>
      </p:sp>
      <p:sp>
        <p:nvSpPr>
          <p:cNvPr id="35" name="TextBox 34"/>
          <p:cNvSpPr txBox="1"/>
          <p:nvPr/>
        </p:nvSpPr>
        <p:spPr>
          <a:xfrm>
            <a:off x="6565900" y="3829050"/>
            <a:ext cx="4699000" cy="700405"/>
          </a:xfrm>
          <a:prstGeom prst="rect">
            <a:avLst/>
          </a:prstGeom>
          <a:noFill/>
        </p:spPr>
        <p:txBody>
          <a:bodyPr wrap="none" lIns="0" rIns="0" tIns="0" bIns="0" anchor="t">
            <a:noAutofit/>
          </a:bodyPr>
          <a:lstStyle/>
          <a:p>
            <a:pPr>
              <a:lnSpc>
                <a:spcPts val="2557"/>
              </a:lnSpc>
              <a:spcBef>
                <a:spcPts val="0"/>
              </a:spcBef>
              <a:spcAft>
                <a:spcPts val="0"/>
              </a:spcAft>
            </a:pPr>
            <a:r>
              <a:rPr b="0" sz="1650">
                <a:solidFill>
                  <a:srgbClr val="F1F5FA"/>
                </a:solidFill>
                <a:latin typeface="DejaVu Sans"/>
              </a:rPr>
              <a:t>Logical K partitions:   4 → 2</a:t>
            </a:r>
          </a:p>
          <a:p>
            <a:pPr>
              <a:lnSpc>
                <a:spcPts val="2557"/>
              </a:lnSpc>
              <a:spcBef>
                <a:spcPts val="0"/>
              </a:spcBef>
              <a:spcAft>
                <a:spcPts val="0"/>
              </a:spcAft>
            </a:pPr>
            <a:r>
              <a:rPr b="0" sz="1650">
                <a:solidFill>
                  <a:srgbClr val="F1F5FA"/>
                </a:solidFill>
                <a:latin typeface="DejaVu Sans"/>
              </a:rPr>
              <a:t>K work / active CTA:  1× → 2×</a:t>
            </a:r>
          </a:p>
        </p:txBody>
      </p:sp>
      <p:sp>
        <p:nvSpPr>
          <p:cNvPr id="36" name="TextBox 35"/>
          <p:cNvSpPr txBox="1"/>
          <p:nvPr/>
        </p:nvSpPr>
        <p:spPr>
          <a:xfrm>
            <a:off x="6565900" y="4743450"/>
            <a:ext cx="4699000" cy="256540"/>
          </a:xfrm>
          <a:prstGeom prst="rect">
            <a:avLst/>
          </a:prstGeom>
          <a:noFill/>
        </p:spPr>
        <p:txBody>
          <a:bodyPr wrap="none" lIns="0" rIns="0" tIns="0" bIns="0" anchor="t">
            <a:noAutofit/>
          </a:bodyPr>
          <a:lstStyle/>
          <a:p>
            <a:pPr>
              <a:lnSpc>
                <a:spcPts val="1620"/>
              </a:lnSpc>
              <a:spcBef>
                <a:spcPts val="0"/>
              </a:spcBef>
              <a:spcAft>
                <a:spcPts val="0"/>
              </a:spcAft>
            </a:pPr>
            <a:r>
              <a:rPr b="0" sz="1350">
                <a:solidFill>
                  <a:srgbClr val="A7B8CF"/>
                </a:solidFill>
                <a:latin typeface="DejaVu Sans"/>
              </a:rPr>
              <a:t>Same physical grid. Same atomic output.</a:t>
            </a:r>
          </a:p>
        </p:txBody>
      </p:sp>
      <p:sp>
        <p:nvSpPr>
          <p:cNvPr id="37" name="TextBox 36"/>
          <p:cNvSpPr txBox="1"/>
          <p:nvPr/>
        </p:nvSpPr>
        <p:spPr>
          <a:xfrm>
            <a:off x="723900" y="5505450"/>
            <a:ext cx="10731500" cy="241300"/>
          </a:xfrm>
          <a:prstGeom prst="rect">
            <a:avLst/>
          </a:prstGeom>
          <a:noFill/>
        </p:spPr>
        <p:txBody>
          <a:bodyPr wrap="none" lIns="0" rIns="0" tIns="0" bIns="0" anchor="t">
            <a:noAutofit/>
          </a:bodyPr>
          <a:lstStyle/>
          <a:p>
            <a:pPr>
              <a:lnSpc>
                <a:spcPts val="1500"/>
              </a:lnSpc>
              <a:spcBef>
                <a:spcPts val="0"/>
              </a:spcBef>
              <a:spcAft>
                <a:spcPts val="0"/>
              </a:spcAft>
            </a:pPr>
            <a:r>
              <a:rPr b="0" sz="1250">
                <a:solidFill>
                  <a:srgbClr val="A7B8CF"/>
                </a:solidFill>
                <a:latin typeface="DejaVu Sans"/>
              </a:rPr>
              <a:t>Illustrative factor 2. Actual folding checks coverage, scratch capacity, K depth, and remaining parallelism.</a:t>
            </a:r>
          </a:p>
        </p:txBody>
      </p:sp>
      <p:sp>
        <p:nvSpPr>
          <p:cNvPr id="38" name="TextBox 37"/>
          <p:cNvSpPr txBox="1"/>
          <p:nvPr/>
        </p:nvSpPr>
        <p:spPr>
          <a:xfrm>
            <a:off x="723900" y="5943600"/>
            <a:ext cx="10731500" cy="294640"/>
          </a:xfrm>
          <a:prstGeom prst="rect">
            <a:avLst/>
          </a:prstGeom>
          <a:noFill/>
        </p:spPr>
        <p:txBody>
          <a:bodyPr wrap="none" lIns="0" rIns="0" tIns="0" bIns="0" anchor="t">
            <a:noAutofit/>
          </a:bodyPr>
          <a:lstStyle/>
          <a:p>
            <a:pPr>
              <a:lnSpc>
                <a:spcPts val="1920"/>
              </a:lnSpc>
              <a:spcBef>
                <a:spcPts val="0"/>
              </a:spcBef>
              <a:spcAft>
                <a:spcPts val="0"/>
              </a:spcAft>
            </a:pPr>
            <a:r>
              <a:rPr b="0" sz="1600">
                <a:solidFill>
                  <a:srgbClr val="5CE4BF"/>
                </a:solidFill>
                <a:latin typeface="DejaVu Sans"/>
              </a:rPr>
              <a:t>Change who does the work while retaining the original launch contract.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C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19100"/>
            <a:ext cx="304800" cy="44450"/>
          </a:xfrm>
          <a:prstGeom prst="rect">
            <a:avLst/>
          </a:prstGeom>
          <a:solidFill>
            <a:srgbClr val="5CE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336550"/>
            <a:ext cx="7937500" cy="241300"/>
          </a:xfrm>
          <a:prstGeom prst="rect">
            <a:avLst/>
          </a:prstGeom>
          <a:noFill/>
        </p:spPr>
        <p:txBody>
          <a:bodyPr wrap="none" lIns="0" rIns="0" tIns="0" bIns="0" anchor="t">
            <a:noAutofit/>
          </a:bodyPr>
          <a:lstStyle/>
          <a:p>
            <a:pPr>
              <a:lnSpc>
                <a:spcPts val="1500"/>
              </a:lnSpc>
              <a:spcBef>
                <a:spcPts val="0"/>
              </a:spcBef>
              <a:spcAft>
                <a:spcPts val="0"/>
              </a:spcAft>
            </a:pPr>
            <a:r>
              <a:rPr b="1" sz="1250">
                <a:solidFill>
                  <a:srgbClr val="5CE4BF"/>
                </a:solidFill>
                <a:latin typeface="DejaVu Sans"/>
              </a:rPr>
              <a:t>DEUTERON / COMPILER PASSES</a:t>
            </a:r>
          </a:p>
        </p:txBody>
      </p:sp>
      <p:sp>
        <p:nvSpPr>
          <p:cNvPr id="5" name="TextBox 4"/>
          <p:cNvSpPr txBox="1"/>
          <p:nvPr/>
        </p:nvSpPr>
        <p:spPr>
          <a:xfrm>
            <a:off x="10572750" y="336550"/>
            <a:ext cx="952500" cy="241300"/>
          </a:xfrm>
          <a:prstGeom prst="rect">
            <a:avLst/>
          </a:prstGeom>
          <a:noFill/>
        </p:spPr>
        <p:txBody>
          <a:bodyPr wrap="none" lIns="0" rIns="0" tIns="0" bIns="0" anchor="t">
            <a:noAutofit/>
          </a:bodyPr>
          <a:lstStyle/>
          <a:p>
            <a:pPr algn="r">
              <a:lnSpc>
                <a:spcPts val="1500"/>
              </a:lnSpc>
              <a:spcBef>
                <a:spcPts val="0"/>
              </a:spcBef>
              <a:spcAft>
                <a:spcPts val="0"/>
              </a:spcAft>
            </a:pPr>
            <a:r>
              <a:rPr b="0" sz="1250">
                <a:solidFill>
                  <a:srgbClr val="A7B8CF"/>
                </a:solidFill>
                <a:latin typeface="DejaVu Sans"/>
              </a:rPr>
              <a:t>05 / 09</a:t>
            </a:r>
          </a:p>
        </p:txBody>
      </p:sp>
      <p:cxnSp>
        <p:nvCxnSpPr>
          <p:cNvPr id="6" name="Connector 5"/>
          <p:cNvCxnSpPr/>
          <p:nvPr/>
        </p:nvCxnSpPr>
        <p:spPr>
          <a:xfrm>
            <a:off x="609600" y="6375400"/>
            <a:ext cx="10972800" cy="0"/>
          </a:xfrm>
          <a:prstGeom prst="line">
            <a:avLst/>
          </a:prstGeom>
          <a:ln w="12700">
            <a:solidFill>
              <a:srgbClr val="2C3C5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35000" y="6496050"/>
            <a:ext cx="7874000" cy="210820"/>
          </a:xfrm>
          <a:prstGeom prst="rect">
            <a:avLst/>
          </a:prstGeom>
          <a:noFill/>
        </p:spPr>
        <p:txBody>
          <a:bodyPr wrap="none" lIns="0" rIns="0" tIns="0" bIns="0" anchor="t">
            <a:noAutofit/>
          </a:bodyPr>
          <a:lstStyle/>
          <a:p>
            <a:pPr>
              <a:lnSpc>
                <a:spcPts val="1260"/>
              </a:lnSpc>
              <a:spcBef>
                <a:spcPts val="0"/>
              </a:spcBef>
              <a:spcAft>
                <a:spcPts val="0"/>
              </a:spcAft>
            </a:pPr>
            <a:r>
              <a:rPr b="0" sz="1050">
                <a:solidFill>
                  <a:srgbClr val="A7B8CF"/>
                </a:solidFill>
                <a:latin typeface="DejaVu Sans"/>
              </a:rPr>
              <a:t>compiler/passes/contraction.py · compiler/codegen/tensor.py · compiler/storage.py</a:t>
            </a:r>
          </a:p>
        </p:txBody>
      </p:sp>
      <p:sp>
        <p:nvSpPr>
          <p:cNvPr id="8" name="TextBox 7"/>
          <p:cNvSpPr txBox="1"/>
          <p:nvPr/>
        </p:nvSpPr>
        <p:spPr>
          <a:xfrm>
            <a:off x="8699500" y="6496050"/>
            <a:ext cx="2857500" cy="218440"/>
          </a:xfrm>
          <a:prstGeom prst="rect">
            <a:avLst/>
          </a:prstGeom>
          <a:noFill/>
        </p:spPr>
        <p:txBody>
          <a:bodyPr wrap="none" lIns="0" rIns="0" tIns="0" bIns="0" anchor="t">
            <a:noAutofit/>
          </a:bodyPr>
          <a:lstStyle/>
          <a:p>
            <a:pPr algn="r">
              <a:lnSpc>
                <a:spcPts val="1320"/>
              </a:lnSpc>
              <a:spcBef>
                <a:spcPts val="0"/>
              </a:spcBef>
              <a:spcAft>
                <a:spcPts val="0"/>
              </a:spcAft>
            </a:pPr>
            <a:r>
              <a:rPr b="0" sz="1100">
                <a:solidFill>
                  <a:srgbClr val="A7B8CF"/>
                </a:solidFill>
                <a:latin typeface="DejaVu Sans"/>
              </a:rPr>
              <a:t>RTX 5090  /  SM120</a:t>
            </a:r>
          </a:p>
        </p:txBody>
      </p:sp>
      <p:sp>
        <p:nvSpPr>
          <p:cNvPr id="9" name="TextBox 8"/>
          <p:cNvSpPr txBox="1"/>
          <p:nvPr/>
        </p:nvSpPr>
        <p:spPr>
          <a:xfrm>
            <a:off x="685800" y="971550"/>
            <a:ext cx="10795000" cy="553720"/>
          </a:xfrm>
          <a:prstGeom prst="rect">
            <a:avLst/>
          </a:prstGeom>
          <a:noFill/>
        </p:spPr>
        <p:txBody>
          <a:bodyPr wrap="none" lIns="0" rIns="0" tIns="0" bIns="0" anchor="t">
            <a:noAutofit/>
          </a:bodyPr>
          <a:lstStyle/>
          <a:p>
            <a:pPr>
              <a:lnSpc>
                <a:spcPts val="3960"/>
              </a:lnSpc>
              <a:spcBef>
                <a:spcPts val="0"/>
              </a:spcBef>
              <a:spcAft>
                <a:spcPts val="0"/>
              </a:spcAft>
            </a:pPr>
            <a:r>
              <a:rPr b="1" sz="3300">
                <a:solidFill>
                  <a:srgbClr val="F1F5FA"/>
                </a:solidFill>
                <a:latin typeface="DejaVu Sans"/>
              </a:rPr>
              <a:t>Recover the contraction</a:t>
            </a:r>
          </a:p>
        </p:txBody>
      </p:sp>
      <p:sp>
        <p:nvSpPr>
          <p:cNvPr id="10" name="TextBox 9"/>
          <p:cNvSpPr txBox="1"/>
          <p:nvPr/>
        </p:nvSpPr>
        <p:spPr>
          <a:xfrm>
            <a:off x="711200" y="1670050"/>
            <a:ext cx="10699750" cy="271780"/>
          </a:xfrm>
          <a:prstGeom prst="rect">
            <a:avLst/>
          </a:prstGeom>
          <a:noFill/>
        </p:spPr>
        <p:txBody>
          <a:bodyPr wrap="none" lIns="0" rIns="0" tIns="0" bIns="0" anchor="t">
            <a:noAutofit/>
          </a:bodyPr>
          <a:lstStyle/>
          <a:p>
            <a:pPr>
              <a:lnSpc>
                <a:spcPts val="1739"/>
              </a:lnSpc>
              <a:spcBef>
                <a:spcPts val="0"/>
              </a:spcBef>
              <a:spcAft>
                <a:spcPts val="0"/>
              </a:spcAft>
            </a:pPr>
            <a:r>
              <a:rPr b="0" sz="1450">
                <a:solidFill>
                  <a:srgbClr val="A7B8CF"/>
                </a:solidFill>
                <a:latin typeface="DejaVu Sans"/>
              </a:rPr>
              <a:t>Contraction tensorization · Tensor shared-memory layout</a:t>
            </a:r>
          </a:p>
        </p:txBody>
      </p:sp>
      <p:sp>
        <p:nvSpPr>
          <p:cNvPr id="11" name="Rounded Rectangle 10"/>
          <p:cNvSpPr/>
          <p:nvPr/>
        </p:nvSpPr>
        <p:spPr>
          <a:xfrm>
            <a:off x="698500" y="2152650"/>
            <a:ext cx="4603750" cy="2730500"/>
          </a:xfrm>
          <a:prstGeom prst="roundRect">
            <a:avLst>
              <a:gd name="adj" fmla="val 5581"/>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0750" y="2374900"/>
            <a:ext cx="4165600" cy="325120"/>
          </a:xfrm>
          <a:prstGeom prst="rect">
            <a:avLst/>
          </a:prstGeom>
          <a:noFill/>
        </p:spPr>
        <p:txBody>
          <a:bodyPr wrap="none" lIns="0" rIns="0" tIns="0" bIns="0" anchor="t">
            <a:noAutofit/>
          </a:bodyPr>
          <a:lstStyle/>
          <a:p>
            <a:pPr>
              <a:lnSpc>
                <a:spcPts val="2160"/>
              </a:lnSpc>
              <a:spcBef>
                <a:spcPts val="0"/>
              </a:spcBef>
              <a:spcAft>
                <a:spcPts val="0"/>
              </a:spcAft>
            </a:pPr>
            <a:r>
              <a:rPr b="1" sz="1800">
                <a:solidFill>
                  <a:srgbClr val="F1F5FA"/>
                </a:solidFill>
                <a:latin typeface="DejaVu Sans"/>
              </a:rPr>
              <a:t>Shared multiply + add</a:t>
            </a:r>
          </a:p>
        </p:txBody>
      </p:sp>
      <p:sp>
        <p:nvSpPr>
          <p:cNvPr id="13" name="TextBox 12"/>
          <p:cNvSpPr txBox="1"/>
          <p:nvPr/>
        </p:nvSpPr>
        <p:spPr>
          <a:xfrm>
            <a:off x="920750" y="2914650"/>
            <a:ext cx="4127500" cy="1150937"/>
          </a:xfrm>
          <a:prstGeom prst="rect">
            <a:avLst/>
          </a:prstGeom>
          <a:noFill/>
        </p:spPr>
        <p:txBody>
          <a:bodyPr wrap="none" lIns="0" rIns="0" tIns="0" bIns="0" anchor="t">
            <a:noAutofit/>
          </a:bodyPr>
          <a:lstStyle/>
          <a:p>
            <a:pPr>
              <a:lnSpc>
                <a:spcPts val="2887"/>
              </a:lnSpc>
              <a:spcBef>
                <a:spcPts val="0"/>
              </a:spcBef>
              <a:spcAft>
                <a:spcPts val="0"/>
              </a:spcAft>
            </a:pPr>
            <a:r>
              <a:rPr b="0" sz="1650">
                <a:solidFill>
                  <a:srgbClr val="A7B8CF"/>
                </a:solidFill>
                <a:latin typeface="DejaVu Sans"/>
              </a:rPr>
              <a:t>Recognize a closed contraction</a:t>
            </a:r>
          </a:p>
          <a:p>
            <a:pPr>
              <a:lnSpc>
                <a:spcPts val="2887"/>
              </a:lnSpc>
              <a:spcBef>
                <a:spcPts val="0"/>
              </a:spcBef>
              <a:spcAft>
                <a:spcPts val="0"/>
              </a:spcAft>
            </a:pPr>
            <a:r>
              <a:rPr b="0" sz="1650">
                <a:solidFill>
                  <a:srgbClr val="A7B8CF"/>
                </a:solidFill>
                <a:latin typeface="DejaVu Sans"/>
              </a:rPr>
              <a:t>Prove affine tile coverage</a:t>
            </a:r>
          </a:p>
          <a:p>
            <a:pPr>
              <a:lnSpc>
                <a:spcPts val="2887"/>
              </a:lnSpc>
              <a:spcBef>
                <a:spcPts val="0"/>
              </a:spcBef>
              <a:spcAft>
                <a:spcPts val="0"/>
              </a:spcAft>
            </a:pPr>
            <a:r>
              <a:rPr b="0" sz="1650">
                <a:solidFill>
                  <a:srgbClr val="A7B8CF"/>
                </a:solidFill>
                <a:latin typeface="DejaVu Sans"/>
              </a:rPr>
              <a:t>Derive full-warp ownership</a:t>
            </a:r>
          </a:p>
        </p:txBody>
      </p:sp>
      <p:sp>
        <p:nvSpPr>
          <p:cNvPr id="14" name="TextBox 13"/>
          <p:cNvSpPr txBox="1"/>
          <p:nvPr/>
        </p:nvSpPr>
        <p:spPr>
          <a:xfrm>
            <a:off x="920750" y="4368800"/>
            <a:ext cx="4127500" cy="287020"/>
          </a:xfrm>
          <a:prstGeom prst="rect">
            <a:avLst/>
          </a:prstGeom>
          <a:noFill/>
        </p:spPr>
        <p:txBody>
          <a:bodyPr wrap="none" lIns="0" rIns="0" tIns="0" bIns="0" anchor="t">
            <a:noAutofit/>
          </a:bodyPr>
          <a:lstStyle/>
          <a:p>
            <a:pPr>
              <a:lnSpc>
                <a:spcPts val="1859"/>
              </a:lnSpc>
              <a:spcBef>
                <a:spcPts val="0"/>
              </a:spcBef>
              <a:spcAft>
                <a:spcPts val="0"/>
              </a:spcAft>
            </a:pPr>
            <a:r>
              <a:rPr b="0" sz="1550">
                <a:solidFill>
                  <a:srgbClr val="5CE4BF"/>
                </a:solidFill>
                <a:latin typeface="DejaVu Sans"/>
              </a:rPr>
              <a:t>Guarded substitution → warp MMA</a:t>
            </a:r>
          </a:p>
        </p:txBody>
      </p:sp>
      <p:cxnSp>
        <p:nvCxnSpPr>
          <p:cNvPr id="15" name="Connector 14"/>
          <p:cNvCxnSpPr/>
          <p:nvPr/>
        </p:nvCxnSpPr>
        <p:spPr>
          <a:xfrm>
            <a:off x="5448300" y="3517900"/>
            <a:ext cx="311150" cy="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689600" y="3454400"/>
            <a:ext cx="69850" cy="6350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5689600" y="3517900"/>
            <a:ext cx="69850" cy="6350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969000" y="2152650"/>
            <a:ext cx="5524500" cy="2730500"/>
          </a:xfrm>
          <a:prstGeom prst="roundRect">
            <a:avLst>
              <a:gd name="adj" fmla="val 5581"/>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91250" y="2374900"/>
            <a:ext cx="5067300" cy="363220"/>
          </a:xfrm>
          <a:prstGeom prst="rect">
            <a:avLst/>
          </a:prstGeom>
          <a:noFill/>
        </p:spPr>
        <p:txBody>
          <a:bodyPr wrap="none" lIns="0" rIns="0" tIns="0" bIns="0" anchor="t">
            <a:noAutofit/>
          </a:bodyPr>
          <a:lstStyle/>
          <a:p>
            <a:pPr>
              <a:lnSpc>
                <a:spcPts val="2460"/>
              </a:lnSpc>
              <a:spcBef>
                <a:spcPts val="0"/>
              </a:spcBef>
              <a:spcAft>
                <a:spcPts val="0"/>
              </a:spcAft>
            </a:pPr>
            <a:r>
              <a:rPr b="1" sz="2050">
                <a:solidFill>
                  <a:srgbClr val="5CE4BF"/>
                </a:solidFill>
                <a:latin typeface="DejaVu Sans"/>
              </a:rPr>
              <a:t>BF16x3 or TF32x3</a:t>
            </a:r>
          </a:p>
        </p:txBody>
      </p:sp>
      <p:sp>
        <p:nvSpPr>
          <p:cNvPr id="20" name="TextBox 19"/>
          <p:cNvSpPr txBox="1"/>
          <p:nvPr/>
        </p:nvSpPr>
        <p:spPr>
          <a:xfrm>
            <a:off x="6191250" y="2927350"/>
            <a:ext cx="5054600" cy="279400"/>
          </a:xfrm>
          <a:prstGeom prst="rect">
            <a:avLst/>
          </a:prstGeom>
          <a:noFill/>
        </p:spPr>
        <p:txBody>
          <a:bodyPr wrap="none" lIns="0" rIns="0" tIns="0" bIns="0" anchor="t">
            <a:noAutofit/>
          </a:bodyPr>
          <a:lstStyle/>
          <a:p>
            <a:pPr>
              <a:lnSpc>
                <a:spcPts val="1800"/>
              </a:lnSpc>
              <a:spcBef>
                <a:spcPts val="0"/>
              </a:spcBef>
              <a:spcAft>
                <a:spcPts val="0"/>
              </a:spcAft>
            </a:pPr>
            <a:r>
              <a:rPr b="0" sz="1500">
                <a:solidFill>
                  <a:srgbClr val="A7B8CF"/>
                </a:solidFill>
                <a:latin typeface="Liberation Mono"/>
              </a:rPr>
              <a:t>A ≈ Ah + Al     B ≈ Bh + Bl</a:t>
            </a:r>
          </a:p>
        </p:txBody>
      </p:sp>
      <p:sp>
        <p:nvSpPr>
          <p:cNvPr id="21" name="TextBox 20"/>
          <p:cNvSpPr txBox="1"/>
          <p:nvPr/>
        </p:nvSpPr>
        <p:spPr>
          <a:xfrm>
            <a:off x="6191250" y="3371850"/>
            <a:ext cx="5054600" cy="378460"/>
          </a:xfrm>
          <a:prstGeom prst="rect">
            <a:avLst/>
          </a:prstGeom>
          <a:noFill/>
        </p:spPr>
        <p:txBody>
          <a:bodyPr wrap="none" lIns="0" rIns="0" tIns="0" bIns="0" anchor="t">
            <a:noAutofit/>
          </a:bodyPr>
          <a:lstStyle/>
          <a:p>
            <a:pPr>
              <a:lnSpc>
                <a:spcPts val="2580"/>
              </a:lnSpc>
              <a:spcBef>
                <a:spcPts val="0"/>
              </a:spcBef>
              <a:spcAft>
                <a:spcPts val="0"/>
              </a:spcAft>
            </a:pPr>
            <a:r>
              <a:rPr b="0" sz="2150">
                <a:solidFill>
                  <a:srgbClr val="F1F5FA"/>
                </a:solidFill>
                <a:latin typeface="Liberation Mono"/>
              </a:rPr>
              <a:t>Ah·Bh + Ah·Bl + Al·Bh</a:t>
            </a:r>
          </a:p>
        </p:txBody>
      </p:sp>
      <p:sp>
        <p:nvSpPr>
          <p:cNvPr id="22" name="TextBox 21"/>
          <p:cNvSpPr txBox="1"/>
          <p:nvPr/>
        </p:nvSpPr>
        <p:spPr>
          <a:xfrm>
            <a:off x="6191250" y="3898900"/>
            <a:ext cx="5054600" cy="309880"/>
          </a:xfrm>
          <a:prstGeom prst="rect">
            <a:avLst/>
          </a:prstGeom>
          <a:noFill/>
        </p:spPr>
        <p:txBody>
          <a:bodyPr wrap="none" lIns="0" rIns="0" tIns="0" bIns="0" anchor="t">
            <a:noAutofit/>
          </a:bodyPr>
          <a:lstStyle/>
          <a:p>
            <a:pPr>
              <a:lnSpc>
                <a:spcPts val="2039"/>
              </a:lnSpc>
              <a:spcBef>
                <a:spcPts val="0"/>
              </a:spcBef>
              <a:spcAft>
                <a:spcPts val="0"/>
              </a:spcAft>
            </a:pPr>
            <a:r>
              <a:rPr b="0" sz="1700">
                <a:solidFill>
                  <a:srgbClr val="F1F5FA"/>
                </a:solidFill>
                <a:latin typeface="DejaVu Sans"/>
              </a:rPr>
              <a:t>FP32 buffers + accumulation</a:t>
            </a:r>
          </a:p>
        </p:txBody>
      </p:sp>
      <p:sp>
        <p:nvSpPr>
          <p:cNvPr id="23" name="TextBox 22"/>
          <p:cNvSpPr txBox="1"/>
          <p:nvPr/>
        </p:nvSpPr>
        <p:spPr>
          <a:xfrm>
            <a:off x="6191250" y="4368800"/>
            <a:ext cx="5054600" cy="264160"/>
          </a:xfrm>
          <a:prstGeom prst="rect">
            <a:avLst/>
          </a:prstGeom>
          <a:noFill/>
        </p:spPr>
        <p:txBody>
          <a:bodyPr wrap="none" lIns="0" rIns="0" tIns="0" bIns="0" anchor="t">
            <a:noAutofit/>
          </a:bodyPr>
          <a:lstStyle/>
          <a:p>
            <a:pPr>
              <a:lnSpc>
                <a:spcPts val="1680"/>
              </a:lnSpc>
              <a:spcBef>
                <a:spcPts val="0"/>
              </a:spcBef>
              <a:spcAft>
                <a:spcPts val="0"/>
              </a:spcAft>
            </a:pPr>
            <a:r>
              <a:rPr b="0" sz="1400">
                <a:solidFill>
                  <a:srgbClr val="F1CC83"/>
                </a:solidFill>
                <a:latin typeface="DejaVu Sans"/>
              </a:rPr>
              <a:t>Low × low omitted → approximate products</a:t>
            </a:r>
          </a:p>
        </p:txBody>
      </p:sp>
      <p:sp>
        <p:nvSpPr>
          <p:cNvPr id="24" name="TextBox 23"/>
          <p:cNvSpPr txBox="1"/>
          <p:nvPr/>
        </p:nvSpPr>
        <p:spPr>
          <a:xfrm>
            <a:off x="723900" y="5092700"/>
            <a:ext cx="10731500" cy="256540"/>
          </a:xfrm>
          <a:prstGeom prst="rect">
            <a:avLst/>
          </a:prstGeom>
          <a:noFill/>
        </p:spPr>
        <p:txBody>
          <a:bodyPr wrap="none" lIns="0" rIns="0" tIns="0" bIns="0" anchor="t">
            <a:noAutofit/>
          </a:bodyPr>
          <a:lstStyle/>
          <a:p>
            <a:pPr>
              <a:lnSpc>
                <a:spcPts val="1620"/>
              </a:lnSpc>
              <a:spcBef>
                <a:spcPts val="0"/>
              </a:spcBef>
              <a:spcAft>
                <a:spcPts val="0"/>
              </a:spcAft>
            </a:pPr>
            <a:r>
              <a:rPr b="0" sz="1350">
                <a:solidFill>
                  <a:srgbClr val="A7B8CF"/>
                </a:solidFill>
                <a:latin typeface="DejaVu Sans"/>
              </a:rPr>
              <a:t>Ordinary FP32 contraction mode is also available.</a:t>
            </a:r>
          </a:p>
        </p:txBody>
      </p:sp>
      <p:sp>
        <p:nvSpPr>
          <p:cNvPr id="25" name="Rounded Rectangle 24"/>
          <p:cNvSpPr/>
          <p:nvPr/>
        </p:nvSpPr>
        <p:spPr>
          <a:xfrm>
            <a:off x="698500" y="5448300"/>
            <a:ext cx="10795000" cy="704850"/>
          </a:xfrm>
          <a:prstGeom prst="roundRect">
            <a:avLst>
              <a:gd name="adj" fmla="val 18018"/>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0750" y="5607050"/>
            <a:ext cx="2933700" cy="241300"/>
          </a:xfrm>
          <a:prstGeom prst="rect">
            <a:avLst/>
          </a:prstGeom>
          <a:noFill/>
        </p:spPr>
        <p:txBody>
          <a:bodyPr wrap="none" lIns="0" rIns="0" tIns="0" bIns="0" anchor="t">
            <a:noAutofit/>
          </a:bodyPr>
          <a:lstStyle/>
          <a:p>
            <a:pPr>
              <a:lnSpc>
                <a:spcPts val="1500"/>
              </a:lnSpc>
              <a:spcBef>
                <a:spcPts val="0"/>
              </a:spcBef>
              <a:spcAft>
                <a:spcPts val="0"/>
              </a:spcAft>
            </a:pPr>
            <a:r>
              <a:rPr b="1" sz="1250">
                <a:solidFill>
                  <a:srgbClr val="F1CC83"/>
                </a:solidFill>
                <a:latin typeface="DejaVu Sans"/>
              </a:rPr>
              <a:t>SEPARATE FP16 STORAGE</a:t>
            </a:r>
          </a:p>
        </p:txBody>
      </p:sp>
      <p:sp>
        <p:nvSpPr>
          <p:cNvPr id="27" name="TextBox 26"/>
          <p:cNvSpPr txBox="1"/>
          <p:nvPr/>
        </p:nvSpPr>
        <p:spPr>
          <a:xfrm>
            <a:off x="920750" y="5873750"/>
            <a:ext cx="2933700" cy="218440"/>
          </a:xfrm>
          <a:prstGeom prst="rect">
            <a:avLst/>
          </a:prstGeom>
          <a:noFill/>
        </p:spPr>
        <p:txBody>
          <a:bodyPr wrap="none" lIns="0" rIns="0" tIns="0" bIns="0" anchor="t">
            <a:noAutofit/>
          </a:bodyPr>
          <a:lstStyle/>
          <a:p>
            <a:pPr>
              <a:lnSpc>
                <a:spcPts val="1320"/>
              </a:lnSpc>
              <a:spcBef>
                <a:spcPts val="0"/>
              </a:spcBef>
              <a:spcAft>
                <a:spcPts val="0"/>
              </a:spcAft>
            </a:pPr>
            <a:r>
              <a:rPr b="0" sz="1100">
                <a:solidFill>
                  <a:srgbClr val="A7B8CF"/>
                </a:solidFill>
                <a:latin typeface="DejaVu Sans"/>
              </a:rPr>
              <a:t>Pointwise storage and conversion</a:t>
            </a:r>
          </a:p>
        </p:txBody>
      </p:sp>
      <p:sp>
        <p:nvSpPr>
          <p:cNvPr id="28" name="TextBox 27"/>
          <p:cNvSpPr txBox="1"/>
          <p:nvPr/>
        </p:nvSpPr>
        <p:spPr>
          <a:xfrm>
            <a:off x="4127500" y="5549900"/>
            <a:ext cx="7112000" cy="317500"/>
          </a:xfrm>
          <a:prstGeom prst="rect">
            <a:avLst/>
          </a:prstGeom>
          <a:noFill/>
        </p:spPr>
        <p:txBody>
          <a:bodyPr wrap="none" lIns="0" rIns="0" tIns="0" bIns="0" anchor="t">
            <a:noAutofit/>
          </a:bodyPr>
          <a:lstStyle/>
          <a:p>
            <a:pPr>
              <a:lnSpc>
                <a:spcPts val="2100"/>
              </a:lnSpc>
              <a:spcBef>
                <a:spcPts val="0"/>
              </a:spcBef>
              <a:spcAft>
                <a:spcPts val="0"/>
              </a:spcAft>
            </a:pPr>
            <a:r>
              <a:rPr b="0" sz="1750">
                <a:solidFill>
                  <a:srgbClr val="F1F5FA"/>
                </a:solidFill>
                <a:latin typeface="DejaVu Sans"/>
              </a:rPr>
              <a:t>FP16 → explicit FP32 arithmetic → FP16</a:t>
            </a:r>
          </a:p>
        </p:txBody>
      </p:sp>
      <p:sp>
        <p:nvSpPr>
          <p:cNvPr id="29" name="TextBox 28"/>
          <p:cNvSpPr txBox="1"/>
          <p:nvPr/>
        </p:nvSpPr>
        <p:spPr>
          <a:xfrm>
            <a:off x="4127500" y="5886450"/>
            <a:ext cx="7112000" cy="233679"/>
          </a:xfrm>
          <a:prstGeom prst="rect">
            <a:avLst/>
          </a:prstGeom>
          <a:noFill/>
        </p:spPr>
        <p:txBody>
          <a:bodyPr wrap="none" lIns="0" rIns="0" tIns="0" bIns="0" anchor="t">
            <a:noAutofit/>
          </a:bodyPr>
          <a:lstStyle/>
          <a:p>
            <a:pPr>
              <a:lnSpc>
                <a:spcPts val="1439"/>
              </a:lnSpc>
              <a:spcBef>
                <a:spcPts val="0"/>
              </a:spcBef>
              <a:spcAft>
                <a:spcPts val="0"/>
              </a:spcAft>
            </a:pPr>
            <a:r>
              <a:rPr b="0" sz="1200">
                <a:solidFill>
                  <a:srgbClr val="A7B8CF"/>
                </a:solidFill>
                <a:latin typeface="DejaVu Sans"/>
              </a:rPr>
              <a:t>Exact widening · nearest-even narrowing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C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19100"/>
            <a:ext cx="304800" cy="44450"/>
          </a:xfrm>
          <a:prstGeom prst="rect">
            <a:avLst/>
          </a:prstGeom>
          <a:solidFill>
            <a:srgbClr val="5CE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336550"/>
            <a:ext cx="7937500" cy="241300"/>
          </a:xfrm>
          <a:prstGeom prst="rect">
            <a:avLst/>
          </a:prstGeom>
          <a:noFill/>
        </p:spPr>
        <p:txBody>
          <a:bodyPr wrap="none" lIns="0" rIns="0" tIns="0" bIns="0" anchor="t">
            <a:noAutofit/>
          </a:bodyPr>
          <a:lstStyle/>
          <a:p>
            <a:pPr>
              <a:lnSpc>
                <a:spcPts val="1500"/>
              </a:lnSpc>
              <a:spcBef>
                <a:spcPts val="0"/>
              </a:spcBef>
              <a:spcAft>
                <a:spcPts val="0"/>
              </a:spcAft>
            </a:pPr>
            <a:r>
              <a:rPr b="1" sz="1250">
                <a:solidFill>
                  <a:srgbClr val="5CE4BF"/>
                </a:solidFill>
                <a:latin typeface="DejaVu Sans"/>
              </a:rPr>
              <a:t>DEUTERON / COMPILER PASSES</a:t>
            </a:r>
          </a:p>
        </p:txBody>
      </p:sp>
      <p:sp>
        <p:nvSpPr>
          <p:cNvPr id="5" name="TextBox 4"/>
          <p:cNvSpPr txBox="1"/>
          <p:nvPr/>
        </p:nvSpPr>
        <p:spPr>
          <a:xfrm>
            <a:off x="10572750" y="336550"/>
            <a:ext cx="952500" cy="241300"/>
          </a:xfrm>
          <a:prstGeom prst="rect">
            <a:avLst/>
          </a:prstGeom>
          <a:noFill/>
        </p:spPr>
        <p:txBody>
          <a:bodyPr wrap="none" lIns="0" rIns="0" tIns="0" bIns="0" anchor="t">
            <a:noAutofit/>
          </a:bodyPr>
          <a:lstStyle/>
          <a:p>
            <a:pPr algn="r">
              <a:lnSpc>
                <a:spcPts val="1500"/>
              </a:lnSpc>
              <a:spcBef>
                <a:spcPts val="0"/>
              </a:spcBef>
              <a:spcAft>
                <a:spcPts val="0"/>
              </a:spcAft>
            </a:pPr>
            <a:r>
              <a:rPr b="0" sz="1250">
                <a:solidFill>
                  <a:srgbClr val="A7B8CF"/>
                </a:solidFill>
                <a:latin typeface="DejaVu Sans"/>
              </a:rPr>
              <a:t>06 / 09</a:t>
            </a:r>
          </a:p>
        </p:txBody>
      </p:sp>
      <p:cxnSp>
        <p:nvCxnSpPr>
          <p:cNvPr id="6" name="Connector 5"/>
          <p:cNvCxnSpPr/>
          <p:nvPr/>
        </p:nvCxnSpPr>
        <p:spPr>
          <a:xfrm>
            <a:off x="609600" y="6375400"/>
            <a:ext cx="10972800" cy="0"/>
          </a:xfrm>
          <a:prstGeom prst="line">
            <a:avLst/>
          </a:prstGeom>
          <a:ln w="12700">
            <a:solidFill>
              <a:srgbClr val="2C3C5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35000" y="6496050"/>
            <a:ext cx="7874000" cy="210820"/>
          </a:xfrm>
          <a:prstGeom prst="rect">
            <a:avLst/>
          </a:prstGeom>
          <a:noFill/>
        </p:spPr>
        <p:txBody>
          <a:bodyPr wrap="none" lIns="0" rIns="0" tIns="0" bIns="0" anchor="t">
            <a:noAutofit/>
          </a:bodyPr>
          <a:lstStyle/>
          <a:p>
            <a:pPr>
              <a:lnSpc>
                <a:spcPts val="1260"/>
              </a:lnSpc>
              <a:spcBef>
                <a:spcPts val="0"/>
              </a:spcBef>
              <a:spcAft>
                <a:spcPts val="0"/>
              </a:spcAft>
            </a:pPr>
            <a:r>
              <a:rPr b="0" sz="1050">
                <a:solidFill>
                  <a:srgbClr val="A7B8CF"/>
                </a:solidFill>
                <a:latin typeface="DejaVu Sans"/>
              </a:rPr>
              <a:t>compiler/passes/regstage.py · compiler/codegen/tensor.py · compiler/codegen/lower.py</a:t>
            </a:r>
          </a:p>
        </p:txBody>
      </p:sp>
      <p:sp>
        <p:nvSpPr>
          <p:cNvPr id="8" name="TextBox 7"/>
          <p:cNvSpPr txBox="1"/>
          <p:nvPr/>
        </p:nvSpPr>
        <p:spPr>
          <a:xfrm>
            <a:off x="8699500" y="6496050"/>
            <a:ext cx="2857500" cy="218440"/>
          </a:xfrm>
          <a:prstGeom prst="rect">
            <a:avLst/>
          </a:prstGeom>
          <a:noFill/>
        </p:spPr>
        <p:txBody>
          <a:bodyPr wrap="none" lIns="0" rIns="0" tIns="0" bIns="0" anchor="t">
            <a:noAutofit/>
          </a:bodyPr>
          <a:lstStyle/>
          <a:p>
            <a:pPr algn="r">
              <a:lnSpc>
                <a:spcPts val="1320"/>
              </a:lnSpc>
              <a:spcBef>
                <a:spcPts val="0"/>
              </a:spcBef>
              <a:spcAft>
                <a:spcPts val="0"/>
              </a:spcAft>
            </a:pPr>
            <a:r>
              <a:rPr b="0" sz="1100">
                <a:solidFill>
                  <a:srgbClr val="A7B8CF"/>
                </a:solidFill>
                <a:latin typeface="DejaVu Sans"/>
              </a:rPr>
              <a:t>RTX 5090  /  SM120</a:t>
            </a:r>
          </a:p>
        </p:txBody>
      </p:sp>
      <p:sp>
        <p:nvSpPr>
          <p:cNvPr id="9" name="TextBox 8"/>
          <p:cNvSpPr txBox="1"/>
          <p:nvPr/>
        </p:nvSpPr>
        <p:spPr>
          <a:xfrm>
            <a:off x="685800" y="971550"/>
            <a:ext cx="10795000" cy="553720"/>
          </a:xfrm>
          <a:prstGeom prst="rect">
            <a:avLst/>
          </a:prstGeom>
          <a:noFill/>
        </p:spPr>
        <p:txBody>
          <a:bodyPr wrap="none" lIns="0" rIns="0" tIns="0" bIns="0" anchor="t">
            <a:noAutofit/>
          </a:bodyPr>
          <a:lstStyle/>
          <a:p>
            <a:pPr>
              <a:lnSpc>
                <a:spcPts val="3960"/>
              </a:lnSpc>
              <a:spcBef>
                <a:spcPts val="0"/>
              </a:spcBef>
              <a:spcAft>
                <a:spcPts val="0"/>
              </a:spcAft>
            </a:pPr>
            <a:r>
              <a:rPr b="1" sz="3300">
                <a:solidFill>
                  <a:srgbClr val="F1F5FA"/>
                </a:solidFill>
                <a:latin typeface="DejaVu Sans"/>
              </a:rPr>
              <a:t>Feed tensor cores, then drain</a:t>
            </a:r>
          </a:p>
        </p:txBody>
      </p:sp>
      <p:sp>
        <p:nvSpPr>
          <p:cNvPr id="10" name="TextBox 9"/>
          <p:cNvSpPr txBox="1"/>
          <p:nvPr/>
        </p:nvSpPr>
        <p:spPr>
          <a:xfrm>
            <a:off x="711200" y="1670050"/>
            <a:ext cx="10699750" cy="271780"/>
          </a:xfrm>
          <a:prstGeom prst="rect">
            <a:avLst/>
          </a:prstGeom>
          <a:noFill/>
        </p:spPr>
        <p:txBody>
          <a:bodyPr wrap="none" lIns="0" rIns="0" tIns="0" bIns="0" anchor="t">
            <a:noAutofit/>
          </a:bodyPr>
          <a:lstStyle/>
          <a:p>
            <a:pPr>
              <a:lnSpc>
                <a:spcPts val="1739"/>
              </a:lnSpc>
              <a:spcBef>
                <a:spcPts val="0"/>
              </a:spcBef>
              <a:spcAft>
                <a:spcPts val="0"/>
              </a:spcAft>
            </a:pPr>
            <a:r>
              <a:rPr b="0" sz="1450">
                <a:solidFill>
                  <a:srgbClr val="A7B8CF"/>
                </a:solidFill>
                <a:latin typeface="DejaVu Sans"/>
              </a:rPr>
              <a:t>Packed register staging · Tensor fragment pipelining · Pipeline drain</a:t>
            </a:r>
          </a:p>
        </p:txBody>
      </p:sp>
      <p:sp>
        <p:nvSpPr>
          <p:cNvPr id="11" name="Rounded Rectangle 10"/>
          <p:cNvSpPr/>
          <p:nvPr/>
        </p:nvSpPr>
        <p:spPr>
          <a:xfrm>
            <a:off x="698500" y="2165350"/>
            <a:ext cx="10795000" cy="838200"/>
          </a:xfrm>
          <a:prstGeom prst="roundRect">
            <a:avLst>
              <a:gd name="adj" fmla="val 16666"/>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5350" y="2349500"/>
            <a:ext cx="2794000" cy="241300"/>
          </a:xfrm>
          <a:prstGeom prst="rect">
            <a:avLst/>
          </a:prstGeom>
          <a:noFill/>
        </p:spPr>
        <p:txBody>
          <a:bodyPr wrap="none" lIns="0" rIns="0" tIns="0" bIns="0" anchor="t">
            <a:noAutofit/>
          </a:bodyPr>
          <a:lstStyle/>
          <a:p>
            <a:pPr>
              <a:lnSpc>
                <a:spcPts val="1500"/>
              </a:lnSpc>
              <a:spcBef>
                <a:spcPts val="0"/>
              </a:spcBef>
              <a:spcAft>
                <a:spcPts val="0"/>
              </a:spcAft>
            </a:pPr>
            <a:r>
              <a:rPr b="1" sz="1250">
                <a:solidFill>
                  <a:srgbClr val="95B4FF"/>
                </a:solidFill>
                <a:latin typeface="DejaVu Sans"/>
              </a:rPr>
              <a:t>SCHEDULED / NONPACKED</a:t>
            </a:r>
          </a:p>
        </p:txBody>
      </p:sp>
      <p:sp>
        <p:nvSpPr>
          <p:cNvPr id="13" name="TextBox 12"/>
          <p:cNvSpPr txBox="1"/>
          <p:nvPr/>
        </p:nvSpPr>
        <p:spPr>
          <a:xfrm>
            <a:off x="3829050" y="2425700"/>
            <a:ext cx="7429500" cy="317500"/>
          </a:xfrm>
          <a:prstGeom prst="rect">
            <a:avLst/>
          </a:prstGeom>
          <a:noFill/>
        </p:spPr>
        <p:txBody>
          <a:bodyPr wrap="none" lIns="0" rIns="0" tIns="0" bIns="0" anchor="t">
            <a:noAutofit/>
          </a:bodyPr>
          <a:lstStyle/>
          <a:p>
            <a:pPr>
              <a:lnSpc>
                <a:spcPts val="2100"/>
              </a:lnSpc>
              <a:spcBef>
                <a:spcPts val="0"/>
              </a:spcBef>
              <a:spcAft>
                <a:spcPts val="0"/>
              </a:spcAft>
            </a:pPr>
            <a:r>
              <a:rPr b="0" sz="1750">
                <a:solidFill>
                  <a:srgbClr val="F1F5FA"/>
                </a:solidFill>
                <a:latin typeface="DejaVu Sans"/>
              </a:rPr>
              <a:t>FP32 cp.async ring → shared FP32 → convert → MMA</a:t>
            </a:r>
          </a:p>
        </p:txBody>
      </p:sp>
      <p:sp>
        <p:nvSpPr>
          <p:cNvPr id="14" name="Rounded Rectangle 13"/>
          <p:cNvSpPr/>
          <p:nvPr/>
        </p:nvSpPr>
        <p:spPr>
          <a:xfrm>
            <a:off x="698500" y="3270250"/>
            <a:ext cx="10795000" cy="1784350"/>
          </a:xfrm>
          <a:prstGeom prst="roundRect">
            <a:avLst>
              <a:gd name="adj" fmla="val 8540"/>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460750"/>
            <a:ext cx="10160000" cy="317500"/>
          </a:xfrm>
          <a:prstGeom prst="rect">
            <a:avLst/>
          </a:prstGeom>
          <a:noFill/>
        </p:spPr>
        <p:txBody>
          <a:bodyPr wrap="none" lIns="0" rIns="0" tIns="0" bIns="0" anchor="t">
            <a:noAutofit/>
          </a:bodyPr>
          <a:lstStyle/>
          <a:p>
            <a:pPr>
              <a:lnSpc>
                <a:spcPts val="2100"/>
              </a:lnSpc>
              <a:spcBef>
                <a:spcPts val="0"/>
              </a:spcBef>
              <a:spcAft>
                <a:spcPts val="0"/>
              </a:spcAft>
            </a:pPr>
            <a:r>
              <a:rPr b="1" sz="1750">
                <a:solidFill>
                  <a:srgbClr val="5CE4BF"/>
                </a:solidFill>
                <a:latin typeface="DejaVu Sans"/>
              </a:rPr>
              <a:t>Certified packed BF16 path</a:t>
            </a:r>
          </a:p>
        </p:txBody>
      </p:sp>
      <p:sp>
        <p:nvSpPr>
          <p:cNvPr id="16" name="Rounded Rectangle 15"/>
          <p:cNvSpPr/>
          <p:nvPr/>
        </p:nvSpPr>
        <p:spPr>
          <a:xfrm>
            <a:off x="908050" y="3937000"/>
            <a:ext cx="1816100" cy="698500"/>
          </a:xfrm>
          <a:prstGeom prst="roundRect">
            <a:avLst>
              <a:gd name="adj" fmla="val 13636"/>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7750" y="4051300"/>
            <a:ext cx="1555750" cy="536956"/>
          </a:xfrm>
          <a:prstGeom prst="rect">
            <a:avLst/>
          </a:prstGeom>
          <a:noFill/>
        </p:spPr>
        <p:txBody>
          <a:bodyPr wrap="none" lIns="0" rIns="0" tIns="0" bIns="0" anchor="t">
            <a:noAutofit/>
          </a:bodyPr>
          <a:lstStyle/>
          <a:p>
            <a:pPr>
              <a:lnSpc>
                <a:spcPts val="1914"/>
              </a:lnSpc>
              <a:spcBef>
                <a:spcPts val="0"/>
              </a:spcBef>
              <a:spcAft>
                <a:spcPts val="0"/>
              </a:spcAft>
            </a:pPr>
            <a:r>
              <a:rPr b="0" sz="1450">
                <a:solidFill>
                  <a:srgbClr val="F1F5FA"/>
                </a:solidFill>
                <a:latin typeface="DejaVu Sans"/>
              </a:rPr>
              <a:t>Vector global</a:t>
            </a:r>
          </a:p>
          <a:p>
            <a:pPr>
              <a:lnSpc>
                <a:spcPts val="1914"/>
              </a:lnSpc>
              <a:spcBef>
                <a:spcPts val="0"/>
              </a:spcBef>
              <a:spcAft>
                <a:spcPts val="0"/>
              </a:spcAft>
            </a:pPr>
            <a:r>
              <a:rPr b="0" sz="1450">
                <a:solidFill>
                  <a:srgbClr val="F1F5FA"/>
                </a:solidFill>
                <a:latin typeface="DejaVu Sans"/>
              </a:rPr>
              <a:t>prefetch</a:t>
            </a:r>
          </a:p>
        </p:txBody>
      </p:sp>
      <p:cxnSp>
        <p:nvCxnSpPr>
          <p:cNvPr id="18" name="Connector 17"/>
          <p:cNvCxnSpPr/>
          <p:nvPr/>
        </p:nvCxnSpPr>
        <p:spPr>
          <a:xfrm>
            <a:off x="2787650" y="4279900"/>
            <a:ext cx="165100" cy="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882900" y="4216400"/>
            <a:ext cx="69850" cy="6350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882900" y="4279900"/>
            <a:ext cx="69850" cy="6350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028950" y="3937000"/>
            <a:ext cx="1816100" cy="698500"/>
          </a:xfrm>
          <a:prstGeom prst="roundRect">
            <a:avLst>
              <a:gd name="adj" fmla="val 13636"/>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68650" y="4051300"/>
            <a:ext cx="1555750" cy="536956"/>
          </a:xfrm>
          <a:prstGeom prst="rect">
            <a:avLst/>
          </a:prstGeom>
          <a:noFill/>
        </p:spPr>
        <p:txBody>
          <a:bodyPr wrap="none" lIns="0" rIns="0" tIns="0" bIns="0" anchor="t">
            <a:noAutofit/>
          </a:bodyPr>
          <a:lstStyle/>
          <a:p>
            <a:pPr>
              <a:lnSpc>
                <a:spcPts val="1914"/>
              </a:lnSpc>
              <a:spcBef>
                <a:spcPts val="0"/>
              </a:spcBef>
              <a:spcAft>
                <a:spcPts val="0"/>
              </a:spcAft>
            </a:pPr>
            <a:r>
              <a:rPr b="0" sz="1450">
                <a:solidFill>
                  <a:srgbClr val="F1F5FA"/>
                </a:solidFill>
                <a:latin typeface="DejaVu Sans"/>
              </a:rPr>
              <a:t>Pack high +</a:t>
            </a:r>
          </a:p>
          <a:p>
            <a:pPr>
              <a:lnSpc>
                <a:spcPts val="1914"/>
              </a:lnSpc>
              <a:spcBef>
                <a:spcPts val="0"/>
              </a:spcBef>
              <a:spcAft>
                <a:spcPts val="0"/>
              </a:spcAft>
            </a:pPr>
            <a:r>
              <a:rPr b="0" sz="1450">
                <a:solidFill>
                  <a:srgbClr val="F1F5FA"/>
                </a:solidFill>
                <a:latin typeface="DejaVu Sans"/>
              </a:rPr>
              <a:t>residual</a:t>
            </a:r>
          </a:p>
        </p:txBody>
      </p:sp>
      <p:cxnSp>
        <p:nvCxnSpPr>
          <p:cNvPr id="23" name="Connector 22"/>
          <p:cNvCxnSpPr/>
          <p:nvPr/>
        </p:nvCxnSpPr>
        <p:spPr>
          <a:xfrm>
            <a:off x="4908550" y="4279900"/>
            <a:ext cx="165100" cy="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003800" y="4216400"/>
            <a:ext cx="69850" cy="6350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5003800" y="4279900"/>
            <a:ext cx="69850" cy="6350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149850" y="3937000"/>
            <a:ext cx="1816100" cy="698500"/>
          </a:xfrm>
          <a:prstGeom prst="roundRect">
            <a:avLst>
              <a:gd name="adj" fmla="val 13636"/>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89550" y="4051300"/>
            <a:ext cx="1555750" cy="536956"/>
          </a:xfrm>
          <a:prstGeom prst="rect">
            <a:avLst/>
          </a:prstGeom>
          <a:noFill/>
        </p:spPr>
        <p:txBody>
          <a:bodyPr wrap="none" lIns="0" rIns="0" tIns="0" bIns="0" anchor="t">
            <a:noAutofit/>
          </a:bodyPr>
          <a:lstStyle/>
          <a:p>
            <a:pPr>
              <a:lnSpc>
                <a:spcPts val="1914"/>
              </a:lnSpc>
              <a:spcBef>
                <a:spcPts val="0"/>
              </a:spcBef>
              <a:spcAft>
                <a:spcPts val="0"/>
              </a:spcAft>
            </a:pPr>
            <a:r>
              <a:rPr b="0" sz="1450">
                <a:solidFill>
                  <a:srgbClr val="F1F5FA"/>
                </a:solidFill>
                <a:latin typeface="DejaVu Sans"/>
              </a:rPr>
              <a:t>One used</a:t>
            </a:r>
          </a:p>
          <a:p>
            <a:pPr>
              <a:lnSpc>
                <a:spcPts val="1914"/>
              </a:lnSpc>
              <a:spcBef>
                <a:spcPts val="0"/>
              </a:spcBef>
              <a:spcAft>
                <a:spcPts val="0"/>
              </a:spcAft>
            </a:pPr>
            <a:r>
              <a:rPr b="0" sz="1450">
                <a:solidFill>
                  <a:srgbClr val="F1F5FA"/>
                </a:solidFill>
                <a:latin typeface="DejaVu Sans"/>
              </a:rPr>
              <a:t>shared stage</a:t>
            </a:r>
          </a:p>
        </p:txBody>
      </p:sp>
      <p:cxnSp>
        <p:nvCxnSpPr>
          <p:cNvPr id="28" name="Connector 27"/>
          <p:cNvCxnSpPr/>
          <p:nvPr/>
        </p:nvCxnSpPr>
        <p:spPr>
          <a:xfrm>
            <a:off x="7029450" y="4279900"/>
            <a:ext cx="165100" cy="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124700" y="4216400"/>
            <a:ext cx="69850" cy="6350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7124700" y="4279900"/>
            <a:ext cx="69850" cy="6350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270750" y="3937000"/>
            <a:ext cx="1816100" cy="698500"/>
          </a:xfrm>
          <a:prstGeom prst="roundRect">
            <a:avLst>
              <a:gd name="adj" fmla="val 13636"/>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10450" y="4051300"/>
            <a:ext cx="1555750" cy="536956"/>
          </a:xfrm>
          <a:prstGeom prst="rect">
            <a:avLst/>
          </a:prstGeom>
          <a:noFill/>
        </p:spPr>
        <p:txBody>
          <a:bodyPr wrap="none" lIns="0" rIns="0" tIns="0" bIns="0" anchor="t">
            <a:noAutofit/>
          </a:bodyPr>
          <a:lstStyle/>
          <a:p>
            <a:pPr>
              <a:lnSpc>
                <a:spcPts val="1914"/>
              </a:lnSpc>
              <a:spcBef>
                <a:spcPts val="0"/>
              </a:spcBef>
              <a:spcAft>
                <a:spcPts val="0"/>
              </a:spcAft>
            </a:pPr>
            <a:r>
              <a:rPr b="0" sz="1450">
                <a:solidFill>
                  <a:srgbClr val="F1F5FA"/>
                </a:solidFill>
                <a:latin typeface="DejaVu Sans"/>
              </a:rPr>
              <a:t>Load next</a:t>
            </a:r>
          </a:p>
          <a:p>
            <a:pPr>
              <a:lnSpc>
                <a:spcPts val="1914"/>
              </a:lnSpc>
              <a:spcBef>
                <a:spcPts val="0"/>
              </a:spcBef>
              <a:spcAft>
                <a:spcPts val="0"/>
              </a:spcAft>
            </a:pPr>
            <a:r>
              <a:rPr b="0" sz="1450">
                <a:solidFill>
                  <a:srgbClr val="F1F5FA"/>
                </a:solidFill>
                <a:latin typeface="DejaVu Sans"/>
              </a:rPr>
              <a:t>fragment</a:t>
            </a:r>
          </a:p>
        </p:txBody>
      </p:sp>
      <p:cxnSp>
        <p:nvCxnSpPr>
          <p:cNvPr id="33" name="Connector 32"/>
          <p:cNvCxnSpPr/>
          <p:nvPr/>
        </p:nvCxnSpPr>
        <p:spPr>
          <a:xfrm>
            <a:off x="9150350" y="4279900"/>
            <a:ext cx="165100" cy="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245600" y="4216400"/>
            <a:ext cx="69850" cy="6350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9245600" y="4279900"/>
            <a:ext cx="69850" cy="6350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9391650" y="3937000"/>
            <a:ext cx="1816100" cy="698500"/>
          </a:xfrm>
          <a:prstGeom prst="roundRect">
            <a:avLst>
              <a:gd name="adj" fmla="val 13636"/>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531350" y="4051300"/>
            <a:ext cx="1555750" cy="536956"/>
          </a:xfrm>
          <a:prstGeom prst="rect">
            <a:avLst/>
          </a:prstGeom>
          <a:noFill/>
        </p:spPr>
        <p:txBody>
          <a:bodyPr wrap="none" lIns="0" rIns="0" tIns="0" bIns="0" anchor="t">
            <a:noAutofit/>
          </a:bodyPr>
          <a:lstStyle/>
          <a:p>
            <a:pPr>
              <a:lnSpc>
                <a:spcPts val="1914"/>
              </a:lnSpc>
              <a:spcBef>
                <a:spcPts val="0"/>
              </a:spcBef>
              <a:spcAft>
                <a:spcPts val="0"/>
              </a:spcAft>
            </a:pPr>
            <a:r>
              <a:rPr b="0" sz="1450">
                <a:solidFill>
                  <a:srgbClr val="F1F5FA"/>
                </a:solidFill>
                <a:latin typeface="DejaVu Sans"/>
              </a:rPr>
              <a:t>Current</a:t>
            </a:r>
          </a:p>
          <a:p>
            <a:pPr>
              <a:lnSpc>
                <a:spcPts val="1914"/>
              </a:lnSpc>
              <a:spcBef>
                <a:spcPts val="0"/>
              </a:spcBef>
              <a:spcAft>
                <a:spcPts val="0"/>
              </a:spcAft>
            </a:pPr>
            <a:r>
              <a:rPr b="0" sz="1450">
                <a:solidFill>
                  <a:srgbClr val="F1F5FA"/>
                </a:solidFill>
                <a:latin typeface="DejaVu Sans"/>
              </a:rPr>
              <a:t>MMA</a:t>
            </a:r>
          </a:p>
        </p:txBody>
      </p:sp>
      <p:sp>
        <p:nvSpPr>
          <p:cNvPr id="38" name="TextBox 37"/>
          <p:cNvSpPr txBox="1"/>
          <p:nvPr/>
        </p:nvSpPr>
        <p:spPr>
          <a:xfrm>
            <a:off x="920750" y="4768850"/>
            <a:ext cx="10096500" cy="233679"/>
          </a:xfrm>
          <a:prstGeom prst="rect">
            <a:avLst/>
          </a:prstGeom>
          <a:noFill/>
        </p:spPr>
        <p:txBody>
          <a:bodyPr wrap="none" lIns="0" rIns="0" tIns="0" bIns="0" anchor="t">
            <a:noAutofit/>
          </a:bodyPr>
          <a:lstStyle/>
          <a:p>
            <a:pPr>
              <a:lnSpc>
                <a:spcPts val="1439"/>
              </a:lnSpc>
              <a:spcBef>
                <a:spcPts val="0"/>
              </a:spcBef>
              <a:spcAft>
                <a:spcPts val="0"/>
              </a:spcAft>
            </a:pPr>
            <a:r>
              <a:rPr b="0" sz="1200">
                <a:solidFill>
                  <a:srgbClr val="A7B8CF"/>
                </a:solidFill>
                <a:latin typeface="DejaVu Sans"/>
              </a:rPr>
              <a:t>Tile dataflow with global and fragment lookahead.</a:t>
            </a:r>
          </a:p>
        </p:txBody>
      </p:sp>
      <p:sp>
        <p:nvSpPr>
          <p:cNvPr id="39" name="TextBox 38"/>
          <p:cNvSpPr txBox="1"/>
          <p:nvPr/>
        </p:nvSpPr>
        <p:spPr>
          <a:xfrm>
            <a:off x="723900" y="5308600"/>
            <a:ext cx="10731500" cy="279400"/>
          </a:xfrm>
          <a:prstGeom prst="rect">
            <a:avLst/>
          </a:prstGeom>
          <a:noFill/>
        </p:spPr>
        <p:txBody>
          <a:bodyPr wrap="none" lIns="0" rIns="0" tIns="0" bIns="0" anchor="t">
            <a:noAutofit/>
          </a:bodyPr>
          <a:lstStyle/>
          <a:p>
            <a:pPr>
              <a:lnSpc>
                <a:spcPts val="1800"/>
              </a:lnSpc>
              <a:spcBef>
                <a:spcPts val="0"/>
              </a:spcBef>
              <a:spcAft>
                <a:spcPts val="0"/>
              </a:spcAft>
            </a:pPr>
            <a:r>
              <a:rPr b="0" sz="1500">
                <a:solidFill>
                  <a:srgbClr val="5CE4BF"/>
                </a:solidFill>
                <a:latin typeface="DejaVu Sans"/>
              </a:rPr>
              <a:t>Innovation: certify the exact copy phase and the packed producer / consumer layout.</a:t>
            </a:r>
          </a:p>
        </p:txBody>
      </p:sp>
      <p:sp>
        <p:nvSpPr>
          <p:cNvPr id="40" name="TextBox 39"/>
          <p:cNvSpPr txBox="1"/>
          <p:nvPr/>
        </p:nvSpPr>
        <p:spPr>
          <a:xfrm>
            <a:off x="723900" y="5670550"/>
            <a:ext cx="10731500" cy="256540"/>
          </a:xfrm>
          <a:prstGeom prst="rect">
            <a:avLst/>
          </a:prstGeom>
          <a:noFill/>
        </p:spPr>
        <p:txBody>
          <a:bodyPr wrap="none" lIns="0" rIns="0" tIns="0" bIns="0" anchor="t">
            <a:noAutofit/>
          </a:bodyPr>
          <a:lstStyle/>
          <a:p>
            <a:pPr>
              <a:lnSpc>
                <a:spcPts val="1620"/>
              </a:lnSpc>
              <a:spcBef>
                <a:spcPts val="0"/>
              </a:spcBef>
              <a:spcAft>
                <a:spcPts val="0"/>
              </a:spcAft>
            </a:pPr>
            <a:r>
              <a:rPr b="0" sz="1350">
                <a:solidFill>
                  <a:srgbClr val="F1F5FA"/>
                </a:solidFill>
                <a:latin typeface="DejaVu Sans"/>
              </a:rPr>
              <a:t>Final tile: omit unused prefetch + consumer barrier; keep producer writes and their barrier.</a:t>
            </a:r>
          </a:p>
        </p:txBody>
      </p:sp>
      <p:sp>
        <p:nvSpPr>
          <p:cNvPr id="41" name="TextBox 40"/>
          <p:cNvSpPr txBox="1"/>
          <p:nvPr/>
        </p:nvSpPr>
        <p:spPr>
          <a:xfrm>
            <a:off x="723900" y="6032500"/>
            <a:ext cx="10731500" cy="241300"/>
          </a:xfrm>
          <a:prstGeom prst="rect">
            <a:avLst/>
          </a:prstGeom>
          <a:noFill/>
        </p:spPr>
        <p:txBody>
          <a:bodyPr wrap="none" lIns="0" rIns="0" tIns="0" bIns="0" anchor="t">
            <a:noAutofit/>
          </a:bodyPr>
          <a:lstStyle/>
          <a:p>
            <a:pPr>
              <a:lnSpc>
                <a:spcPts val="1500"/>
              </a:lnSpc>
              <a:spcBef>
                <a:spcPts val="0"/>
              </a:spcBef>
              <a:spcAft>
                <a:spcPts val="0"/>
              </a:spcAft>
            </a:pPr>
            <a:r>
              <a:rPr b="0" sz="1250">
                <a:solidFill>
                  <a:srgbClr val="A7B8CF"/>
                </a:solidFill>
                <a:latin typeface="DejaVu Sans"/>
              </a:rPr>
              <a:t>Eligible FP32 / TF32x3 paths retain 4 / 8 / 16-byte cp.async groups.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C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19100"/>
            <a:ext cx="304800" cy="44450"/>
          </a:xfrm>
          <a:prstGeom prst="rect">
            <a:avLst/>
          </a:prstGeom>
          <a:solidFill>
            <a:srgbClr val="5CE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336550"/>
            <a:ext cx="7937500" cy="241300"/>
          </a:xfrm>
          <a:prstGeom prst="rect">
            <a:avLst/>
          </a:prstGeom>
          <a:noFill/>
        </p:spPr>
        <p:txBody>
          <a:bodyPr wrap="none" lIns="0" rIns="0" tIns="0" bIns="0" anchor="t">
            <a:noAutofit/>
          </a:bodyPr>
          <a:lstStyle/>
          <a:p>
            <a:pPr>
              <a:lnSpc>
                <a:spcPts val="1500"/>
              </a:lnSpc>
              <a:spcBef>
                <a:spcPts val="0"/>
              </a:spcBef>
              <a:spcAft>
                <a:spcPts val="0"/>
              </a:spcAft>
            </a:pPr>
            <a:r>
              <a:rPr b="1" sz="1250">
                <a:solidFill>
                  <a:srgbClr val="5CE4BF"/>
                </a:solidFill>
                <a:latin typeface="DejaVu Sans"/>
              </a:rPr>
              <a:t>DEUTERON / COMPILER PASSES</a:t>
            </a:r>
          </a:p>
        </p:txBody>
      </p:sp>
      <p:sp>
        <p:nvSpPr>
          <p:cNvPr id="5" name="TextBox 4"/>
          <p:cNvSpPr txBox="1"/>
          <p:nvPr/>
        </p:nvSpPr>
        <p:spPr>
          <a:xfrm>
            <a:off x="10572750" y="336550"/>
            <a:ext cx="952500" cy="241300"/>
          </a:xfrm>
          <a:prstGeom prst="rect">
            <a:avLst/>
          </a:prstGeom>
          <a:noFill/>
        </p:spPr>
        <p:txBody>
          <a:bodyPr wrap="none" lIns="0" rIns="0" tIns="0" bIns="0" anchor="t">
            <a:noAutofit/>
          </a:bodyPr>
          <a:lstStyle/>
          <a:p>
            <a:pPr algn="r">
              <a:lnSpc>
                <a:spcPts val="1500"/>
              </a:lnSpc>
              <a:spcBef>
                <a:spcPts val="0"/>
              </a:spcBef>
              <a:spcAft>
                <a:spcPts val="0"/>
              </a:spcAft>
            </a:pPr>
            <a:r>
              <a:rPr b="0" sz="1250">
                <a:solidFill>
                  <a:srgbClr val="A7B8CF"/>
                </a:solidFill>
                <a:latin typeface="DejaVu Sans"/>
              </a:rPr>
              <a:t>07 / 09</a:t>
            </a:r>
          </a:p>
        </p:txBody>
      </p:sp>
      <p:cxnSp>
        <p:nvCxnSpPr>
          <p:cNvPr id="6" name="Connector 5"/>
          <p:cNvCxnSpPr/>
          <p:nvPr/>
        </p:nvCxnSpPr>
        <p:spPr>
          <a:xfrm>
            <a:off x="609600" y="6375400"/>
            <a:ext cx="10972800" cy="0"/>
          </a:xfrm>
          <a:prstGeom prst="line">
            <a:avLst/>
          </a:prstGeom>
          <a:ln w="12700">
            <a:solidFill>
              <a:srgbClr val="2C3C5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35000" y="6496050"/>
            <a:ext cx="7874000" cy="210820"/>
          </a:xfrm>
          <a:prstGeom prst="rect">
            <a:avLst/>
          </a:prstGeom>
          <a:noFill/>
        </p:spPr>
        <p:txBody>
          <a:bodyPr wrap="none" lIns="0" rIns="0" tIns="0" bIns="0" anchor="t">
            <a:noAutofit/>
          </a:bodyPr>
          <a:lstStyle/>
          <a:p>
            <a:pPr>
              <a:lnSpc>
                <a:spcPts val="1260"/>
              </a:lnSpc>
              <a:spcBef>
                <a:spcPts val="0"/>
              </a:spcBef>
              <a:spcAft>
                <a:spcPts val="0"/>
              </a:spcAft>
            </a:pPr>
            <a:r>
              <a:rPr b="0" sz="1050">
                <a:solidFill>
                  <a:srgbClr val="A7B8CF"/>
                </a:solidFill>
                <a:latin typeface="DejaVu Sans"/>
              </a:rPr>
              <a:t>compiler/passes/recurrence.py · compiler/passes/lifetime.py</a:t>
            </a:r>
          </a:p>
        </p:txBody>
      </p:sp>
      <p:sp>
        <p:nvSpPr>
          <p:cNvPr id="8" name="TextBox 7"/>
          <p:cNvSpPr txBox="1"/>
          <p:nvPr/>
        </p:nvSpPr>
        <p:spPr>
          <a:xfrm>
            <a:off x="8699500" y="6496050"/>
            <a:ext cx="2857500" cy="218440"/>
          </a:xfrm>
          <a:prstGeom prst="rect">
            <a:avLst/>
          </a:prstGeom>
          <a:noFill/>
        </p:spPr>
        <p:txBody>
          <a:bodyPr wrap="none" lIns="0" rIns="0" tIns="0" bIns="0" anchor="t">
            <a:noAutofit/>
          </a:bodyPr>
          <a:lstStyle/>
          <a:p>
            <a:pPr algn="r">
              <a:lnSpc>
                <a:spcPts val="1320"/>
              </a:lnSpc>
              <a:spcBef>
                <a:spcPts val="0"/>
              </a:spcBef>
              <a:spcAft>
                <a:spcPts val="0"/>
              </a:spcAft>
            </a:pPr>
            <a:r>
              <a:rPr b="0" sz="1100">
                <a:solidFill>
                  <a:srgbClr val="A7B8CF"/>
                </a:solidFill>
                <a:latin typeface="DejaVu Sans"/>
              </a:rPr>
              <a:t>RTX 5090  /  SM120</a:t>
            </a:r>
          </a:p>
        </p:txBody>
      </p:sp>
      <p:sp>
        <p:nvSpPr>
          <p:cNvPr id="9" name="TextBox 8"/>
          <p:cNvSpPr txBox="1"/>
          <p:nvPr/>
        </p:nvSpPr>
        <p:spPr>
          <a:xfrm>
            <a:off x="685800" y="971550"/>
            <a:ext cx="10795000" cy="553720"/>
          </a:xfrm>
          <a:prstGeom prst="rect">
            <a:avLst/>
          </a:prstGeom>
          <a:noFill/>
        </p:spPr>
        <p:txBody>
          <a:bodyPr wrap="none" lIns="0" rIns="0" tIns="0" bIns="0" anchor="t">
            <a:noAutofit/>
          </a:bodyPr>
          <a:lstStyle/>
          <a:p>
            <a:pPr>
              <a:lnSpc>
                <a:spcPts val="3960"/>
              </a:lnSpc>
              <a:spcBef>
                <a:spcPts val="0"/>
              </a:spcBef>
              <a:spcAft>
                <a:spcPts val="0"/>
              </a:spcAft>
            </a:pPr>
            <a:r>
              <a:rPr b="1" sz="3300">
                <a:solidFill>
                  <a:srgbClr val="F1F5FA"/>
                </a:solidFill>
                <a:latin typeface="DejaVu Sans"/>
              </a:rPr>
              <a:t>Stage the attention recurrence</a:t>
            </a:r>
          </a:p>
        </p:txBody>
      </p:sp>
      <p:sp>
        <p:nvSpPr>
          <p:cNvPr id="10" name="TextBox 9"/>
          <p:cNvSpPr txBox="1"/>
          <p:nvPr/>
        </p:nvSpPr>
        <p:spPr>
          <a:xfrm>
            <a:off x="711200" y="1670050"/>
            <a:ext cx="10699750" cy="271780"/>
          </a:xfrm>
          <a:prstGeom prst="rect">
            <a:avLst/>
          </a:prstGeom>
          <a:noFill/>
        </p:spPr>
        <p:txBody>
          <a:bodyPr wrap="none" lIns="0" rIns="0" tIns="0" bIns="0" anchor="t">
            <a:noAutofit/>
          </a:bodyPr>
          <a:lstStyle/>
          <a:p>
            <a:pPr>
              <a:lnSpc>
                <a:spcPts val="1739"/>
              </a:lnSpc>
              <a:spcBef>
                <a:spcPts val="0"/>
              </a:spcBef>
              <a:spcAft>
                <a:spcPts val="0"/>
              </a:spcAft>
            </a:pPr>
            <a:r>
              <a:rPr b="0" sz="1450">
                <a:solidFill>
                  <a:srgbClr val="A7B8CF"/>
                </a:solidFill>
                <a:latin typeface="DejaVu Sans"/>
              </a:rPr>
              <a:t>Staged online recurrence · Blocked recurrence loads · Recurrence shared-storage reuse</a:t>
            </a:r>
          </a:p>
        </p:txBody>
      </p:sp>
      <p:sp>
        <p:nvSpPr>
          <p:cNvPr id="11" name="Rounded Rectangle 10"/>
          <p:cNvSpPr/>
          <p:nvPr/>
        </p:nvSpPr>
        <p:spPr>
          <a:xfrm>
            <a:off x="698500" y="2159000"/>
            <a:ext cx="10795000" cy="698500"/>
          </a:xfrm>
          <a:prstGeom prst="roundRect">
            <a:avLst>
              <a:gd name="adj" fmla="val 18181"/>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8050" y="2336800"/>
            <a:ext cx="1111250" cy="241300"/>
          </a:xfrm>
          <a:prstGeom prst="rect">
            <a:avLst/>
          </a:prstGeom>
          <a:noFill/>
        </p:spPr>
        <p:txBody>
          <a:bodyPr wrap="none" lIns="0" rIns="0" tIns="0" bIns="0" anchor="t">
            <a:noAutofit/>
          </a:bodyPr>
          <a:lstStyle/>
          <a:p>
            <a:pPr>
              <a:lnSpc>
                <a:spcPts val="1500"/>
              </a:lnSpc>
              <a:spcBef>
                <a:spcPts val="0"/>
              </a:spcBef>
              <a:spcAft>
                <a:spcPts val="0"/>
              </a:spcAft>
            </a:pPr>
            <a:r>
              <a:rPr b="1" sz="1250">
                <a:solidFill>
                  <a:srgbClr val="A7B8CF"/>
                </a:solidFill>
                <a:latin typeface="DejaVu Sans"/>
              </a:rPr>
              <a:t>BEFORE</a:t>
            </a:r>
          </a:p>
        </p:txBody>
      </p:sp>
      <p:sp>
        <p:nvSpPr>
          <p:cNvPr id="13" name="TextBox 12"/>
          <p:cNvSpPr txBox="1"/>
          <p:nvPr/>
        </p:nvSpPr>
        <p:spPr>
          <a:xfrm>
            <a:off x="2235200" y="2355850"/>
            <a:ext cx="8890000" cy="302260"/>
          </a:xfrm>
          <a:prstGeom prst="rect">
            <a:avLst/>
          </a:prstGeom>
          <a:noFill/>
        </p:spPr>
        <p:txBody>
          <a:bodyPr wrap="none" lIns="0" rIns="0" tIns="0" bIns="0" anchor="t">
            <a:noAutofit/>
          </a:bodyPr>
          <a:lstStyle/>
          <a:p>
            <a:pPr>
              <a:lnSpc>
                <a:spcPts val="1980"/>
              </a:lnSpc>
              <a:spcBef>
                <a:spcPts val="0"/>
              </a:spcBef>
              <a:spcAft>
                <a:spcPts val="0"/>
              </a:spcAft>
            </a:pPr>
            <a:r>
              <a:rPr b="0" sz="1650">
                <a:solidFill>
                  <a:srgbClr val="F1F5FA"/>
                </a:solidFill>
                <a:latin typeface="DejaVu Sans"/>
              </a:rPr>
              <a:t>Output columns repeat score and online max / mass / value work</a:t>
            </a:r>
          </a:p>
        </p:txBody>
      </p:sp>
      <p:sp>
        <p:nvSpPr>
          <p:cNvPr id="14" name="Rounded Rectangle 13"/>
          <p:cNvSpPr/>
          <p:nvPr/>
        </p:nvSpPr>
        <p:spPr>
          <a:xfrm>
            <a:off x="698500" y="3238500"/>
            <a:ext cx="2349500" cy="1028700"/>
          </a:xfrm>
          <a:prstGeom prst="roundRect">
            <a:avLst>
              <a:gd name="adj" fmla="val 13580"/>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9950" y="3429000"/>
            <a:ext cx="2006600" cy="325120"/>
          </a:xfrm>
          <a:prstGeom prst="rect">
            <a:avLst/>
          </a:prstGeom>
          <a:noFill/>
        </p:spPr>
        <p:txBody>
          <a:bodyPr wrap="none" lIns="0" rIns="0" tIns="0" bIns="0" anchor="t">
            <a:noAutofit/>
          </a:bodyPr>
          <a:lstStyle/>
          <a:p>
            <a:pPr>
              <a:lnSpc>
                <a:spcPts val="2160"/>
              </a:lnSpc>
              <a:spcBef>
                <a:spcPts val="0"/>
              </a:spcBef>
              <a:spcAft>
                <a:spcPts val="0"/>
              </a:spcAft>
            </a:pPr>
            <a:r>
              <a:rPr b="1" sz="1800">
                <a:solidFill>
                  <a:srgbClr val="5CE4BF"/>
                </a:solidFill>
                <a:latin typeface="DejaVu Sans"/>
              </a:rPr>
              <a:t>Scores once</a:t>
            </a:r>
          </a:p>
        </p:txBody>
      </p:sp>
      <p:sp>
        <p:nvSpPr>
          <p:cNvPr id="16" name="TextBox 15"/>
          <p:cNvSpPr txBox="1"/>
          <p:nvPr/>
        </p:nvSpPr>
        <p:spPr>
          <a:xfrm>
            <a:off x="869950" y="3841750"/>
            <a:ext cx="2006600" cy="256540"/>
          </a:xfrm>
          <a:prstGeom prst="rect">
            <a:avLst/>
          </a:prstGeom>
          <a:noFill/>
        </p:spPr>
        <p:txBody>
          <a:bodyPr wrap="none" lIns="0" rIns="0" tIns="0" bIns="0" anchor="t">
            <a:noAutofit/>
          </a:bodyPr>
          <a:lstStyle/>
          <a:p>
            <a:pPr>
              <a:lnSpc>
                <a:spcPts val="1620"/>
              </a:lnSpc>
              <a:spcBef>
                <a:spcPts val="0"/>
              </a:spcBef>
              <a:spcAft>
                <a:spcPts val="0"/>
              </a:spcAft>
            </a:pPr>
            <a:r>
              <a:rPr b="0" sz="1350">
                <a:solidFill>
                  <a:srgbClr val="F1F5FA"/>
                </a:solidFill>
                <a:latin typeface="DejaVu Sans"/>
              </a:rPr>
              <a:t>per sharing group</a:t>
            </a:r>
          </a:p>
        </p:txBody>
      </p:sp>
      <p:cxnSp>
        <p:nvCxnSpPr>
          <p:cNvPr id="17" name="Connector 16"/>
          <p:cNvCxnSpPr/>
          <p:nvPr/>
        </p:nvCxnSpPr>
        <p:spPr>
          <a:xfrm>
            <a:off x="3149600" y="3752850"/>
            <a:ext cx="171450" cy="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251200" y="3689350"/>
            <a:ext cx="69850" cy="6350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251200" y="3752850"/>
            <a:ext cx="69850" cy="6350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429000" y="3238500"/>
            <a:ext cx="2349500" cy="1028700"/>
          </a:xfrm>
          <a:prstGeom prst="roundRect">
            <a:avLst>
              <a:gd name="adj" fmla="val 13580"/>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00450" y="3429000"/>
            <a:ext cx="2006600" cy="325120"/>
          </a:xfrm>
          <a:prstGeom prst="rect">
            <a:avLst/>
          </a:prstGeom>
          <a:noFill/>
        </p:spPr>
        <p:txBody>
          <a:bodyPr wrap="none" lIns="0" rIns="0" tIns="0" bIns="0" anchor="t">
            <a:noAutofit/>
          </a:bodyPr>
          <a:lstStyle/>
          <a:p>
            <a:pPr>
              <a:lnSpc>
                <a:spcPts val="2160"/>
              </a:lnSpc>
              <a:spcBef>
                <a:spcPts val="0"/>
              </a:spcBef>
              <a:spcAft>
                <a:spcPts val="0"/>
              </a:spcAft>
            </a:pPr>
            <a:r>
              <a:rPr b="1" sz="1800">
                <a:solidFill>
                  <a:srgbClr val="5CE4BF"/>
                </a:solidFill>
                <a:latin typeface="DejaVu Sans"/>
              </a:rPr>
              <a:t>Maximum</a:t>
            </a:r>
          </a:p>
        </p:txBody>
      </p:sp>
      <p:sp>
        <p:nvSpPr>
          <p:cNvPr id="22" name="TextBox 21"/>
          <p:cNvSpPr txBox="1"/>
          <p:nvPr/>
        </p:nvSpPr>
        <p:spPr>
          <a:xfrm>
            <a:off x="3600450" y="3841750"/>
            <a:ext cx="2006600" cy="256540"/>
          </a:xfrm>
          <a:prstGeom prst="rect">
            <a:avLst/>
          </a:prstGeom>
          <a:noFill/>
        </p:spPr>
        <p:txBody>
          <a:bodyPr wrap="none" lIns="0" rIns="0" tIns="0" bIns="0" anchor="t">
            <a:noAutofit/>
          </a:bodyPr>
          <a:lstStyle/>
          <a:p>
            <a:pPr>
              <a:lnSpc>
                <a:spcPts val="1620"/>
              </a:lnSpc>
              <a:spcBef>
                <a:spcPts val="0"/>
              </a:spcBef>
              <a:spcAft>
                <a:spcPts val="0"/>
              </a:spcAft>
            </a:pPr>
            <a:r>
              <a:rPr b="0" sz="1350">
                <a:solidFill>
                  <a:srgbClr val="F1F5FA"/>
                </a:solidFill>
                <a:latin typeface="DejaVu Sans"/>
              </a:rPr>
              <a:t>across the keys</a:t>
            </a:r>
          </a:p>
        </p:txBody>
      </p:sp>
      <p:cxnSp>
        <p:nvCxnSpPr>
          <p:cNvPr id="23" name="Connector 22"/>
          <p:cNvCxnSpPr/>
          <p:nvPr/>
        </p:nvCxnSpPr>
        <p:spPr>
          <a:xfrm>
            <a:off x="5880100" y="3752850"/>
            <a:ext cx="171450" cy="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981700" y="3689350"/>
            <a:ext cx="69850" cy="6350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5981700" y="3752850"/>
            <a:ext cx="69850" cy="6350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159500" y="3238500"/>
            <a:ext cx="2349500" cy="1028700"/>
          </a:xfrm>
          <a:prstGeom prst="roundRect">
            <a:avLst>
              <a:gd name="adj" fmla="val 13580"/>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30950" y="3429000"/>
            <a:ext cx="2006600" cy="325120"/>
          </a:xfrm>
          <a:prstGeom prst="rect">
            <a:avLst/>
          </a:prstGeom>
          <a:noFill/>
        </p:spPr>
        <p:txBody>
          <a:bodyPr wrap="none" lIns="0" rIns="0" tIns="0" bIns="0" anchor="t">
            <a:noAutofit/>
          </a:bodyPr>
          <a:lstStyle/>
          <a:p>
            <a:pPr>
              <a:lnSpc>
                <a:spcPts val="2160"/>
              </a:lnSpc>
              <a:spcBef>
                <a:spcPts val="0"/>
              </a:spcBef>
              <a:spcAft>
                <a:spcPts val="0"/>
              </a:spcAft>
            </a:pPr>
            <a:r>
              <a:rPr b="1" sz="1800">
                <a:solidFill>
                  <a:srgbClr val="5CE4BF"/>
                </a:solidFill>
                <a:latin typeface="DejaVu Sans"/>
              </a:rPr>
              <a:t>Weights</a:t>
            </a:r>
          </a:p>
        </p:txBody>
      </p:sp>
      <p:sp>
        <p:nvSpPr>
          <p:cNvPr id="28" name="TextBox 27"/>
          <p:cNvSpPr txBox="1"/>
          <p:nvPr/>
        </p:nvSpPr>
        <p:spPr>
          <a:xfrm>
            <a:off x="6330950" y="3841750"/>
            <a:ext cx="2006600" cy="256540"/>
          </a:xfrm>
          <a:prstGeom prst="rect">
            <a:avLst/>
          </a:prstGeom>
          <a:noFill/>
        </p:spPr>
        <p:txBody>
          <a:bodyPr wrap="none" lIns="0" rIns="0" tIns="0" bIns="0" anchor="t">
            <a:noAutofit/>
          </a:bodyPr>
          <a:lstStyle/>
          <a:p>
            <a:pPr>
              <a:lnSpc>
                <a:spcPts val="1620"/>
              </a:lnSpc>
              <a:spcBef>
                <a:spcPts val="0"/>
              </a:spcBef>
              <a:spcAft>
                <a:spcPts val="0"/>
              </a:spcAft>
            </a:pPr>
            <a:r>
              <a:rPr b="0" sz="1350">
                <a:solidFill>
                  <a:srgbClr val="F1F5FA"/>
                </a:solidFill>
                <a:latin typeface="DejaVu Sans"/>
              </a:rPr>
              <a:t>exp(score − max)</a:t>
            </a:r>
          </a:p>
        </p:txBody>
      </p:sp>
      <p:cxnSp>
        <p:nvCxnSpPr>
          <p:cNvPr id="29" name="Connector 28"/>
          <p:cNvCxnSpPr/>
          <p:nvPr/>
        </p:nvCxnSpPr>
        <p:spPr>
          <a:xfrm>
            <a:off x="8559800" y="3752850"/>
            <a:ext cx="266700" cy="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826500" y="3454400"/>
            <a:ext cx="0" cy="67945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826500" y="3473450"/>
            <a:ext cx="165100" cy="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921750" y="3409950"/>
            <a:ext cx="69850" cy="6350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8921750" y="3473450"/>
            <a:ext cx="69850" cy="63500"/>
          </a:xfrm>
          <a:prstGeom prst="line">
            <a:avLst/>
          </a:prstGeom>
          <a:ln w="25400">
            <a:solidFill>
              <a:srgbClr val="5CE4BF"/>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080500" y="3200400"/>
            <a:ext cx="2413000" cy="558800"/>
          </a:xfrm>
          <a:prstGeom prst="roundRect">
            <a:avLst>
              <a:gd name="adj" fmla="val 19318"/>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207500" y="3359150"/>
            <a:ext cx="2171700" cy="256540"/>
          </a:xfrm>
          <a:prstGeom prst="rect">
            <a:avLst/>
          </a:prstGeom>
          <a:noFill/>
        </p:spPr>
        <p:txBody>
          <a:bodyPr wrap="none" lIns="0" rIns="0" tIns="0" bIns="0" anchor="t">
            <a:noAutofit/>
          </a:bodyPr>
          <a:lstStyle/>
          <a:p>
            <a:pPr>
              <a:lnSpc>
                <a:spcPts val="1620"/>
              </a:lnSpc>
              <a:spcBef>
                <a:spcPts val="0"/>
              </a:spcBef>
              <a:spcAft>
                <a:spcPts val="0"/>
              </a:spcAft>
            </a:pPr>
            <a:r>
              <a:rPr b="1" sz="1350">
                <a:solidFill>
                  <a:srgbClr val="5CE4BF"/>
                </a:solidFill>
                <a:latin typeface="DejaVu Sans"/>
              </a:rPr>
              <a:t>Register mass</a:t>
            </a:r>
          </a:p>
        </p:txBody>
      </p:sp>
      <p:cxnSp>
        <p:nvCxnSpPr>
          <p:cNvPr id="36" name="Connector 35"/>
          <p:cNvCxnSpPr/>
          <p:nvPr/>
        </p:nvCxnSpPr>
        <p:spPr>
          <a:xfrm>
            <a:off x="8826500" y="4152900"/>
            <a:ext cx="165100" cy="0"/>
          </a:xfrm>
          <a:prstGeom prst="line">
            <a:avLst/>
          </a:prstGeom>
          <a:ln w="25400">
            <a:solidFill>
              <a:srgbClr val="95B4FF"/>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921750" y="4089400"/>
            <a:ext cx="69850" cy="63500"/>
          </a:xfrm>
          <a:prstGeom prst="line">
            <a:avLst/>
          </a:prstGeom>
          <a:ln w="25400">
            <a:solidFill>
              <a:srgbClr val="95B4FF"/>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8921750" y="4152900"/>
            <a:ext cx="69850" cy="63500"/>
          </a:xfrm>
          <a:prstGeom prst="line">
            <a:avLst/>
          </a:prstGeom>
          <a:ln w="25400">
            <a:solidFill>
              <a:srgbClr val="95B4FF"/>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9080500" y="3879850"/>
            <a:ext cx="2413000" cy="558800"/>
          </a:xfrm>
          <a:prstGeom prst="roundRect">
            <a:avLst>
              <a:gd name="adj" fmla="val 19318"/>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207500" y="4038600"/>
            <a:ext cx="2171700" cy="256540"/>
          </a:xfrm>
          <a:prstGeom prst="rect">
            <a:avLst/>
          </a:prstGeom>
          <a:noFill/>
        </p:spPr>
        <p:txBody>
          <a:bodyPr wrap="none" lIns="0" rIns="0" tIns="0" bIns="0" anchor="t">
            <a:noAutofit/>
          </a:bodyPr>
          <a:lstStyle/>
          <a:p>
            <a:pPr>
              <a:lnSpc>
                <a:spcPts val="1620"/>
              </a:lnSpc>
              <a:spcBef>
                <a:spcPts val="0"/>
              </a:spcBef>
              <a:spcAft>
                <a:spcPts val="0"/>
              </a:spcAft>
            </a:pPr>
            <a:r>
              <a:rPr b="1" sz="1350">
                <a:solidFill>
                  <a:srgbClr val="95B4FF"/>
                </a:solidFill>
                <a:latin typeface="DejaVu Sans"/>
              </a:rPr>
              <a:t>Shared weights → PV</a:t>
            </a:r>
          </a:p>
        </p:txBody>
      </p:sp>
      <p:sp>
        <p:nvSpPr>
          <p:cNvPr id="41" name="TextBox 40"/>
          <p:cNvSpPr txBox="1"/>
          <p:nvPr/>
        </p:nvSpPr>
        <p:spPr>
          <a:xfrm>
            <a:off x="723900" y="4470400"/>
            <a:ext cx="10731500" cy="241300"/>
          </a:xfrm>
          <a:prstGeom prst="rect">
            <a:avLst/>
          </a:prstGeom>
          <a:noFill/>
        </p:spPr>
        <p:txBody>
          <a:bodyPr wrap="none" lIns="0" rIns="0" tIns="0" bIns="0" anchor="t">
            <a:noAutofit/>
          </a:bodyPr>
          <a:lstStyle/>
          <a:p>
            <a:pPr>
              <a:lnSpc>
                <a:spcPts val="1500"/>
              </a:lnSpc>
              <a:spcBef>
                <a:spcPts val="0"/>
              </a:spcBef>
              <a:spcAft>
                <a:spcPts val="0"/>
              </a:spcAft>
            </a:pPr>
            <a:r>
              <a:rPr b="0" sz="1250">
                <a:solidFill>
                  <a:srgbClr val="A7B8CF"/>
                </a:solidFill>
                <a:latin typeface="DejaVu Sans"/>
              </a:rPr>
              <a:t>Unnormalized weights; normalization stays in the output suffix.</a:t>
            </a:r>
          </a:p>
        </p:txBody>
      </p:sp>
      <p:sp>
        <p:nvSpPr>
          <p:cNvPr id="42" name="Rounded Rectangle 41"/>
          <p:cNvSpPr/>
          <p:nvPr/>
        </p:nvSpPr>
        <p:spPr>
          <a:xfrm>
            <a:off x="698500" y="4870450"/>
            <a:ext cx="5143500" cy="1143000"/>
          </a:xfrm>
          <a:prstGeom prst="roundRect">
            <a:avLst>
              <a:gd name="adj" fmla="val 11111"/>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9000" y="5016500"/>
            <a:ext cx="4762500" cy="287020"/>
          </a:xfrm>
          <a:prstGeom prst="rect">
            <a:avLst/>
          </a:prstGeom>
          <a:noFill/>
        </p:spPr>
        <p:txBody>
          <a:bodyPr wrap="none" lIns="0" rIns="0" tIns="0" bIns="0" anchor="t">
            <a:noAutofit/>
          </a:bodyPr>
          <a:lstStyle/>
          <a:p>
            <a:pPr>
              <a:lnSpc>
                <a:spcPts val="1859"/>
              </a:lnSpc>
              <a:spcBef>
                <a:spcPts val="0"/>
              </a:spcBef>
              <a:spcAft>
                <a:spcPts val="0"/>
              </a:spcAft>
            </a:pPr>
            <a:r>
              <a:rPr b="1" sz="1550">
                <a:solidFill>
                  <a:srgbClr val="95B4FF"/>
                </a:solidFill>
                <a:latin typeface="DejaVu Sans"/>
              </a:rPr>
              <a:t>Blocked recurrence loads</a:t>
            </a:r>
          </a:p>
        </p:txBody>
      </p:sp>
      <p:sp>
        <p:nvSpPr>
          <p:cNvPr id="44" name="TextBox 43"/>
          <p:cNvSpPr txBox="1"/>
          <p:nvPr/>
        </p:nvSpPr>
        <p:spPr>
          <a:xfrm>
            <a:off x="889000" y="5410200"/>
            <a:ext cx="4762500" cy="530860"/>
          </a:xfrm>
          <a:prstGeom prst="rect">
            <a:avLst/>
          </a:prstGeom>
          <a:noFill/>
        </p:spPr>
        <p:txBody>
          <a:bodyPr wrap="none" lIns="0" rIns="0" tIns="0" bIns="0" anchor="t">
            <a:noAutofit/>
          </a:bodyPr>
          <a:lstStyle/>
          <a:p>
            <a:pPr>
              <a:lnSpc>
                <a:spcPts val="1890"/>
              </a:lnSpc>
              <a:spcBef>
                <a:spcPts val="0"/>
              </a:spcBef>
              <a:spcAft>
                <a:spcPts val="0"/>
              </a:spcAft>
            </a:pPr>
            <a:r>
              <a:rPr b="0" sz="1400">
                <a:solidFill>
                  <a:srgbClr val="F1F5FA"/>
                </a:solidFill>
                <a:latin typeface="DejaVu Sans"/>
              </a:rPr>
              <a:t>2 / 4 adjacent keys per lane</a:t>
            </a:r>
          </a:p>
          <a:p>
            <a:pPr>
              <a:lnSpc>
                <a:spcPts val="1890"/>
              </a:lnSpc>
              <a:spcBef>
                <a:spcPts val="0"/>
              </a:spcBef>
              <a:spcAft>
                <a:spcPts val="0"/>
              </a:spcAft>
            </a:pPr>
            <a:r>
              <a:rPr b="0" sz="1400">
                <a:solidFill>
                  <a:srgbClr val="F1F5FA"/>
                </a:solidFill>
                <a:latin typeface="DejaVu Sans"/>
              </a:rPr>
              <a:t>Vector loads and hoisted addresses</a:t>
            </a:r>
          </a:p>
        </p:txBody>
      </p:sp>
      <p:sp>
        <p:nvSpPr>
          <p:cNvPr id="45" name="Rounded Rectangle 44"/>
          <p:cNvSpPr/>
          <p:nvPr/>
        </p:nvSpPr>
        <p:spPr>
          <a:xfrm>
            <a:off x="6350000" y="4870450"/>
            <a:ext cx="5143500" cy="1143000"/>
          </a:xfrm>
          <a:prstGeom prst="roundRect">
            <a:avLst>
              <a:gd name="adj" fmla="val 11111"/>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40500" y="5016500"/>
            <a:ext cx="4762500" cy="287020"/>
          </a:xfrm>
          <a:prstGeom prst="rect">
            <a:avLst/>
          </a:prstGeom>
          <a:noFill/>
        </p:spPr>
        <p:txBody>
          <a:bodyPr wrap="none" lIns="0" rIns="0" tIns="0" bIns="0" anchor="t">
            <a:noAutofit/>
          </a:bodyPr>
          <a:lstStyle/>
          <a:p>
            <a:pPr>
              <a:lnSpc>
                <a:spcPts val="1859"/>
              </a:lnSpc>
              <a:spcBef>
                <a:spcPts val="0"/>
              </a:spcBef>
              <a:spcAft>
                <a:spcPts val="0"/>
              </a:spcAft>
            </a:pPr>
            <a:r>
              <a:rPr b="1" sz="1550">
                <a:solidFill>
                  <a:srgbClr val="F1CC83"/>
                </a:solidFill>
                <a:latin typeface="DejaVu Sans"/>
              </a:rPr>
              <a:t>Recurrence shared-storage reuse</a:t>
            </a:r>
          </a:p>
        </p:txBody>
      </p:sp>
      <p:sp>
        <p:nvSpPr>
          <p:cNvPr id="47" name="TextBox 46"/>
          <p:cNvSpPr txBox="1"/>
          <p:nvPr/>
        </p:nvSpPr>
        <p:spPr>
          <a:xfrm>
            <a:off x="6540500" y="5410200"/>
            <a:ext cx="4762500" cy="530860"/>
          </a:xfrm>
          <a:prstGeom prst="rect">
            <a:avLst/>
          </a:prstGeom>
          <a:noFill/>
        </p:spPr>
        <p:txBody>
          <a:bodyPr wrap="none" lIns="0" rIns="0" tIns="0" bIns="0" anchor="t">
            <a:noAutofit/>
          </a:bodyPr>
          <a:lstStyle/>
          <a:p>
            <a:pPr>
              <a:lnSpc>
                <a:spcPts val="1890"/>
              </a:lnSpc>
              <a:spcBef>
                <a:spcPts val="0"/>
              </a:spcBef>
              <a:spcAft>
                <a:spcPts val="0"/>
              </a:spcAft>
            </a:pPr>
            <a:r>
              <a:rPr b="0" sz="1400">
                <a:solidFill>
                  <a:srgbClr val="F1F5FA"/>
                </a:solidFill>
                <a:latin typeface="DejaVu Sans"/>
              </a:rPr>
              <a:t>Same warp + same component</a:t>
            </a:r>
          </a:p>
          <a:p>
            <a:pPr>
              <a:lnSpc>
                <a:spcPts val="1890"/>
              </a:lnSpc>
              <a:spcBef>
                <a:spcPts val="0"/>
              </a:spcBef>
              <a:spcAft>
                <a:spcPts val="0"/>
              </a:spcAft>
            </a:pPr>
            <a:r>
              <a:rPr b="0" sz="1400">
                <a:solidFill>
                  <a:srgbClr val="F1F5FA"/>
                </a:solidFill>
                <a:latin typeface="DejaVu Sans"/>
              </a:rPr>
              <a:t>Read → maximum → overwrite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C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19100"/>
            <a:ext cx="304800" cy="44450"/>
          </a:xfrm>
          <a:prstGeom prst="rect">
            <a:avLst/>
          </a:prstGeom>
          <a:solidFill>
            <a:srgbClr val="5CE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336550"/>
            <a:ext cx="7937500" cy="241300"/>
          </a:xfrm>
          <a:prstGeom prst="rect">
            <a:avLst/>
          </a:prstGeom>
          <a:noFill/>
        </p:spPr>
        <p:txBody>
          <a:bodyPr wrap="none" lIns="0" rIns="0" tIns="0" bIns="0" anchor="t">
            <a:noAutofit/>
          </a:bodyPr>
          <a:lstStyle/>
          <a:p>
            <a:pPr>
              <a:lnSpc>
                <a:spcPts val="1500"/>
              </a:lnSpc>
              <a:spcBef>
                <a:spcPts val="0"/>
              </a:spcBef>
              <a:spcAft>
                <a:spcPts val="0"/>
              </a:spcAft>
            </a:pPr>
            <a:r>
              <a:rPr b="1" sz="1250">
                <a:solidFill>
                  <a:srgbClr val="5CE4BF"/>
                </a:solidFill>
                <a:latin typeface="DejaVu Sans"/>
              </a:rPr>
              <a:t>DEUTERON / COMPILER PASSES</a:t>
            </a:r>
          </a:p>
        </p:txBody>
      </p:sp>
      <p:sp>
        <p:nvSpPr>
          <p:cNvPr id="5" name="TextBox 4"/>
          <p:cNvSpPr txBox="1"/>
          <p:nvPr/>
        </p:nvSpPr>
        <p:spPr>
          <a:xfrm>
            <a:off x="10572750" y="336550"/>
            <a:ext cx="952500" cy="241300"/>
          </a:xfrm>
          <a:prstGeom prst="rect">
            <a:avLst/>
          </a:prstGeom>
          <a:noFill/>
        </p:spPr>
        <p:txBody>
          <a:bodyPr wrap="none" lIns="0" rIns="0" tIns="0" bIns="0" anchor="t">
            <a:noAutofit/>
          </a:bodyPr>
          <a:lstStyle/>
          <a:p>
            <a:pPr algn="r">
              <a:lnSpc>
                <a:spcPts val="1500"/>
              </a:lnSpc>
              <a:spcBef>
                <a:spcPts val="0"/>
              </a:spcBef>
              <a:spcAft>
                <a:spcPts val="0"/>
              </a:spcAft>
            </a:pPr>
            <a:r>
              <a:rPr b="0" sz="1250">
                <a:solidFill>
                  <a:srgbClr val="A7B8CF"/>
                </a:solidFill>
                <a:latin typeface="DejaVu Sans"/>
              </a:rPr>
              <a:t>08 / 09</a:t>
            </a:r>
          </a:p>
        </p:txBody>
      </p:sp>
      <p:cxnSp>
        <p:nvCxnSpPr>
          <p:cNvPr id="6" name="Connector 5"/>
          <p:cNvCxnSpPr/>
          <p:nvPr/>
        </p:nvCxnSpPr>
        <p:spPr>
          <a:xfrm>
            <a:off x="609600" y="6375400"/>
            <a:ext cx="10972800" cy="0"/>
          </a:xfrm>
          <a:prstGeom prst="line">
            <a:avLst/>
          </a:prstGeom>
          <a:ln w="12700">
            <a:solidFill>
              <a:srgbClr val="2C3C5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35000" y="6496050"/>
            <a:ext cx="7874000" cy="210820"/>
          </a:xfrm>
          <a:prstGeom prst="rect">
            <a:avLst/>
          </a:prstGeom>
          <a:noFill/>
        </p:spPr>
        <p:txBody>
          <a:bodyPr wrap="none" lIns="0" rIns="0" tIns="0" bIns="0" anchor="t">
            <a:noAutofit/>
          </a:bodyPr>
          <a:lstStyle/>
          <a:p>
            <a:pPr>
              <a:lnSpc>
                <a:spcPts val="1260"/>
              </a:lnSpc>
              <a:spcBef>
                <a:spcPts val="0"/>
              </a:spcBef>
              <a:spcAft>
                <a:spcPts val="0"/>
              </a:spcAft>
            </a:pPr>
            <a:r>
              <a:rPr b="0" sz="1050">
                <a:solidFill>
                  <a:srgbClr val="A7B8CF"/>
                </a:solidFill>
                <a:latin typeface="DejaVu Sans"/>
              </a:rPr>
              <a:t>compiler/passes/recurrence.py · _grouped_value_axis · grouped_values</a:t>
            </a:r>
          </a:p>
        </p:txBody>
      </p:sp>
      <p:sp>
        <p:nvSpPr>
          <p:cNvPr id="8" name="TextBox 7"/>
          <p:cNvSpPr txBox="1"/>
          <p:nvPr/>
        </p:nvSpPr>
        <p:spPr>
          <a:xfrm>
            <a:off x="8699500" y="6496050"/>
            <a:ext cx="2857500" cy="218440"/>
          </a:xfrm>
          <a:prstGeom prst="rect">
            <a:avLst/>
          </a:prstGeom>
          <a:noFill/>
        </p:spPr>
        <p:txBody>
          <a:bodyPr wrap="none" lIns="0" rIns="0" tIns="0" bIns="0" anchor="t">
            <a:noAutofit/>
          </a:bodyPr>
          <a:lstStyle/>
          <a:p>
            <a:pPr algn="r">
              <a:lnSpc>
                <a:spcPts val="1320"/>
              </a:lnSpc>
              <a:spcBef>
                <a:spcPts val="0"/>
              </a:spcBef>
              <a:spcAft>
                <a:spcPts val="0"/>
              </a:spcAft>
            </a:pPr>
            <a:r>
              <a:rPr b="0" sz="1100">
                <a:solidFill>
                  <a:srgbClr val="A7B8CF"/>
                </a:solidFill>
                <a:latin typeface="DejaVu Sans"/>
              </a:rPr>
              <a:t>RTX 5090  /  SM120</a:t>
            </a:r>
          </a:p>
        </p:txBody>
      </p:sp>
      <p:sp>
        <p:nvSpPr>
          <p:cNvPr id="9" name="TextBox 8"/>
          <p:cNvSpPr txBox="1"/>
          <p:nvPr/>
        </p:nvSpPr>
        <p:spPr>
          <a:xfrm>
            <a:off x="685800" y="971550"/>
            <a:ext cx="10795000" cy="553720"/>
          </a:xfrm>
          <a:prstGeom prst="rect">
            <a:avLst/>
          </a:prstGeom>
          <a:noFill/>
        </p:spPr>
        <p:txBody>
          <a:bodyPr wrap="none" lIns="0" rIns="0" tIns="0" bIns="0" anchor="t">
            <a:noAutofit/>
          </a:bodyPr>
          <a:lstStyle/>
          <a:p>
            <a:pPr>
              <a:lnSpc>
                <a:spcPts val="3960"/>
              </a:lnSpc>
              <a:spcBef>
                <a:spcPts val="0"/>
              </a:spcBef>
              <a:spcAft>
                <a:spcPts val="0"/>
              </a:spcAft>
            </a:pPr>
            <a:r>
              <a:rPr b="1" sz="3300">
                <a:solidFill>
                  <a:srgbClr val="F1F5FA"/>
                </a:solidFill>
                <a:latin typeface="DejaVu Sans"/>
              </a:rPr>
              <a:t>Redistribute probability–value work</a:t>
            </a:r>
          </a:p>
        </p:txBody>
      </p:sp>
      <p:sp>
        <p:nvSpPr>
          <p:cNvPr id="10" name="TextBox 9"/>
          <p:cNvSpPr txBox="1"/>
          <p:nvPr/>
        </p:nvSpPr>
        <p:spPr>
          <a:xfrm>
            <a:off x="711200" y="1670050"/>
            <a:ext cx="10699750" cy="271780"/>
          </a:xfrm>
          <a:prstGeom prst="rect">
            <a:avLst/>
          </a:prstGeom>
          <a:noFill/>
        </p:spPr>
        <p:txBody>
          <a:bodyPr wrap="none" lIns="0" rIns="0" tIns="0" bIns="0" anchor="t">
            <a:noAutofit/>
          </a:bodyPr>
          <a:lstStyle/>
          <a:p>
            <a:pPr>
              <a:lnSpc>
                <a:spcPts val="1739"/>
              </a:lnSpc>
              <a:spcBef>
                <a:spcPts val="0"/>
              </a:spcBef>
              <a:spcAft>
                <a:spcPts val="0"/>
              </a:spcAft>
            </a:pPr>
            <a:r>
              <a:rPr b="0" sz="1450">
                <a:solidFill>
                  <a:srgbClr val="A7B8CF"/>
                </a:solidFill>
                <a:latin typeface="DejaVu Sans"/>
              </a:rPr>
              <a:t>Pass: Warp-distributed vector PV reduction</a:t>
            </a:r>
          </a:p>
        </p:txBody>
      </p:sp>
      <p:sp>
        <p:nvSpPr>
          <p:cNvPr id="11" name="Rounded Rectangle 10"/>
          <p:cNvSpPr/>
          <p:nvPr/>
        </p:nvSpPr>
        <p:spPr>
          <a:xfrm>
            <a:off x="698500" y="2165350"/>
            <a:ext cx="4127500" cy="3454400"/>
          </a:xfrm>
          <a:prstGeom prst="roundRect">
            <a:avLst>
              <a:gd name="adj" fmla="val 4411"/>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0750" y="2400300"/>
            <a:ext cx="3619500" cy="241300"/>
          </a:xfrm>
          <a:prstGeom prst="rect">
            <a:avLst/>
          </a:prstGeom>
          <a:noFill/>
        </p:spPr>
        <p:txBody>
          <a:bodyPr wrap="none" lIns="0" rIns="0" tIns="0" bIns="0" anchor="t">
            <a:noAutofit/>
          </a:bodyPr>
          <a:lstStyle/>
          <a:p>
            <a:pPr>
              <a:lnSpc>
                <a:spcPts val="1500"/>
              </a:lnSpc>
              <a:spcBef>
                <a:spcPts val="0"/>
              </a:spcBef>
              <a:spcAft>
                <a:spcPts val="0"/>
              </a:spcAft>
            </a:pPr>
            <a:r>
              <a:rPr b="1" sz="1250">
                <a:solidFill>
                  <a:srgbClr val="A7B8CF"/>
                </a:solidFill>
                <a:latin typeface="DejaVu Sans"/>
              </a:rPr>
              <a:t>BEFORE</a:t>
            </a:r>
          </a:p>
        </p:txBody>
      </p:sp>
      <p:sp>
        <p:nvSpPr>
          <p:cNvPr id="13" name="TextBox 12"/>
          <p:cNvSpPr txBox="1"/>
          <p:nvPr/>
        </p:nvSpPr>
        <p:spPr>
          <a:xfrm>
            <a:off x="920750" y="2806700"/>
            <a:ext cx="3619500" cy="614680"/>
          </a:xfrm>
          <a:prstGeom prst="rect">
            <a:avLst/>
          </a:prstGeom>
          <a:noFill/>
        </p:spPr>
        <p:txBody>
          <a:bodyPr wrap="none" lIns="0" rIns="0" tIns="0" bIns="0" anchor="t">
            <a:noAutofit/>
          </a:bodyPr>
          <a:lstStyle/>
          <a:p>
            <a:pPr>
              <a:lnSpc>
                <a:spcPts val="4440"/>
              </a:lnSpc>
              <a:spcBef>
                <a:spcPts val="0"/>
              </a:spcBef>
              <a:spcAft>
                <a:spcPts val="0"/>
              </a:spcAft>
            </a:pPr>
            <a:r>
              <a:rPr b="1" sz="3700">
                <a:solidFill>
                  <a:srgbClr val="5CE4BF"/>
                </a:solidFill>
                <a:latin typeface="DejaVu Sans"/>
              </a:rPr>
              <a:t>1 lane</a:t>
            </a:r>
          </a:p>
        </p:txBody>
      </p:sp>
      <p:sp>
        <p:nvSpPr>
          <p:cNvPr id="14" name="TextBox 13"/>
          <p:cNvSpPr txBox="1"/>
          <p:nvPr/>
        </p:nvSpPr>
        <p:spPr>
          <a:xfrm>
            <a:off x="920750" y="3505200"/>
            <a:ext cx="3619500" cy="347980"/>
          </a:xfrm>
          <a:prstGeom prst="rect">
            <a:avLst/>
          </a:prstGeom>
          <a:noFill/>
        </p:spPr>
        <p:txBody>
          <a:bodyPr wrap="none" lIns="0" rIns="0" tIns="0" bIns="0" anchor="t">
            <a:noAutofit/>
          </a:bodyPr>
          <a:lstStyle/>
          <a:p>
            <a:pPr>
              <a:lnSpc>
                <a:spcPts val="2340"/>
              </a:lnSpc>
              <a:spcBef>
                <a:spcPts val="0"/>
              </a:spcBef>
              <a:spcAft>
                <a:spcPts val="0"/>
              </a:spcAft>
            </a:pPr>
            <a:r>
              <a:rPr b="0" sz="1950">
                <a:solidFill>
                  <a:srgbClr val="F1F5FA"/>
                </a:solidFill>
                <a:latin typeface="DejaVu Sans"/>
              </a:rPr>
              <a:t>1 column × every key</a:t>
            </a:r>
          </a:p>
        </p:txBody>
      </p:sp>
      <p:sp>
        <p:nvSpPr>
          <p:cNvPr id="15" name="TextBox 14"/>
          <p:cNvSpPr txBox="1"/>
          <p:nvPr/>
        </p:nvSpPr>
        <p:spPr>
          <a:xfrm>
            <a:off x="920750" y="4044950"/>
            <a:ext cx="3619500" cy="309880"/>
          </a:xfrm>
          <a:prstGeom prst="rect">
            <a:avLst/>
          </a:prstGeom>
          <a:noFill/>
        </p:spPr>
        <p:txBody>
          <a:bodyPr wrap="none" lIns="0" rIns="0" tIns="0" bIns="0" anchor="t">
            <a:noAutofit/>
          </a:bodyPr>
          <a:lstStyle/>
          <a:p>
            <a:pPr>
              <a:lnSpc>
                <a:spcPts val="2039"/>
              </a:lnSpc>
              <a:spcBef>
                <a:spcPts val="0"/>
              </a:spcBef>
              <a:spcAft>
                <a:spcPts val="0"/>
              </a:spcAft>
            </a:pPr>
            <a:r>
              <a:rPr b="0" sz="1700">
                <a:solidFill>
                  <a:srgbClr val="A7B8CF"/>
                </a:solidFill>
                <a:latin typeface="Liberation Mono"/>
              </a:rPr>
              <a:t>sum_k p[k] * V[k,c]</a:t>
            </a:r>
          </a:p>
        </p:txBody>
      </p:sp>
      <p:sp>
        <p:nvSpPr>
          <p:cNvPr id="16" name="TextBox 15"/>
          <p:cNvSpPr txBox="1"/>
          <p:nvPr/>
        </p:nvSpPr>
        <p:spPr>
          <a:xfrm>
            <a:off x="920750" y="4787900"/>
            <a:ext cx="3619500" cy="566420"/>
          </a:xfrm>
          <a:prstGeom prst="rect">
            <a:avLst/>
          </a:prstGeom>
          <a:noFill/>
        </p:spPr>
        <p:txBody>
          <a:bodyPr wrap="none" lIns="0" rIns="0" tIns="0" bIns="0" anchor="t">
            <a:noAutofit/>
          </a:bodyPr>
          <a:lstStyle/>
          <a:p>
            <a:pPr>
              <a:lnSpc>
                <a:spcPts val="2030"/>
              </a:lnSpc>
              <a:spcBef>
                <a:spcPts val="0"/>
              </a:spcBef>
              <a:spcAft>
                <a:spcPts val="0"/>
              </a:spcAft>
            </a:pPr>
            <a:r>
              <a:rPr b="0" sz="1400">
                <a:solidFill>
                  <a:srgbClr val="A7B8CF"/>
                </a:solidFill>
                <a:latin typeface="DejaVu Sans"/>
              </a:rPr>
              <a:t>Guard: 1 warp · 32 columns</a:t>
            </a:r>
          </a:p>
          <a:p>
            <a:pPr>
              <a:lnSpc>
                <a:spcPts val="2030"/>
              </a:lnSpc>
              <a:spcBef>
                <a:spcPts val="0"/>
              </a:spcBef>
              <a:spcAft>
                <a:spcPts val="0"/>
              </a:spcAft>
            </a:pPr>
            <a:r>
              <a:rPr b="0" sz="1400">
                <a:solidFill>
                  <a:srgbClr val="A7B8CF"/>
                </a:solidFill>
                <a:latin typeface="DejaVu Sans"/>
              </a:rPr>
              <a:t>Aligned loads + closed suffix</a:t>
            </a:r>
          </a:p>
        </p:txBody>
      </p:sp>
      <p:sp>
        <p:nvSpPr>
          <p:cNvPr id="17" name="Rounded Rectangle 16"/>
          <p:cNvSpPr/>
          <p:nvPr/>
        </p:nvSpPr>
        <p:spPr>
          <a:xfrm>
            <a:off x="5207000" y="2165350"/>
            <a:ext cx="6286500" cy="3454400"/>
          </a:xfrm>
          <a:prstGeom prst="roundRect">
            <a:avLst>
              <a:gd name="adj" fmla="val 4411"/>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16550" y="2400300"/>
            <a:ext cx="5873750" cy="309880"/>
          </a:xfrm>
          <a:prstGeom prst="rect">
            <a:avLst/>
          </a:prstGeom>
          <a:noFill/>
        </p:spPr>
        <p:txBody>
          <a:bodyPr wrap="none" lIns="0" rIns="0" tIns="0" bIns="0" anchor="t">
            <a:noAutofit/>
          </a:bodyPr>
          <a:lstStyle/>
          <a:p>
            <a:pPr>
              <a:lnSpc>
                <a:spcPts val="2039"/>
              </a:lnSpc>
              <a:spcBef>
                <a:spcPts val="0"/>
              </a:spcBef>
              <a:spcAft>
                <a:spcPts val="0"/>
              </a:spcAft>
            </a:pPr>
            <a:r>
              <a:rPr b="1" sz="1700">
                <a:solidFill>
                  <a:srgbClr val="F1F5FA"/>
                </a:solidFill>
                <a:latin typeface="DejaVu Sans"/>
              </a:rPr>
              <a:t>AFTER · 4 groups × 8 lanes</a:t>
            </a:r>
          </a:p>
        </p:txBody>
      </p:sp>
      <p:sp>
        <p:nvSpPr>
          <p:cNvPr id="19" name="TextBox 18"/>
          <p:cNvSpPr txBox="1"/>
          <p:nvPr/>
        </p:nvSpPr>
        <p:spPr>
          <a:xfrm>
            <a:off x="6337300" y="2774950"/>
            <a:ext cx="4762500" cy="241300"/>
          </a:xfrm>
          <a:prstGeom prst="rect">
            <a:avLst/>
          </a:prstGeom>
          <a:noFill/>
        </p:spPr>
        <p:txBody>
          <a:bodyPr wrap="none" lIns="0" rIns="0" tIns="0" bIns="0" anchor="t">
            <a:noAutofit/>
          </a:bodyPr>
          <a:lstStyle/>
          <a:p>
            <a:pPr>
              <a:lnSpc>
                <a:spcPts val="1500"/>
              </a:lnSpc>
              <a:spcBef>
                <a:spcPts val="0"/>
              </a:spcBef>
              <a:spcAft>
                <a:spcPts val="0"/>
              </a:spcAft>
            </a:pPr>
            <a:r>
              <a:rPr b="0" sz="1250">
                <a:solidFill>
                  <a:srgbClr val="A7B8CF"/>
                </a:solidFill>
                <a:latin typeface="DejaVu Sans"/>
              </a:rPr>
              <a:t>Four adjacent columns per lane</a:t>
            </a:r>
          </a:p>
        </p:txBody>
      </p:sp>
      <p:sp>
        <p:nvSpPr>
          <p:cNvPr id="20" name="TextBox 19"/>
          <p:cNvSpPr txBox="1"/>
          <p:nvPr/>
        </p:nvSpPr>
        <p:spPr>
          <a:xfrm>
            <a:off x="5416550" y="3194050"/>
            <a:ext cx="901700" cy="256540"/>
          </a:xfrm>
          <a:prstGeom prst="rect">
            <a:avLst/>
          </a:prstGeom>
          <a:noFill/>
        </p:spPr>
        <p:txBody>
          <a:bodyPr wrap="none" lIns="0" rIns="0" tIns="0" bIns="0" anchor="t">
            <a:noAutofit/>
          </a:bodyPr>
          <a:lstStyle/>
          <a:p>
            <a:pPr>
              <a:lnSpc>
                <a:spcPts val="1620"/>
              </a:lnSpc>
              <a:spcBef>
                <a:spcPts val="0"/>
              </a:spcBef>
              <a:spcAft>
                <a:spcPts val="0"/>
              </a:spcAft>
            </a:pPr>
            <a:r>
              <a:rPr b="0" sz="1350">
                <a:solidFill>
                  <a:srgbClr val="95B4FF"/>
                </a:solidFill>
                <a:latin typeface="DejaVu Sans"/>
              </a:rPr>
              <a:t>Shard 0</a:t>
            </a:r>
          </a:p>
        </p:txBody>
      </p:sp>
      <p:sp>
        <p:nvSpPr>
          <p:cNvPr id="21" name="Rounded Rectangle 20"/>
          <p:cNvSpPr/>
          <p:nvPr/>
        </p:nvSpPr>
        <p:spPr>
          <a:xfrm>
            <a:off x="6362700" y="3111500"/>
            <a:ext cx="533400" cy="342900"/>
          </a:xfrm>
          <a:prstGeom prst="roundRect">
            <a:avLst>
              <a:gd name="adj" fmla="val 14814"/>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6200" y="321310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0–3</a:t>
            </a:r>
          </a:p>
        </p:txBody>
      </p:sp>
      <p:sp>
        <p:nvSpPr>
          <p:cNvPr id="23" name="Rounded Rectangle 22"/>
          <p:cNvSpPr/>
          <p:nvPr/>
        </p:nvSpPr>
        <p:spPr>
          <a:xfrm>
            <a:off x="6959600" y="3111500"/>
            <a:ext cx="533400" cy="342900"/>
          </a:xfrm>
          <a:prstGeom prst="roundRect">
            <a:avLst>
              <a:gd name="adj" fmla="val 14814"/>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23100" y="321310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4–7</a:t>
            </a:r>
          </a:p>
        </p:txBody>
      </p:sp>
      <p:sp>
        <p:nvSpPr>
          <p:cNvPr id="25" name="Rounded Rectangle 24"/>
          <p:cNvSpPr/>
          <p:nvPr/>
        </p:nvSpPr>
        <p:spPr>
          <a:xfrm>
            <a:off x="7556500" y="3111500"/>
            <a:ext cx="533400" cy="342900"/>
          </a:xfrm>
          <a:prstGeom prst="roundRect">
            <a:avLst>
              <a:gd name="adj" fmla="val 14814"/>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20000" y="321310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8–11</a:t>
            </a:r>
          </a:p>
        </p:txBody>
      </p:sp>
      <p:sp>
        <p:nvSpPr>
          <p:cNvPr id="27" name="Rounded Rectangle 26"/>
          <p:cNvSpPr/>
          <p:nvPr/>
        </p:nvSpPr>
        <p:spPr>
          <a:xfrm>
            <a:off x="8153400" y="3111500"/>
            <a:ext cx="533400" cy="342900"/>
          </a:xfrm>
          <a:prstGeom prst="roundRect">
            <a:avLst>
              <a:gd name="adj" fmla="val 14814"/>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16900" y="321310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12–15</a:t>
            </a:r>
          </a:p>
        </p:txBody>
      </p:sp>
      <p:sp>
        <p:nvSpPr>
          <p:cNvPr id="29" name="Rounded Rectangle 28"/>
          <p:cNvSpPr/>
          <p:nvPr/>
        </p:nvSpPr>
        <p:spPr>
          <a:xfrm>
            <a:off x="8750300" y="3111500"/>
            <a:ext cx="533400" cy="342900"/>
          </a:xfrm>
          <a:prstGeom prst="roundRect">
            <a:avLst>
              <a:gd name="adj" fmla="val 14814"/>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13800" y="321310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16–19</a:t>
            </a:r>
          </a:p>
        </p:txBody>
      </p:sp>
      <p:sp>
        <p:nvSpPr>
          <p:cNvPr id="31" name="Rounded Rectangle 30"/>
          <p:cNvSpPr/>
          <p:nvPr/>
        </p:nvSpPr>
        <p:spPr>
          <a:xfrm>
            <a:off x="9347200" y="3111500"/>
            <a:ext cx="533400" cy="342900"/>
          </a:xfrm>
          <a:prstGeom prst="roundRect">
            <a:avLst>
              <a:gd name="adj" fmla="val 14814"/>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10700" y="321310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20–23</a:t>
            </a:r>
          </a:p>
        </p:txBody>
      </p:sp>
      <p:sp>
        <p:nvSpPr>
          <p:cNvPr id="33" name="Rounded Rectangle 32"/>
          <p:cNvSpPr/>
          <p:nvPr/>
        </p:nvSpPr>
        <p:spPr>
          <a:xfrm>
            <a:off x="9944100" y="3111500"/>
            <a:ext cx="533400" cy="342900"/>
          </a:xfrm>
          <a:prstGeom prst="roundRect">
            <a:avLst>
              <a:gd name="adj" fmla="val 14814"/>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07600" y="321310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24–27</a:t>
            </a:r>
          </a:p>
        </p:txBody>
      </p:sp>
      <p:sp>
        <p:nvSpPr>
          <p:cNvPr id="35" name="Rounded Rectangle 34"/>
          <p:cNvSpPr/>
          <p:nvPr/>
        </p:nvSpPr>
        <p:spPr>
          <a:xfrm>
            <a:off x="10541000" y="3111500"/>
            <a:ext cx="533400" cy="342900"/>
          </a:xfrm>
          <a:prstGeom prst="roundRect">
            <a:avLst>
              <a:gd name="adj" fmla="val 14814"/>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604500" y="321310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28–31</a:t>
            </a:r>
          </a:p>
        </p:txBody>
      </p:sp>
      <p:sp>
        <p:nvSpPr>
          <p:cNvPr id="37" name="TextBox 36"/>
          <p:cNvSpPr txBox="1"/>
          <p:nvPr/>
        </p:nvSpPr>
        <p:spPr>
          <a:xfrm>
            <a:off x="5416550" y="3644900"/>
            <a:ext cx="901700" cy="256540"/>
          </a:xfrm>
          <a:prstGeom prst="rect">
            <a:avLst/>
          </a:prstGeom>
          <a:noFill/>
        </p:spPr>
        <p:txBody>
          <a:bodyPr wrap="none" lIns="0" rIns="0" tIns="0" bIns="0" anchor="t">
            <a:noAutofit/>
          </a:bodyPr>
          <a:lstStyle/>
          <a:p>
            <a:pPr>
              <a:lnSpc>
                <a:spcPts val="1620"/>
              </a:lnSpc>
              <a:spcBef>
                <a:spcPts val="0"/>
              </a:spcBef>
              <a:spcAft>
                <a:spcPts val="0"/>
              </a:spcAft>
            </a:pPr>
            <a:r>
              <a:rPr b="0" sz="1350">
                <a:solidFill>
                  <a:srgbClr val="95B4FF"/>
                </a:solidFill>
                <a:latin typeface="DejaVu Sans"/>
              </a:rPr>
              <a:t>Shard 1</a:t>
            </a:r>
          </a:p>
        </p:txBody>
      </p:sp>
      <p:sp>
        <p:nvSpPr>
          <p:cNvPr id="38" name="Rounded Rectangle 37"/>
          <p:cNvSpPr/>
          <p:nvPr/>
        </p:nvSpPr>
        <p:spPr>
          <a:xfrm>
            <a:off x="6362700" y="3562350"/>
            <a:ext cx="533400" cy="342900"/>
          </a:xfrm>
          <a:prstGeom prst="roundRect">
            <a:avLst>
              <a:gd name="adj" fmla="val 14814"/>
            </a:avLst>
          </a:prstGeom>
          <a:solidFill>
            <a:srgbClr val="2D4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26200" y="366395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0–3</a:t>
            </a:r>
          </a:p>
        </p:txBody>
      </p:sp>
      <p:sp>
        <p:nvSpPr>
          <p:cNvPr id="40" name="Rounded Rectangle 39"/>
          <p:cNvSpPr/>
          <p:nvPr/>
        </p:nvSpPr>
        <p:spPr>
          <a:xfrm>
            <a:off x="6959600" y="3562350"/>
            <a:ext cx="533400" cy="342900"/>
          </a:xfrm>
          <a:prstGeom prst="roundRect">
            <a:avLst>
              <a:gd name="adj" fmla="val 14814"/>
            </a:avLst>
          </a:prstGeom>
          <a:solidFill>
            <a:srgbClr val="2D4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23100" y="366395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4–7</a:t>
            </a:r>
          </a:p>
        </p:txBody>
      </p:sp>
      <p:sp>
        <p:nvSpPr>
          <p:cNvPr id="42" name="Rounded Rectangle 41"/>
          <p:cNvSpPr/>
          <p:nvPr/>
        </p:nvSpPr>
        <p:spPr>
          <a:xfrm>
            <a:off x="7556500" y="3562350"/>
            <a:ext cx="533400" cy="342900"/>
          </a:xfrm>
          <a:prstGeom prst="roundRect">
            <a:avLst>
              <a:gd name="adj" fmla="val 14814"/>
            </a:avLst>
          </a:prstGeom>
          <a:solidFill>
            <a:srgbClr val="2D4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20000" y="366395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8–11</a:t>
            </a:r>
          </a:p>
        </p:txBody>
      </p:sp>
      <p:sp>
        <p:nvSpPr>
          <p:cNvPr id="44" name="Rounded Rectangle 43"/>
          <p:cNvSpPr/>
          <p:nvPr/>
        </p:nvSpPr>
        <p:spPr>
          <a:xfrm>
            <a:off x="8153400" y="3562350"/>
            <a:ext cx="533400" cy="342900"/>
          </a:xfrm>
          <a:prstGeom prst="roundRect">
            <a:avLst>
              <a:gd name="adj" fmla="val 14814"/>
            </a:avLst>
          </a:prstGeom>
          <a:solidFill>
            <a:srgbClr val="2D4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16900" y="366395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12–15</a:t>
            </a:r>
          </a:p>
        </p:txBody>
      </p:sp>
      <p:sp>
        <p:nvSpPr>
          <p:cNvPr id="46" name="Rounded Rectangle 45"/>
          <p:cNvSpPr/>
          <p:nvPr/>
        </p:nvSpPr>
        <p:spPr>
          <a:xfrm>
            <a:off x="8750300" y="3562350"/>
            <a:ext cx="533400" cy="342900"/>
          </a:xfrm>
          <a:prstGeom prst="roundRect">
            <a:avLst>
              <a:gd name="adj" fmla="val 14814"/>
            </a:avLst>
          </a:prstGeom>
          <a:solidFill>
            <a:srgbClr val="2D4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813800" y="366395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16–19</a:t>
            </a:r>
          </a:p>
        </p:txBody>
      </p:sp>
      <p:sp>
        <p:nvSpPr>
          <p:cNvPr id="48" name="Rounded Rectangle 47"/>
          <p:cNvSpPr/>
          <p:nvPr/>
        </p:nvSpPr>
        <p:spPr>
          <a:xfrm>
            <a:off x="9347200" y="3562350"/>
            <a:ext cx="533400" cy="342900"/>
          </a:xfrm>
          <a:prstGeom prst="roundRect">
            <a:avLst>
              <a:gd name="adj" fmla="val 14814"/>
            </a:avLst>
          </a:prstGeom>
          <a:solidFill>
            <a:srgbClr val="2D4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410700" y="366395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20–23</a:t>
            </a:r>
          </a:p>
        </p:txBody>
      </p:sp>
      <p:sp>
        <p:nvSpPr>
          <p:cNvPr id="50" name="Rounded Rectangle 49"/>
          <p:cNvSpPr/>
          <p:nvPr/>
        </p:nvSpPr>
        <p:spPr>
          <a:xfrm>
            <a:off x="9944100" y="3562350"/>
            <a:ext cx="533400" cy="342900"/>
          </a:xfrm>
          <a:prstGeom prst="roundRect">
            <a:avLst>
              <a:gd name="adj" fmla="val 14814"/>
            </a:avLst>
          </a:prstGeom>
          <a:solidFill>
            <a:srgbClr val="2D4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007600" y="366395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24–27</a:t>
            </a:r>
          </a:p>
        </p:txBody>
      </p:sp>
      <p:sp>
        <p:nvSpPr>
          <p:cNvPr id="52" name="Rounded Rectangle 51"/>
          <p:cNvSpPr/>
          <p:nvPr/>
        </p:nvSpPr>
        <p:spPr>
          <a:xfrm>
            <a:off x="10541000" y="3562350"/>
            <a:ext cx="533400" cy="342900"/>
          </a:xfrm>
          <a:prstGeom prst="roundRect">
            <a:avLst>
              <a:gd name="adj" fmla="val 14814"/>
            </a:avLst>
          </a:prstGeom>
          <a:solidFill>
            <a:srgbClr val="2D4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604500" y="366395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28–31</a:t>
            </a:r>
          </a:p>
        </p:txBody>
      </p:sp>
      <p:sp>
        <p:nvSpPr>
          <p:cNvPr id="54" name="TextBox 53"/>
          <p:cNvSpPr txBox="1"/>
          <p:nvPr/>
        </p:nvSpPr>
        <p:spPr>
          <a:xfrm>
            <a:off x="5416550" y="4095750"/>
            <a:ext cx="901700" cy="256540"/>
          </a:xfrm>
          <a:prstGeom prst="rect">
            <a:avLst/>
          </a:prstGeom>
          <a:noFill/>
        </p:spPr>
        <p:txBody>
          <a:bodyPr wrap="none" lIns="0" rIns="0" tIns="0" bIns="0" anchor="t">
            <a:noAutofit/>
          </a:bodyPr>
          <a:lstStyle/>
          <a:p>
            <a:pPr>
              <a:lnSpc>
                <a:spcPts val="1620"/>
              </a:lnSpc>
              <a:spcBef>
                <a:spcPts val="0"/>
              </a:spcBef>
              <a:spcAft>
                <a:spcPts val="0"/>
              </a:spcAft>
            </a:pPr>
            <a:r>
              <a:rPr b="0" sz="1350">
                <a:solidFill>
                  <a:srgbClr val="95B4FF"/>
                </a:solidFill>
                <a:latin typeface="DejaVu Sans"/>
              </a:rPr>
              <a:t>Shard 2</a:t>
            </a:r>
          </a:p>
        </p:txBody>
      </p:sp>
      <p:sp>
        <p:nvSpPr>
          <p:cNvPr id="55" name="Rounded Rectangle 54"/>
          <p:cNvSpPr/>
          <p:nvPr/>
        </p:nvSpPr>
        <p:spPr>
          <a:xfrm>
            <a:off x="6362700" y="4013200"/>
            <a:ext cx="533400" cy="342900"/>
          </a:xfrm>
          <a:prstGeom prst="roundRect">
            <a:avLst>
              <a:gd name="adj" fmla="val 14814"/>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426200" y="411480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0–3</a:t>
            </a:r>
          </a:p>
        </p:txBody>
      </p:sp>
      <p:sp>
        <p:nvSpPr>
          <p:cNvPr id="57" name="Rounded Rectangle 56"/>
          <p:cNvSpPr/>
          <p:nvPr/>
        </p:nvSpPr>
        <p:spPr>
          <a:xfrm>
            <a:off x="6959600" y="4013200"/>
            <a:ext cx="533400" cy="342900"/>
          </a:xfrm>
          <a:prstGeom prst="roundRect">
            <a:avLst>
              <a:gd name="adj" fmla="val 14814"/>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023100" y="411480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4–7</a:t>
            </a:r>
          </a:p>
        </p:txBody>
      </p:sp>
      <p:sp>
        <p:nvSpPr>
          <p:cNvPr id="59" name="Rounded Rectangle 58"/>
          <p:cNvSpPr/>
          <p:nvPr/>
        </p:nvSpPr>
        <p:spPr>
          <a:xfrm>
            <a:off x="7556500" y="4013200"/>
            <a:ext cx="533400" cy="342900"/>
          </a:xfrm>
          <a:prstGeom prst="roundRect">
            <a:avLst>
              <a:gd name="adj" fmla="val 14814"/>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620000" y="411480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8–11</a:t>
            </a:r>
          </a:p>
        </p:txBody>
      </p:sp>
      <p:sp>
        <p:nvSpPr>
          <p:cNvPr id="61" name="Rounded Rectangle 60"/>
          <p:cNvSpPr/>
          <p:nvPr/>
        </p:nvSpPr>
        <p:spPr>
          <a:xfrm>
            <a:off x="8153400" y="4013200"/>
            <a:ext cx="533400" cy="342900"/>
          </a:xfrm>
          <a:prstGeom prst="roundRect">
            <a:avLst>
              <a:gd name="adj" fmla="val 14814"/>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216900" y="411480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12–15</a:t>
            </a:r>
          </a:p>
        </p:txBody>
      </p:sp>
      <p:sp>
        <p:nvSpPr>
          <p:cNvPr id="63" name="Rounded Rectangle 62"/>
          <p:cNvSpPr/>
          <p:nvPr/>
        </p:nvSpPr>
        <p:spPr>
          <a:xfrm>
            <a:off x="8750300" y="4013200"/>
            <a:ext cx="533400" cy="342900"/>
          </a:xfrm>
          <a:prstGeom prst="roundRect">
            <a:avLst>
              <a:gd name="adj" fmla="val 14814"/>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813800" y="411480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16–19</a:t>
            </a:r>
          </a:p>
        </p:txBody>
      </p:sp>
      <p:sp>
        <p:nvSpPr>
          <p:cNvPr id="65" name="Rounded Rectangle 64"/>
          <p:cNvSpPr/>
          <p:nvPr/>
        </p:nvSpPr>
        <p:spPr>
          <a:xfrm>
            <a:off x="9347200" y="4013200"/>
            <a:ext cx="533400" cy="342900"/>
          </a:xfrm>
          <a:prstGeom prst="roundRect">
            <a:avLst>
              <a:gd name="adj" fmla="val 14814"/>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410700" y="411480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20–23</a:t>
            </a:r>
          </a:p>
        </p:txBody>
      </p:sp>
      <p:sp>
        <p:nvSpPr>
          <p:cNvPr id="67" name="Rounded Rectangle 66"/>
          <p:cNvSpPr/>
          <p:nvPr/>
        </p:nvSpPr>
        <p:spPr>
          <a:xfrm>
            <a:off x="9944100" y="4013200"/>
            <a:ext cx="533400" cy="342900"/>
          </a:xfrm>
          <a:prstGeom prst="roundRect">
            <a:avLst>
              <a:gd name="adj" fmla="val 14814"/>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007600" y="411480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24–27</a:t>
            </a:r>
          </a:p>
        </p:txBody>
      </p:sp>
      <p:sp>
        <p:nvSpPr>
          <p:cNvPr id="69" name="Rounded Rectangle 68"/>
          <p:cNvSpPr/>
          <p:nvPr/>
        </p:nvSpPr>
        <p:spPr>
          <a:xfrm>
            <a:off x="10541000" y="4013200"/>
            <a:ext cx="533400" cy="342900"/>
          </a:xfrm>
          <a:prstGeom prst="roundRect">
            <a:avLst>
              <a:gd name="adj" fmla="val 14814"/>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604500" y="411480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28–31</a:t>
            </a:r>
          </a:p>
        </p:txBody>
      </p:sp>
      <p:sp>
        <p:nvSpPr>
          <p:cNvPr id="71" name="TextBox 70"/>
          <p:cNvSpPr txBox="1"/>
          <p:nvPr/>
        </p:nvSpPr>
        <p:spPr>
          <a:xfrm>
            <a:off x="5416550" y="4546600"/>
            <a:ext cx="901700" cy="256540"/>
          </a:xfrm>
          <a:prstGeom prst="rect">
            <a:avLst/>
          </a:prstGeom>
          <a:noFill/>
        </p:spPr>
        <p:txBody>
          <a:bodyPr wrap="none" lIns="0" rIns="0" tIns="0" bIns="0" anchor="t">
            <a:noAutofit/>
          </a:bodyPr>
          <a:lstStyle/>
          <a:p>
            <a:pPr>
              <a:lnSpc>
                <a:spcPts val="1620"/>
              </a:lnSpc>
              <a:spcBef>
                <a:spcPts val="0"/>
              </a:spcBef>
              <a:spcAft>
                <a:spcPts val="0"/>
              </a:spcAft>
            </a:pPr>
            <a:r>
              <a:rPr b="0" sz="1350">
                <a:solidFill>
                  <a:srgbClr val="95B4FF"/>
                </a:solidFill>
                <a:latin typeface="DejaVu Sans"/>
              </a:rPr>
              <a:t>Shard 3</a:t>
            </a:r>
          </a:p>
        </p:txBody>
      </p:sp>
      <p:sp>
        <p:nvSpPr>
          <p:cNvPr id="72" name="Rounded Rectangle 71"/>
          <p:cNvSpPr/>
          <p:nvPr/>
        </p:nvSpPr>
        <p:spPr>
          <a:xfrm>
            <a:off x="6362700" y="4464050"/>
            <a:ext cx="533400" cy="342900"/>
          </a:xfrm>
          <a:prstGeom prst="roundRect">
            <a:avLst>
              <a:gd name="adj" fmla="val 14814"/>
            </a:avLst>
          </a:prstGeom>
          <a:solidFill>
            <a:srgbClr val="2D4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426200" y="456565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0–3</a:t>
            </a:r>
          </a:p>
        </p:txBody>
      </p:sp>
      <p:sp>
        <p:nvSpPr>
          <p:cNvPr id="74" name="Rounded Rectangle 73"/>
          <p:cNvSpPr/>
          <p:nvPr/>
        </p:nvSpPr>
        <p:spPr>
          <a:xfrm>
            <a:off x="6959600" y="4464050"/>
            <a:ext cx="533400" cy="342900"/>
          </a:xfrm>
          <a:prstGeom prst="roundRect">
            <a:avLst>
              <a:gd name="adj" fmla="val 14814"/>
            </a:avLst>
          </a:prstGeom>
          <a:solidFill>
            <a:srgbClr val="2D4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023100" y="456565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4–7</a:t>
            </a:r>
          </a:p>
        </p:txBody>
      </p:sp>
      <p:sp>
        <p:nvSpPr>
          <p:cNvPr id="76" name="Rounded Rectangle 75"/>
          <p:cNvSpPr/>
          <p:nvPr/>
        </p:nvSpPr>
        <p:spPr>
          <a:xfrm>
            <a:off x="7556500" y="4464050"/>
            <a:ext cx="533400" cy="342900"/>
          </a:xfrm>
          <a:prstGeom prst="roundRect">
            <a:avLst>
              <a:gd name="adj" fmla="val 14814"/>
            </a:avLst>
          </a:prstGeom>
          <a:solidFill>
            <a:srgbClr val="2D4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620000" y="456565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8–11</a:t>
            </a:r>
          </a:p>
        </p:txBody>
      </p:sp>
      <p:sp>
        <p:nvSpPr>
          <p:cNvPr id="78" name="Rounded Rectangle 77"/>
          <p:cNvSpPr/>
          <p:nvPr/>
        </p:nvSpPr>
        <p:spPr>
          <a:xfrm>
            <a:off x="8153400" y="4464050"/>
            <a:ext cx="533400" cy="342900"/>
          </a:xfrm>
          <a:prstGeom prst="roundRect">
            <a:avLst>
              <a:gd name="adj" fmla="val 14814"/>
            </a:avLst>
          </a:prstGeom>
          <a:solidFill>
            <a:srgbClr val="2D4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216900" y="456565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12–15</a:t>
            </a:r>
          </a:p>
        </p:txBody>
      </p:sp>
      <p:sp>
        <p:nvSpPr>
          <p:cNvPr id="80" name="Rounded Rectangle 79"/>
          <p:cNvSpPr/>
          <p:nvPr/>
        </p:nvSpPr>
        <p:spPr>
          <a:xfrm>
            <a:off x="8750300" y="4464050"/>
            <a:ext cx="533400" cy="342900"/>
          </a:xfrm>
          <a:prstGeom prst="roundRect">
            <a:avLst>
              <a:gd name="adj" fmla="val 14814"/>
            </a:avLst>
          </a:prstGeom>
          <a:solidFill>
            <a:srgbClr val="2D4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813800" y="456565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16–19</a:t>
            </a:r>
          </a:p>
        </p:txBody>
      </p:sp>
      <p:sp>
        <p:nvSpPr>
          <p:cNvPr id="82" name="Rounded Rectangle 81"/>
          <p:cNvSpPr/>
          <p:nvPr/>
        </p:nvSpPr>
        <p:spPr>
          <a:xfrm>
            <a:off x="9347200" y="4464050"/>
            <a:ext cx="533400" cy="342900"/>
          </a:xfrm>
          <a:prstGeom prst="roundRect">
            <a:avLst>
              <a:gd name="adj" fmla="val 14814"/>
            </a:avLst>
          </a:prstGeom>
          <a:solidFill>
            <a:srgbClr val="2D4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410700" y="456565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20–23</a:t>
            </a:r>
          </a:p>
        </p:txBody>
      </p:sp>
      <p:sp>
        <p:nvSpPr>
          <p:cNvPr id="84" name="Rounded Rectangle 83"/>
          <p:cNvSpPr/>
          <p:nvPr/>
        </p:nvSpPr>
        <p:spPr>
          <a:xfrm>
            <a:off x="9944100" y="4464050"/>
            <a:ext cx="533400" cy="342900"/>
          </a:xfrm>
          <a:prstGeom prst="roundRect">
            <a:avLst>
              <a:gd name="adj" fmla="val 14814"/>
            </a:avLst>
          </a:prstGeom>
          <a:solidFill>
            <a:srgbClr val="2D4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0007600" y="456565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24–27</a:t>
            </a:r>
          </a:p>
        </p:txBody>
      </p:sp>
      <p:sp>
        <p:nvSpPr>
          <p:cNvPr id="86" name="Rounded Rectangle 85"/>
          <p:cNvSpPr/>
          <p:nvPr/>
        </p:nvSpPr>
        <p:spPr>
          <a:xfrm>
            <a:off x="10541000" y="4464050"/>
            <a:ext cx="533400" cy="342900"/>
          </a:xfrm>
          <a:prstGeom prst="roundRect">
            <a:avLst>
              <a:gd name="adj" fmla="val 14814"/>
            </a:avLst>
          </a:prstGeom>
          <a:solidFill>
            <a:srgbClr val="2D4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0604500" y="4565650"/>
            <a:ext cx="444500" cy="203200"/>
          </a:xfrm>
          <a:prstGeom prst="rect">
            <a:avLst/>
          </a:prstGeom>
          <a:noFill/>
        </p:spPr>
        <p:txBody>
          <a:bodyPr wrap="none" lIns="0" rIns="0" tIns="0" bIns="0" anchor="t">
            <a:noAutofit/>
          </a:bodyPr>
          <a:lstStyle/>
          <a:p>
            <a:pPr>
              <a:lnSpc>
                <a:spcPts val="1200"/>
              </a:lnSpc>
              <a:spcBef>
                <a:spcPts val="0"/>
              </a:spcBef>
              <a:spcAft>
                <a:spcPts val="0"/>
              </a:spcAft>
            </a:pPr>
            <a:r>
              <a:rPr b="0" sz="1000">
                <a:solidFill>
                  <a:srgbClr val="F1F5FA"/>
                </a:solidFill>
                <a:latin typeface="Liberation Mono"/>
              </a:rPr>
              <a:t>28–31</a:t>
            </a:r>
          </a:p>
        </p:txBody>
      </p:sp>
      <p:sp>
        <p:nvSpPr>
          <p:cNvPr id="88" name="TextBox 87"/>
          <p:cNvSpPr txBox="1"/>
          <p:nvPr/>
        </p:nvSpPr>
        <p:spPr>
          <a:xfrm>
            <a:off x="5416550" y="5086350"/>
            <a:ext cx="5873750" cy="271780"/>
          </a:xfrm>
          <a:prstGeom prst="rect">
            <a:avLst/>
          </a:prstGeom>
          <a:noFill/>
        </p:spPr>
        <p:txBody>
          <a:bodyPr wrap="none" lIns="0" rIns="0" tIns="0" bIns="0" anchor="t">
            <a:noAutofit/>
          </a:bodyPr>
          <a:lstStyle/>
          <a:p>
            <a:pPr>
              <a:lnSpc>
                <a:spcPts val="1739"/>
              </a:lnSpc>
              <a:spcBef>
                <a:spcPts val="0"/>
              </a:spcBef>
              <a:spcAft>
                <a:spcPts val="0"/>
              </a:spcAft>
            </a:pPr>
            <a:r>
              <a:rPr b="0" sz="1450">
                <a:solidFill>
                  <a:srgbClr val="5CE4BF"/>
                </a:solidFill>
                <a:latin typeface="DejaVu Sans"/>
              </a:rPr>
              <a:t>Shuffle offsets 16 + 8 → first 8 lanes write</a:t>
            </a:r>
          </a:p>
        </p:txBody>
      </p:sp>
      <p:sp>
        <p:nvSpPr>
          <p:cNvPr id="89" name="Rounded Rectangle 88"/>
          <p:cNvSpPr/>
          <p:nvPr/>
        </p:nvSpPr>
        <p:spPr>
          <a:xfrm>
            <a:off x="698500" y="5816600"/>
            <a:ext cx="10795000" cy="406400"/>
          </a:xfrm>
          <a:prstGeom prst="roundRect">
            <a:avLst>
              <a:gd name="adj" fmla="val 25000"/>
            </a:avLst>
          </a:prstGeom>
          <a:solidFill>
            <a:srgbClr val="2459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95350" y="5918200"/>
            <a:ext cx="10382250" cy="287020"/>
          </a:xfrm>
          <a:prstGeom prst="rect">
            <a:avLst/>
          </a:prstGeom>
          <a:noFill/>
        </p:spPr>
        <p:txBody>
          <a:bodyPr wrap="none" lIns="0" rIns="0" tIns="0" bIns="0" anchor="t">
            <a:noAutofit/>
          </a:bodyPr>
          <a:lstStyle/>
          <a:p>
            <a:pPr>
              <a:lnSpc>
                <a:spcPts val="1859"/>
              </a:lnSpc>
              <a:spcBef>
                <a:spcPts val="0"/>
              </a:spcBef>
              <a:spcAft>
                <a:spcPts val="0"/>
              </a:spcAft>
            </a:pPr>
            <a:r>
              <a:rPr b="0" sz="1550">
                <a:solidFill>
                  <a:srgbClr val="F1F5FA"/>
                </a:solidFill>
                <a:latin typeface="DejaVu Sans"/>
              </a:rPr>
              <a:t>Correct suffix replay: restore the saved denominator before every column.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C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19100"/>
            <a:ext cx="304800" cy="44450"/>
          </a:xfrm>
          <a:prstGeom prst="rect">
            <a:avLst/>
          </a:prstGeom>
          <a:solidFill>
            <a:srgbClr val="5CE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336550"/>
            <a:ext cx="7937500" cy="241300"/>
          </a:xfrm>
          <a:prstGeom prst="rect">
            <a:avLst/>
          </a:prstGeom>
          <a:noFill/>
        </p:spPr>
        <p:txBody>
          <a:bodyPr wrap="none" lIns="0" rIns="0" tIns="0" bIns="0" anchor="t">
            <a:noAutofit/>
          </a:bodyPr>
          <a:lstStyle/>
          <a:p>
            <a:pPr>
              <a:lnSpc>
                <a:spcPts val="1500"/>
              </a:lnSpc>
              <a:spcBef>
                <a:spcPts val="0"/>
              </a:spcBef>
              <a:spcAft>
                <a:spcPts val="0"/>
              </a:spcAft>
            </a:pPr>
            <a:r>
              <a:rPr b="1" sz="1250">
                <a:solidFill>
                  <a:srgbClr val="5CE4BF"/>
                </a:solidFill>
                <a:latin typeface="DejaVu Sans"/>
              </a:rPr>
              <a:t>DEUTERON / COMPILER PASSES</a:t>
            </a:r>
          </a:p>
        </p:txBody>
      </p:sp>
      <p:sp>
        <p:nvSpPr>
          <p:cNvPr id="5" name="TextBox 4"/>
          <p:cNvSpPr txBox="1"/>
          <p:nvPr/>
        </p:nvSpPr>
        <p:spPr>
          <a:xfrm>
            <a:off x="10572750" y="336550"/>
            <a:ext cx="952500" cy="241300"/>
          </a:xfrm>
          <a:prstGeom prst="rect">
            <a:avLst/>
          </a:prstGeom>
          <a:noFill/>
        </p:spPr>
        <p:txBody>
          <a:bodyPr wrap="none" lIns="0" rIns="0" tIns="0" bIns="0" anchor="t">
            <a:noAutofit/>
          </a:bodyPr>
          <a:lstStyle/>
          <a:p>
            <a:pPr algn="r">
              <a:lnSpc>
                <a:spcPts val="1500"/>
              </a:lnSpc>
              <a:spcBef>
                <a:spcPts val="0"/>
              </a:spcBef>
              <a:spcAft>
                <a:spcPts val="0"/>
              </a:spcAft>
            </a:pPr>
            <a:r>
              <a:rPr b="0" sz="1250">
                <a:solidFill>
                  <a:srgbClr val="A7B8CF"/>
                </a:solidFill>
                <a:latin typeface="DejaVu Sans"/>
              </a:rPr>
              <a:t>09 / 09</a:t>
            </a:r>
          </a:p>
        </p:txBody>
      </p:sp>
      <p:cxnSp>
        <p:nvCxnSpPr>
          <p:cNvPr id="6" name="Connector 5"/>
          <p:cNvCxnSpPr/>
          <p:nvPr/>
        </p:nvCxnSpPr>
        <p:spPr>
          <a:xfrm>
            <a:off x="609600" y="6375400"/>
            <a:ext cx="10972800" cy="0"/>
          </a:xfrm>
          <a:prstGeom prst="line">
            <a:avLst/>
          </a:prstGeom>
          <a:ln w="12700">
            <a:solidFill>
              <a:srgbClr val="2C3C5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35000" y="6496050"/>
            <a:ext cx="7874000" cy="210820"/>
          </a:xfrm>
          <a:prstGeom prst="rect">
            <a:avLst/>
          </a:prstGeom>
          <a:noFill/>
        </p:spPr>
        <p:txBody>
          <a:bodyPr wrap="none" lIns="0" rIns="0" tIns="0" bIns="0" anchor="t">
            <a:noAutofit/>
          </a:bodyPr>
          <a:lstStyle/>
          <a:p>
            <a:pPr>
              <a:lnSpc>
                <a:spcPts val="1260"/>
              </a:lnSpc>
              <a:spcBef>
                <a:spcPts val="0"/>
              </a:spcBef>
              <a:spcAft>
                <a:spcPts val="0"/>
              </a:spcAft>
            </a:pPr>
            <a:r>
              <a:rPr b="0" sz="1050">
                <a:solidFill>
                  <a:srgbClr val="A7B8CF"/>
                </a:solidFill>
                <a:latin typeface="DejaVu Sans"/>
              </a:rPr>
              <a:t>Scheduled Emmy IR → NVIDIA PTX</a:t>
            </a:r>
          </a:p>
        </p:txBody>
      </p:sp>
      <p:sp>
        <p:nvSpPr>
          <p:cNvPr id="8" name="TextBox 7"/>
          <p:cNvSpPr txBox="1"/>
          <p:nvPr/>
        </p:nvSpPr>
        <p:spPr>
          <a:xfrm>
            <a:off x="8699500" y="6496050"/>
            <a:ext cx="2857500" cy="218440"/>
          </a:xfrm>
          <a:prstGeom prst="rect">
            <a:avLst/>
          </a:prstGeom>
          <a:noFill/>
        </p:spPr>
        <p:txBody>
          <a:bodyPr wrap="none" lIns="0" rIns="0" tIns="0" bIns="0" anchor="t">
            <a:noAutofit/>
          </a:bodyPr>
          <a:lstStyle/>
          <a:p>
            <a:pPr algn="r">
              <a:lnSpc>
                <a:spcPts val="1320"/>
              </a:lnSpc>
              <a:spcBef>
                <a:spcPts val="0"/>
              </a:spcBef>
              <a:spcAft>
                <a:spcPts val="0"/>
              </a:spcAft>
            </a:pPr>
            <a:r>
              <a:rPr b="0" sz="1100">
                <a:solidFill>
                  <a:srgbClr val="A7B8CF"/>
                </a:solidFill>
                <a:latin typeface="DejaVu Sans"/>
              </a:rPr>
              <a:t>RTX 5090  /  SM120</a:t>
            </a:r>
          </a:p>
        </p:txBody>
      </p:sp>
      <p:sp>
        <p:nvSpPr>
          <p:cNvPr id="9" name="TextBox 8"/>
          <p:cNvSpPr txBox="1"/>
          <p:nvPr/>
        </p:nvSpPr>
        <p:spPr>
          <a:xfrm>
            <a:off x="685800" y="971550"/>
            <a:ext cx="10795000" cy="553720"/>
          </a:xfrm>
          <a:prstGeom prst="rect">
            <a:avLst/>
          </a:prstGeom>
          <a:noFill/>
        </p:spPr>
        <p:txBody>
          <a:bodyPr wrap="none" lIns="0" rIns="0" tIns="0" bIns="0" anchor="t">
            <a:noAutofit/>
          </a:bodyPr>
          <a:lstStyle/>
          <a:p>
            <a:pPr>
              <a:lnSpc>
                <a:spcPts val="3960"/>
              </a:lnSpc>
              <a:spcBef>
                <a:spcPts val="0"/>
              </a:spcBef>
              <a:spcAft>
                <a:spcPts val="0"/>
              </a:spcAft>
            </a:pPr>
            <a:r>
              <a:rPr b="1" sz="3300">
                <a:solidFill>
                  <a:srgbClr val="F1F5FA"/>
                </a:solidFill>
                <a:latin typeface="DejaVu Sans"/>
              </a:rPr>
              <a:t>RTX 5090 · whole-compiler results</a:t>
            </a:r>
          </a:p>
        </p:txBody>
      </p:sp>
      <p:sp>
        <p:nvSpPr>
          <p:cNvPr id="10" name="TextBox 9"/>
          <p:cNvSpPr txBox="1"/>
          <p:nvPr/>
        </p:nvSpPr>
        <p:spPr>
          <a:xfrm>
            <a:off x="711200" y="1670050"/>
            <a:ext cx="10699750" cy="271780"/>
          </a:xfrm>
          <a:prstGeom prst="rect">
            <a:avLst/>
          </a:prstGeom>
          <a:noFill/>
        </p:spPr>
        <p:txBody>
          <a:bodyPr wrap="none" lIns="0" rIns="0" tIns="0" bIns="0" anchor="t">
            <a:noAutofit/>
          </a:bodyPr>
          <a:lstStyle/>
          <a:p>
            <a:pPr>
              <a:lnSpc>
                <a:spcPts val="1739"/>
              </a:lnSpc>
              <a:spcBef>
                <a:spcPts val="0"/>
              </a:spcBef>
              <a:spcAft>
                <a:spcPts val="0"/>
              </a:spcAft>
            </a:pPr>
            <a:r>
              <a:rPr b="0" sz="1450">
                <a:solidFill>
                  <a:srgbClr val="A7B8CF"/>
                </a:solidFill>
                <a:latin typeface="DejaVu Sans"/>
              </a:rPr>
              <a:t>Geometric mean warm latency · 15 open workloads · lower is better</a:t>
            </a:r>
          </a:p>
        </p:txBody>
      </p:sp>
      <p:sp>
        <p:nvSpPr>
          <p:cNvPr id="11" name="TextBox 10"/>
          <p:cNvSpPr txBox="1"/>
          <p:nvPr/>
        </p:nvSpPr>
        <p:spPr>
          <a:xfrm>
            <a:off x="7048500" y="2159000"/>
            <a:ext cx="508000" cy="248920"/>
          </a:xfrm>
          <a:prstGeom prst="rect">
            <a:avLst/>
          </a:prstGeom>
          <a:noFill/>
        </p:spPr>
        <p:txBody>
          <a:bodyPr wrap="none" lIns="0" rIns="0" tIns="0" bIns="0" anchor="t">
            <a:noAutofit/>
          </a:bodyPr>
          <a:lstStyle/>
          <a:p>
            <a:pPr>
              <a:lnSpc>
                <a:spcPts val="1560"/>
              </a:lnSpc>
              <a:spcBef>
                <a:spcPts val="0"/>
              </a:spcBef>
              <a:spcAft>
                <a:spcPts val="0"/>
              </a:spcAft>
            </a:pPr>
            <a:r>
              <a:rPr b="0" sz="1300">
                <a:solidFill>
                  <a:srgbClr val="A7B8CF"/>
                </a:solidFill>
                <a:latin typeface="DejaVu Sans"/>
              </a:rPr>
              <a:t>µs</a:t>
            </a:r>
          </a:p>
        </p:txBody>
      </p:sp>
      <p:sp>
        <p:nvSpPr>
          <p:cNvPr id="12" name="TextBox 11"/>
          <p:cNvSpPr txBox="1"/>
          <p:nvPr/>
        </p:nvSpPr>
        <p:spPr>
          <a:xfrm>
            <a:off x="762000" y="2762250"/>
            <a:ext cx="1320800" cy="287020"/>
          </a:xfrm>
          <a:prstGeom prst="rect">
            <a:avLst/>
          </a:prstGeom>
          <a:noFill/>
        </p:spPr>
        <p:txBody>
          <a:bodyPr wrap="none" lIns="0" rIns="0" tIns="0" bIns="0" anchor="t">
            <a:noAutofit/>
          </a:bodyPr>
          <a:lstStyle/>
          <a:p>
            <a:pPr>
              <a:lnSpc>
                <a:spcPts val="1859"/>
              </a:lnSpc>
              <a:spcBef>
                <a:spcPts val="0"/>
              </a:spcBef>
              <a:spcAft>
                <a:spcPts val="0"/>
              </a:spcAft>
            </a:pPr>
            <a:r>
              <a:rPr b="1" sz="1550">
                <a:solidFill>
                  <a:srgbClr val="F1F5FA"/>
                </a:solidFill>
                <a:latin typeface="DejaVu Sans"/>
              </a:rPr>
              <a:t>Deuteron</a:t>
            </a:r>
          </a:p>
        </p:txBody>
      </p:sp>
      <p:sp>
        <p:nvSpPr>
          <p:cNvPr id="13" name="Rounded Rectangle 12"/>
          <p:cNvSpPr/>
          <p:nvPr/>
        </p:nvSpPr>
        <p:spPr>
          <a:xfrm>
            <a:off x="2159000" y="2654300"/>
            <a:ext cx="2638092" cy="495300"/>
          </a:xfrm>
          <a:prstGeom prst="roundRect">
            <a:avLst>
              <a:gd name="adj" fmla="val 10256"/>
            </a:avLst>
          </a:prstGeom>
          <a:solidFill>
            <a:srgbClr val="5CE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05042" y="2762250"/>
            <a:ext cx="800100" cy="294640"/>
          </a:xfrm>
          <a:prstGeom prst="rect">
            <a:avLst/>
          </a:prstGeom>
          <a:noFill/>
        </p:spPr>
        <p:txBody>
          <a:bodyPr wrap="none" lIns="0" rIns="0" tIns="0" bIns="0" anchor="t">
            <a:noAutofit/>
          </a:bodyPr>
          <a:lstStyle/>
          <a:p>
            <a:pPr>
              <a:lnSpc>
                <a:spcPts val="1920"/>
              </a:lnSpc>
              <a:spcBef>
                <a:spcPts val="0"/>
              </a:spcBef>
              <a:spcAft>
                <a:spcPts val="0"/>
              </a:spcAft>
            </a:pPr>
            <a:r>
              <a:rPr b="1" sz="1600">
                <a:solidFill>
                  <a:srgbClr val="F1F5FA"/>
                </a:solidFill>
                <a:latin typeface="DejaVu Sans"/>
              </a:rPr>
              <a:t>3.752</a:t>
            </a:r>
          </a:p>
        </p:txBody>
      </p:sp>
      <p:sp>
        <p:nvSpPr>
          <p:cNvPr id="15" name="TextBox 14"/>
          <p:cNvSpPr txBox="1"/>
          <p:nvPr/>
        </p:nvSpPr>
        <p:spPr>
          <a:xfrm>
            <a:off x="762000" y="3676650"/>
            <a:ext cx="1320800" cy="287020"/>
          </a:xfrm>
          <a:prstGeom prst="rect">
            <a:avLst/>
          </a:prstGeom>
          <a:noFill/>
        </p:spPr>
        <p:txBody>
          <a:bodyPr wrap="none" lIns="0" rIns="0" tIns="0" bIns="0" anchor="t">
            <a:noAutofit/>
          </a:bodyPr>
          <a:lstStyle/>
          <a:p>
            <a:pPr>
              <a:lnSpc>
                <a:spcPts val="1859"/>
              </a:lnSpc>
              <a:spcBef>
                <a:spcPts val="0"/>
              </a:spcBef>
              <a:spcAft>
                <a:spcPts val="0"/>
              </a:spcAft>
            </a:pPr>
            <a:r>
              <a:rPr b="1" sz="1550">
                <a:solidFill>
                  <a:srgbClr val="F1F5FA"/>
                </a:solidFill>
                <a:latin typeface="DejaVu Sans"/>
              </a:rPr>
              <a:t>NVCC 12.8</a:t>
            </a:r>
          </a:p>
        </p:txBody>
      </p:sp>
      <p:sp>
        <p:nvSpPr>
          <p:cNvPr id="16" name="Rounded Rectangle 15"/>
          <p:cNvSpPr/>
          <p:nvPr/>
        </p:nvSpPr>
        <p:spPr>
          <a:xfrm>
            <a:off x="2159000" y="3568700"/>
            <a:ext cx="4370295" cy="495300"/>
          </a:xfrm>
          <a:prstGeom prst="roundRect">
            <a:avLst>
              <a:gd name="adj" fmla="val 10256"/>
            </a:avLst>
          </a:prstGeom>
          <a:solidFill>
            <a:srgbClr val="8496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37245" y="3676650"/>
            <a:ext cx="800100" cy="294640"/>
          </a:xfrm>
          <a:prstGeom prst="rect">
            <a:avLst/>
          </a:prstGeom>
          <a:noFill/>
        </p:spPr>
        <p:txBody>
          <a:bodyPr wrap="none" lIns="0" rIns="0" tIns="0" bIns="0" anchor="t">
            <a:noAutofit/>
          </a:bodyPr>
          <a:lstStyle/>
          <a:p>
            <a:pPr>
              <a:lnSpc>
                <a:spcPts val="1920"/>
              </a:lnSpc>
              <a:spcBef>
                <a:spcPts val="0"/>
              </a:spcBef>
              <a:spcAft>
                <a:spcPts val="0"/>
              </a:spcAft>
            </a:pPr>
            <a:r>
              <a:rPr b="1" sz="1600">
                <a:solidFill>
                  <a:srgbClr val="F1F5FA"/>
                </a:solidFill>
                <a:latin typeface="DejaVu Sans"/>
              </a:rPr>
              <a:t>6.216</a:t>
            </a:r>
          </a:p>
        </p:txBody>
      </p:sp>
      <p:sp>
        <p:nvSpPr>
          <p:cNvPr id="18" name="TextBox 17"/>
          <p:cNvSpPr txBox="1"/>
          <p:nvPr/>
        </p:nvSpPr>
        <p:spPr>
          <a:xfrm>
            <a:off x="762000" y="4591050"/>
            <a:ext cx="1320800" cy="287020"/>
          </a:xfrm>
          <a:prstGeom prst="rect">
            <a:avLst/>
          </a:prstGeom>
          <a:noFill/>
        </p:spPr>
        <p:txBody>
          <a:bodyPr wrap="none" lIns="0" rIns="0" tIns="0" bIns="0" anchor="t">
            <a:noAutofit/>
          </a:bodyPr>
          <a:lstStyle/>
          <a:p>
            <a:pPr>
              <a:lnSpc>
                <a:spcPts val="1859"/>
              </a:lnSpc>
              <a:spcBef>
                <a:spcPts val="0"/>
              </a:spcBef>
              <a:spcAft>
                <a:spcPts val="0"/>
              </a:spcAft>
            </a:pPr>
            <a:r>
              <a:rPr b="1" sz="1550">
                <a:solidFill>
                  <a:srgbClr val="F1F5FA"/>
                </a:solidFill>
                <a:latin typeface="DejaVu Sans"/>
              </a:rPr>
              <a:t>Triton 3.6</a:t>
            </a:r>
          </a:p>
        </p:txBody>
      </p:sp>
      <p:sp>
        <p:nvSpPr>
          <p:cNvPr id="19" name="Rounded Rectangle 18"/>
          <p:cNvSpPr/>
          <p:nvPr/>
        </p:nvSpPr>
        <p:spPr>
          <a:xfrm>
            <a:off x="2159000" y="4483100"/>
            <a:ext cx="3045577" cy="495300"/>
          </a:xfrm>
          <a:prstGeom prst="roundRect">
            <a:avLst>
              <a:gd name="adj" fmla="val 10256"/>
            </a:avLst>
          </a:prstGeom>
          <a:solidFill>
            <a:srgbClr val="95B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12527" y="4591050"/>
            <a:ext cx="800100" cy="294640"/>
          </a:xfrm>
          <a:prstGeom prst="rect">
            <a:avLst/>
          </a:prstGeom>
          <a:noFill/>
        </p:spPr>
        <p:txBody>
          <a:bodyPr wrap="none" lIns="0" rIns="0" tIns="0" bIns="0" anchor="t">
            <a:noAutofit/>
          </a:bodyPr>
          <a:lstStyle/>
          <a:p>
            <a:pPr>
              <a:lnSpc>
                <a:spcPts val="1920"/>
              </a:lnSpc>
              <a:spcBef>
                <a:spcPts val="0"/>
              </a:spcBef>
              <a:spcAft>
                <a:spcPts val="0"/>
              </a:spcAft>
            </a:pPr>
            <a:r>
              <a:rPr b="1" sz="1600">
                <a:solidFill>
                  <a:srgbClr val="F1F5FA"/>
                </a:solidFill>
                <a:latin typeface="DejaVu Sans"/>
              </a:rPr>
              <a:t>4.332</a:t>
            </a:r>
          </a:p>
        </p:txBody>
      </p:sp>
      <p:cxnSp>
        <p:nvCxnSpPr>
          <p:cNvPr id="21" name="Connector 20"/>
          <p:cNvCxnSpPr/>
          <p:nvPr/>
        </p:nvCxnSpPr>
        <p:spPr>
          <a:xfrm>
            <a:off x="2159000" y="5289550"/>
            <a:ext cx="4921250" cy="0"/>
          </a:xfrm>
          <a:prstGeom prst="line">
            <a:avLst/>
          </a:prstGeom>
          <a:ln w="12700">
            <a:solidFill>
              <a:srgbClr val="2C3C52"/>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159000" y="5289550"/>
            <a:ext cx="0" cy="76200"/>
          </a:xfrm>
          <a:prstGeom prst="line">
            <a:avLst/>
          </a:prstGeom>
          <a:ln w="12700">
            <a:solidFill>
              <a:srgbClr val="A7B8CF"/>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114550" y="5448300"/>
            <a:ext cx="317500" cy="233679"/>
          </a:xfrm>
          <a:prstGeom prst="rect">
            <a:avLst/>
          </a:prstGeom>
          <a:noFill/>
        </p:spPr>
        <p:txBody>
          <a:bodyPr wrap="none" lIns="0" rIns="0" tIns="0" bIns="0" anchor="t">
            <a:noAutofit/>
          </a:bodyPr>
          <a:lstStyle/>
          <a:p>
            <a:pPr>
              <a:lnSpc>
                <a:spcPts val="1439"/>
              </a:lnSpc>
              <a:spcBef>
                <a:spcPts val="0"/>
              </a:spcBef>
              <a:spcAft>
                <a:spcPts val="0"/>
              </a:spcAft>
            </a:pPr>
            <a:r>
              <a:rPr b="0" sz="1200">
                <a:solidFill>
                  <a:srgbClr val="A7B8CF"/>
                </a:solidFill>
                <a:latin typeface="DejaVu Sans"/>
              </a:rPr>
              <a:t>0</a:t>
            </a:r>
          </a:p>
        </p:txBody>
      </p:sp>
      <p:cxnSp>
        <p:nvCxnSpPr>
          <p:cNvPr id="24" name="Connector 23"/>
          <p:cNvCxnSpPr/>
          <p:nvPr/>
        </p:nvCxnSpPr>
        <p:spPr>
          <a:xfrm>
            <a:off x="3565071" y="5289550"/>
            <a:ext cx="0" cy="76200"/>
          </a:xfrm>
          <a:prstGeom prst="line">
            <a:avLst/>
          </a:prstGeom>
          <a:ln w="12700">
            <a:solidFill>
              <a:srgbClr val="A7B8CF"/>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520621" y="5448300"/>
            <a:ext cx="317500" cy="233679"/>
          </a:xfrm>
          <a:prstGeom prst="rect">
            <a:avLst/>
          </a:prstGeom>
          <a:noFill/>
        </p:spPr>
        <p:txBody>
          <a:bodyPr wrap="none" lIns="0" rIns="0" tIns="0" bIns="0" anchor="t">
            <a:noAutofit/>
          </a:bodyPr>
          <a:lstStyle/>
          <a:p>
            <a:pPr>
              <a:lnSpc>
                <a:spcPts val="1439"/>
              </a:lnSpc>
              <a:spcBef>
                <a:spcPts val="0"/>
              </a:spcBef>
              <a:spcAft>
                <a:spcPts val="0"/>
              </a:spcAft>
            </a:pPr>
            <a:r>
              <a:rPr b="0" sz="1200">
                <a:solidFill>
                  <a:srgbClr val="A7B8CF"/>
                </a:solidFill>
                <a:latin typeface="DejaVu Sans"/>
              </a:rPr>
              <a:t>2</a:t>
            </a:r>
          </a:p>
        </p:txBody>
      </p:sp>
      <p:cxnSp>
        <p:nvCxnSpPr>
          <p:cNvPr id="26" name="Connector 25"/>
          <p:cNvCxnSpPr/>
          <p:nvPr/>
        </p:nvCxnSpPr>
        <p:spPr>
          <a:xfrm>
            <a:off x="4971142" y="5289550"/>
            <a:ext cx="0" cy="76200"/>
          </a:xfrm>
          <a:prstGeom prst="line">
            <a:avLst/>
          </a:prstGeom>
          <a:ln w="12700">
            <a:solidFill>
              <a:srgbClr val="A7B8CF"/>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926692" y="5448300"/>
            <a:ext cx="317500" cy="233679"/>
          </a:xfrm>
          <a:prstGeom prst="rect">
            <a:avLst/>
          </a:prstGeom>
          <a:noFill/>
        </p:spPr>
        <p:txBody>
          <a:bodyPr wrap="none" lIns="0" rIns="0" tIns="0" bIns="0" anchor="t">
            <a:noAutofit/>
          </a:bodyPr>
          <a:lstStyle/>
          <a:p>
            <a:pPr>
              <a:lnSpc>
                <a:spcPts val="1439"/>
              </a:lnSpc>
              <a:spcBef>
                <a:spcPts val="0"/>
              </a:spcBef>
              <a:spcAft>
                <a:spcPts val="0"/>
              </a:spcAft>
            </a:pPr>
            <a:r>
              <a:rPr b="0" sz="1200">
                <a:solidFill>
                  <a:srgbClr val="A7B8CF"/>
                </a:solidFill>
                <a:latin typeface="DejaVu Sans"/>
              </a:rPr>
              <a:t>4</a:t>
            </a:r>
          </a:p>
        </p:txBody>
      </p:sp>
      <p:cxnSp>
        <p:nvCxnSpPr>
          <p:cNvPr id="28" name="Connector 27"/>
          <p:cNvCxnSpPr/>
          <p:nvPr/>
        </p:nvCxnSpPr>
        <p:spPr>
          <a:xfrm>
            <a:off x="6377214" y="5289550"/>
            <a:ext cx="0" cy="76200"/>
          </a:xfrm>
          <a:prstGeom prst="line">
            <a:avLst/>
          </a:prstGeom>
          <a:ln w="12700">
            <a:solidFill>
              <a:srgbClr val="A7B8CF"/>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332764" y="5448300"/>
            <a:ext cx="317500" cy="233679"/>
          </a:xfrm>
          <a:prstGeom prst="rect">
            <a:avLst/>
          </a:prstGeom>
          <a:noFill/>
        </p:spPr>
        <p:txBody>
          <a:bodyPr wrap="none" lIns="0" rIns="0" tIns="0" bIns="0" anchor="t">
            <a:noAutofit/>
          </a:bodyPr>
          <a:lstStyle/>
          <a:p>
            <a:pPr>
              <a:lnSpc>
                <a:spcPts val="1439"/>
              </a:lnSpc>
              <a:spcBef>
                <a:spcPts val="0"/>
              </a:spcBef>
              <a:spcAft>
                <a:spcPts val="0"/>
              </a:spcAft>
            </a:pPr>
            <a:r>
              <a:rPr b="0" sz="1200">
                <a:solidFill>
                  <a:srgbClr val="A7B8CF"/>
                </a:solidFill>
                <a:latin typeface="DejaVu Sans"/>
              </a:rPr>
              <a:t>6</a:t>
            </a:r>
          </a:p>
        </p:txBody>
      </p:sp>
      <p:sp>
        <p:nvSpPr>
          <p:cNvPr id="30" name="Rounded Rectangle 29"/>
          <p:cNvSpPr/>
          <p:nvPr/>
        </p:nvSpPr>
        <p:spPr>
          <a:xfrm>
            <a:off x="8286750" y="2368550"/>
            <a:ext cx="3206750" cy="1409700"/>
          </a:xfrm>
          <a:prstGeom prst="roundRect">
            <a:avLst>
              <a:gd name="adj" fmla="val 10360"/>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09000" y="2527300"/>
            <a:ext cx="2774950" cy="812800"/>
          </a:xfrm>
          <a:prstGeom prst="rect">
            <a:avLst/>
          </a:prstGeom>
          <a:noFill/>
        </p:spPr>
        <p:txBody>
          <a:bodyPr wrap="none" lIns="0" rIns="0" tIns="0" bIns="0" anchor="t">
            <a:noAutofit/>
          </a:bodyPr>
          <a:lstStyle/>
          <a:p>
            <a:pPr>
              <a:lnSpc>
                <a:spcPts val="6000"/>
              </a:lnSpc>
              <a:spcBef>
                <a:spcPts val="0"/>
              </a:spcBef>
              <a:spcAft>
                <a:spcPts val="0"/>
              </a:spcAft>
            </a:pPr>
            <a:r>
              <a:rPr b="1" sz="5000">
                <a:solidFill>
                  <a:srgbClr val="5CE4BF"/>
                </a:solidFill>
                <a:latin typeface="DejaVu Sans"/>
              </a:rPr>
              <a:t>1.66×</a:t>
            </a:r>
          </a:p>
        </p:txBody>
      </p:sp>
      <p:sp>
        <p:nvSpPr>
          <p:cNvPr id="32" name="TextBox 31"/>
          <p:cNvSpPr txBox="1"/>
          <p:nvPr/>
        </p:nvSpPr>
        <p:spPr>
          <a:xfrm>
            <a:off x="8509000" y="3295650"/>
            <a:ext cx="2774950" cy="265112"/>
          </a:xfrm>
          <a:prstGeom prst="rect">
            <a:avLst/>
          </a:prstGeom>
          <a:noFill/>
        </p:spPr>
        <p:txBody>
          <a:bodyPr wrap="none" lIns="0" rIns="0" tIns="0" bIns="0" anchor="t">
            <a:noAutofit/>
          </a:bodyPr>
          <a:lstStyle/>
          <a:p>
            <a:pPr>
              <a:lnSpc>
                <a:spcPts val="1687"/>
              </a:lnSpc>
              <a:spcBef>
                <a:spcPts val="0"/>
              </a:spcBef>
              <a:spcAft>
                <a:spcPts val="0"/>
              </a:spcAft>
            </a:pPr>
            <a:r>
              <a:rPr b="0" sz="1350">
                <a:solidFill>
                  <a:srgbClr val="F1F5FA"/>
                </a:solidFill>
                <a:latin typeface="DejaVu Sans"/>
              </a:rPr>
              <a:t>vs generated CUDA / NVCC</a:t>
            </a:r>
          </a:p>
        </p:txBody>
      </p:sp>
      <p:sp>
        <p:nvSpPr>
          <p:cNvPr id="33" name="Rounded Rectangle 32"/>
          <p:cNvSpPr/>
          <p:nvPr/>
        </p:nvSpPr>
        <p:spPr>
          <a:xfrm>
            <a:off x="8286750" y="4044950"/>
            <a:ext cx="3206750" cy="1409700"/>
          </a:xfrm>
          <a:prstGeom prst="roundRect">
            <a:avLst>
              <a:gd name="adj" fmla="val 10360"/>
            </a:avLst>
          </a:prstGeom>
          <a:solidFill>
            <a:srgbClr val="14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09000" y="4203700"/>
            <a:ext cx="2774950" cy="812800"/>
          </a:xfrm>
          <a:prstGeom prst="rect">
            <a:avLst/>
          </a:prstGeom>
          <a:noFill/>
        </p:spPr>
        <p:txBody>
          <a:bodyPr wrap="none" lIns="0" rIns="0" tIns="0" bIns="0" anchor="t">
            <a:noAutofit/>
          </a:bodyPr>
          <a:lstStyle/>
          <a:p>
            <a:pPr>
              <a:lnSpc>
                <a:spcPts val="6000"/>
              </a:lnSpc>
              <a:spcBef>
                <a:spcPts val="0"/>
              </a:spcBef>
              <a:spcAft>
                <a:spcPts val="0"/>
              </a:spcAft>
            </a:pPr>
            <a:r>
              <a:rPr b="1" sz="5000">
                <a:solidFill>
                  <a:srgbClr val="5CE4BF"/>
                </a:solidFill>
                <a:latin typeface="DejaVu Sans"/>
              </a:rPr>
              <a:t>1.15×</a:t>
            </a:r>
          </a:p>
        </p:txBody>
      </p:sp>
      <p:sp>
        <p:nvSpPr>
          <p:cNvPr id="35" name="TextBox 34"/>
          <p:cNvSpPr txBox="1"/>
          <p:nvPr/>
        </p:nvSpPr>
        <p:spPr>
          <a:xfrm>
            <a:off x="8509000" y="4972050"/>
            <a:ext cx="2774950" cy="265112"/>
          </a:xfrm>
          <a:prstGeom prst="rect">
            <a:avLst/>
          </a:prstGeom>
          <a:noFill/>
        </p:spPr>
        <p:txBody>
          <a:bodyPr wrap="none" lIns="0" rIns="0" tIns="0" bIns="0" anchor="t">
            <a:noAutofit/>
          </a:bodyPr>
          <a:lstStyle/>
          <a:p>
            <a:pPr>
              <a:lnSpc>
                <a:spcPts val="1687"/>
              </a:lnSpc>
              <a:spcBef>
                <a:spcPts val="0"/>
              </a:spcBef>
              <a:spcAft>
                <a:spcPts val="0"/>
              </a:spcAft>
            </a:pPr>
            <a:r>
              <a:rPr b="0" sz="1350">
                <a:solidFill>
                  <a:srgbClr val="F1F5FA"/>
                </a:solidFill>
                <a:latin typeface="DejaVu Sans"/>
              </a:rPr>
              <a:t>vs tested Triton baseline</a:t>
            </a:r>
          </a:p>
        </p:txBody>
      </p:sp>
      <p:sp>
        <p:nvSpPr>
          <p:cNvPr id="36" name="TextBox 35"/>
          <p:cNvSpPr txBox="1"/>
          <p:nvPr/>
        </p:nvSpPr>
        <p:spPr>
          <a:xfrm>
            <a:off x="723900" y="5848350"/>
            <a:ext cx="10731500" cy="256540"/>
          </a:xfrm>
          <a:prstGeom prst="rect">
            <a:avLst/>
          </a:prstGeom>
          <a:noFill/>
        </p:spPr>
        <p:txBody>
          <a:bodyPr wrap="none" lIns="0" rIns="0" tIns="0" bIns="0" anchor="t">
            <a:noAutofit/>
          </a:bodyPr>
          <a:lstStyle/>
          <a:p>
            <a:pPr>
              <a:lnSpc>
                <a:spcPts val="1620"/>
              </a:lnSpc>
              <a:spcBef>
                <a:spcPts val="0"/>
              </a:spcBef>
              <a:spcAft>
                <a:spcPts val="0"/>
              </a:spcAft>
            </a:pPr>
            <a:r>
              <a:rPr b="0" sz="1350">
                <a:solidFill>
                  <a:srgbClr val="F1F5FA"/>
                </a:solidFill>
                <a:latin typeface="DejaVu Sans"/>
              </a:rPr>
              <a:t>270 balanced warm calls · Original inputs and numerical tolerances · All output checks pass</a:t>
            </a:r>
          </a:p>
        </p:txBody>
      </p:sp>
      <p:sp>
        <p:nvSpPr>
          <p:cNvPr id="37" name="TextBox 36"/>
          <p:cNvSpPr txBox="1"/>
          <p:nvPr/>
        </p:nvSpPr>
        <p:spPr>
          <a:xfrm>
            <a:off x="723900" y="6153150"/>
            <a:ext cx="10731500" cy="226059"/>
          </a:xfrm>
          <a:prstGeom prst="rect">
            <a:avLst/>
          </a:prstGeom>
          <a:noFill/>
        </p:spPr>
        <p:txBody>
          <a:bodyPr wrap="none" lIns="0" rIns="0" tIns="0" bIns="0" anchor="t">
            <a:noAutofit/>
          </a:bodyPr>
          <a:lstStyle/>
          <a:p>
            <a:pPr>
              <a:lnSpc>
                <a:spcPts val="1380"/>
              </a:lnSpc>
              <a:spcBef>
                <a:spcPts val="0"/>
              </a:spcBef>
              <a:spcAft>
                <a:spcPts val="0"/>
              </a:spcAft>
            </a:pPr>
            <a:r>
              <a:rPr b="0" sz="1150">
                <a:solidFill>
                  <a:srgbClr val="A7B8CF"/>
                </a:solidFill>
                <a:latin typeface="DejaVu Sans"/>
              </a:rPr>
              <a:t>20 warmups / 200 iterations · Limited Triton search · Compile / assembly / transport excluded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Deuteron — compiler passes and innovations</dc:title>
  <dc:subject>Implemented compiler transformations and verified RTX 5090 measurements</dc:subject>
  <dc:creator>Deuteron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