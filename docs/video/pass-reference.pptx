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ONLY — outside the three-minute narrated deck.</a:t>
            </a:r>
          </a:p>
          <a:p/>
          <a:p>
            <a:r>
              <a:t>P01. Symbolic index and effect analysis</a:t>
            </a:r>
          </a:p>
          <a:p>
            <a:r>
              <a:t>Canonicalizes supported affine expressions, checks uses/equality/strides, and provides inputs to pass-specific bounds and ownership proofs. Unsupported expressions stop the relevant rewrite.</a:t>
            </a:r>
          </a:p>
          <a:p>
            <a:r>
              <a:t>Guard: Integer coordinates and supported operators; non-affine products decline.</a:t>
            </a:r>
          </a:p>
          <a:p>
            <a:r>
              <a:t>Source: compiler/analysis.py</a:t>
            </a:r>
          </a:p>
          <a:p/>
          <a:p>
            <a:r>
              <a:t>P02. Storage typing</a:t>
            </a:r>
          </a:p>
          <a:p>
            <a:r>
              <a:t>Validates half/float types before rewrites and lowering: explicit FP32 arithmetic, control-only indices, and ordinary output stores.</a:t>
            </a:r>
          </a:p>
          <a:p>
            <a:r>
              <a:t>Guard: f16/f32 global buffers, control-only indices, explicit f32 results, plain stores.</a:t>
            </a:r>
          </a:p>
          <a:p>
            <a:r>
              <a:t>Source: compiler/storage.py</a:t>
            </a:r>
          </a:p>
          <a:p/>
          <a:p>
            <a:r>
              <a:t>P03. Elementwise vectorization</a:t>
            </a:r>
          </a:p>
          <a:p>
            <a:r>
              <a:t>Converts contiguous thread-strided scalar loops to four elements per lane. Requires divisible extents, safe overlap, closed temporaries, and ordinary stores.</a:t>
            </a:r>
          </a:p>
          <a:p>
            <a:r>
              <a:t>Guard: Extent divisible by 4×threads; contiguous indices; safe overlap and lifetimes.</a:t>
            </a:r>
          </a:p>
          <a:p>
            <a:r>
              <a:t>Source: compiler/passes/vectorize.py</a:t>
            </a:r>
          </a:p>
          <a:p/>
          <a:p>
            <a:r>
              <a:t>P04. Reduction load forwarding</a:t>
            </a:r>
          </a:p>
          <a:p>
            <a:r>
              <a:t>Keeps input vectors in registers across a reduction and its consumer, removing repeated global loads. Proves matching indices, readonly inputs, and closed lifetimes.</a:t>
            </a:r>
          </a:p>
          <a:p>
            <a:r>
              <a:t>Guard: Readonly matching input, no writes, intervening CTA barrier, ≤8 vector trips.</a:t>
            </a:r>
          </a:p>
          <a:p>
            <a:r>
              <a:t>Source: compiler/passes/regforward.py</a:t>
            </a:r>
          </a:p>
          <a:p/>
          <a:p>
            <a:r>
              <a:t>P05. Recurrence-axis reordering</a:t>
            </a:r>
          </a:p>
          <a:p>
            <a:r>
              <a:t>Reorders logical tile axes to increase provable lane sharing while retaining the physical launch and output mapping.</a:t>
            </a:r>
          </a:p>
          <a:p>
            <a:r>
              <a:t>Guard: Closed named coordinates, exact tile coverage, no rasterization, wider sharing.</a:t>
            </a:r>
          </a:p>
          <a:p>
            <a:r>
              <a:t>Source: compiler/passes/recurrence.py</a:t>
            </a:r>
          </a:p>
          <a:p/>
          <a:p>
            <a:r>
              <a:t>P06. Split-K grid folding</a:t>
            </a:r>
          </a:p>
          <a:p>
            <a:r>
              <a:t>Folds an output-independent atomic contraction axis into deeper per-CTA K work. Guards affine coverage, shared memory, and remaining parallelism; surplus physical CTAs exit through the tile guard.</a:t>
            </a:r>
          </a:p>
          <a:p>
            <a:r>
              <a:t>Guard: Atomic dense contraction; affine coverage; depth≤32, shared≤48 KiB, enough work.</a:t>
            </a:r>
          </a:p>
          <a:p>
            <a:r>
              <a:t>Source: compiler/passes/gridfold.py</a:t>
            </a:r>
          </a:p>
          <a:p/>
          <a:p>
            <a:r>
              <a:t>P07. Cooperative dot reduction</a:t>
            </a:r>
          </a:p>
          <a:p>
            <a:r>
              <a:t>Distributes a repeated dot product across a power-of-two lane group and combines partial sums with shuffles. Requires full participating warps and closed scalar/index scope.</a:t>
            </a:r>
          </a:p>
          <a:p>
            <a:r>
              <a:t>Guard: Closed load/load/product/sum loop, full warps, uniform scope, width≤32.</a:t>
            </a:r>
          </a:p>
          <a:p>
            <a:r>
              <a:t>Source: compiler/transforms.py</a:t>
            </a:r>
          </a:p>
          <a:p/>
          <a:p>
            <a:r>
              <a:t>P08. Coalesced sum/square reduction</a:t>
            </a:r>
          </a:p>
          <a:p>
            <a:r>
              <a:t>Maps thread-strided reductions to contiguous vector loads. Long eligible loops use independent FP32 accumulators and alternating load batches; explicit unroll settings bypass that automatic pipeline.</a:t>
            </a:r>
          </a:p>
          <a:p>
            <a:r>
              <a:t>Guard: Seeded sum/square with matching warp/tree reduction; long path also readonly.</a:t>
            </a:r>
          </a:p>
          <a:p>
            <a:r>
              <a:t>Source: compiler/transforms.py</a:t>
            </a:r>
          </a:p>
          <a:p/>
          <a:p>
            <a:r>
              <a:t>P09. Small-tree elimination</a:t>
            </a:r>
          </a:p>
          <a:p>
            <a:r>
              <a:t>Replaces closed trees of 2–8 warp partials with direct shared loads and balanced scalar addition; eligible multiple-state trees use a subgroup shuffle. Requires the producer barrier and exclusive scratch lifetime.</a:t>
            </a:r>
          </a:p>
          <a:p>
            <a:r>
              <a:t>Guard: 2–8 power-of-two partials, producer barrier, exclusive scratch, closed states.</a:t>
            </a:r>
          </a:p>
          <a:p>
            <a:r>
              <a:t>Source: compiler/passes/tailtree.py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ONLY — outside the three-minute narrated deck.</a:t>
            </a:r>
          </a:p>
          <a:p/>
          <a:p>
            <a:r>
              <a:t>P10. Warp tree specialization</a:t>
            </a:r>
          </a:p>
          <a:p>
            <a:r>
              <a:t>Lets warp 0 combine up to 32 warp partials and broadcast through shared memory with one CTA barrier. Other trees retain generic shared-memory reduction.</a:t>
            </a:r>
          </a:p>
          <a:p>
            <a:r>
              <a:t>Guard: Enabled specialization, warp-indexed tree, no inner dimension, length≤32.</a:t>
            </a:r>
          </a:p>
          <a:p>
            <a:r>
              <a:t>Source: compiler/codegen/lower.py</a:t>
            </a:r>
          </a:p>
          <a:p/>
          <a:p>
            <a:r>
              <a:t>P11. Contraction tensorization</a:t>
            </a:r>
          </a:p>
          <a:p>
            <a:r>
              <a:t>Recognizes dense shared-memory multiply/add contractions and emits BF16x3 or TF32x3 MMA. Proves complete affine output tiles, full warps, supported dimensions, and scalar ownership.</a:t>
            </a:r>
          </a:p>
          <a:p>
            <a:r>
              <a:t>Guard: Complete affine tiles, full warps, closed scalar scope, supported M/N/K sizes.</a:t>
            </a:r>
          </a:p>
          <a:p>
            <a:r>
              <a:t>Source: compiler/passes/contraction.py</a:t>
            </a:r>
          </a:p>
          <a:p/>
          <a:p>
            <a:r>
              <a:t>P12. Tensor shared-memory layout</a:t>
            </a:r>
          </a:p>
          <a:p>
            <a:r>
              <a:t>Applies matching producer/consumer bank remapping and packed layouts; uses `ldmatrix` for eligible BF16 fragments.</a:t>
            </a:r>
          </a:p>
          <a:p>
            <a:r>
              <a:t>Guard: Recognized tensor operands; compatible dimensions and packed BF16 eligibility.</a:t>
            </a:r>
          </a:p>
          <a:p>
            <a:r>
              <a:t>Source: compiler/codegen/tensor.py</a:t>
            </a:r>
          </a:p>
          <a:p/>
          <a:p>
            <a:r>
              <a:t>P13. Packed register staging</a:t>
            </a:r>
          </a:p>
          <a:p>
            <a:r>
              <a:t>Replaces a certified asynchronous matrix-copy ring with vector global prefetches, BF16 high/residual packing, and one packed shared stage. Checks original clamped future coordinates, alignment, bounds, and ownership.</a:t>
            </a:r>
          </a:p>
          <a:p>
            <a:r>
              <a:t>Guard: Exact original future phase, complete aligned copies, readonly inputs, closed ring.</a:t>
            </a:r>
          </a:p>
          <a:p>
            <a:r>
              <a:t>Source: compiler/passes/regstage.py</a:t>
            </a:r>
          </a:p>
          <a:p/>
          <a:p>
            <a:r>
              <a:t>P14. Tensor fragment pipelining</a:t>
            </a:r>
          </a:p>
          <a:p>
            <a:r>
              <a:t>Carries current MMA fragments in loop phis and loads the next fragment before consuming the current one. Keeps the fragment loop compact; the outer packed K loop defaults to unroll two.</a:t>
            </a:r>
          </a:p>
          <a:p>
            <a:r>
              <a:t>Guard: Certified packed BF16 operands; compatible fragment depth and loop bounds.</a:t>
            </a:r>
          </a:p>
          <a:p>
            <a:r>
              <a:t>Source: compiler/codegen/tensor.py</a:t>
            </a:r>
          </a:p>
          <a:p/>
          <a:p>
            <a:r>
              <a:t>P15. Pipeline drain</a:t>
            </a:r>
          </a:p>
          <a:p>
            <a:r>
              <a:t>Omits the final unused register prefetch and consumer barrier when no next K tile exists. Producer stores and their barrier remain; the staging proof excludes later shared users.</a:t>
            </a:r>
          </a:p>
          <a:p>
            <a:r>
              <a:t>Guard: Certified staging loop with uniform next-tile predicate and no later shared users.</a:t>
            </a:r>
          </a:p>
          <a:p>
            <a:r>
              <a:t>Source: compiler/passes/regstage.py</a:t>
            </a:r>
          </a:p>
          <a:p/>
          <a:p>
            <a:r>
              <a:t>P16. Staged online recurrence</a:t>
            </a:r>
          </a:p>
          <a:p>
            <a:r>
              <a:t>Recognizes max/mass/weighted-sum recurrences, computes scores once, and separates normalization from value accumulation using shared probabilities. May stage reusable readonly operands with `cp.async` under traffic/scratch-budget guards.</a:t>
            </a:r>
          </a:p>
          <a:p>
            <a:r>
              <a:t>Guard: Exact recurrence algebra, readonly operands, uniform scale, bounded rounds/scratch.</a:t>
            </a:r>
          </a:p>
          <a:p>
            <a:r>
              <a:t>Source: compiler/passes/recurrence.py</a:t>
            </a:r>
          </a:p>
          <a:p/>
          <a:p>
            <a:r>
              <a:t>P17. Blocked recurrence loads and address hoisting</a:t>
            </a:r>
          </a:p>
          <a:p>
            <a:r>
              <a:t>Groups contiguous key rounds for vector loads and hoists affine value-gather bases. Requires full coverage, compatible staging, and bounded positive strides.</a:t>
            </a:r>
          </a:p>
          <a:p>
            <a:r>
              <a:t>Guard: Compatible 2/4 key rounds; unstaged operands; affine bounded full value coverage.</a:t>
            </a:r>
          </a:p>
          <a:p>
            <a:r>
              <a:t>Source: compiler/passes/recurrence.py</a:t>
            </a:r>
          </a:p>
          <a:p/>
          <a:p>
            <a:r>
              <a:t>P18. Warp-distributed vector PV reduction</a:t>
            </a:r>
          </a:p>
          <a:p>
            <a:r>
              <a:t>For certified single-warp, 32-column recurrences, four groups distribute keys while each lane accumulates four adjacent columns. Shuffles combine groups. Proves alignment, unique output ownership, and closed per-column suffix replay; restores the denominator each time.</a:t>
            </a:r>
          </a:p>
          <a:p>
            <a:r>
              <a:t>Guard: Single full warp, 32 columns, one component, full ownership, replayable suffix.</a:t>
            </a:r>
          </a:p>
          <a:p>
            <a:r>
              <a:t>Source: compiler/passes/recurrence.py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ONLY — outside the three-minute narrated deck.</a:t>
            </a:r>
          </a:p>
          <a:p/>
          <a:p>
            <a:r>
              <a:t>P19. Recurrence shared-storage reuse</a:t>
            </a:r>
          </a:p>
          <a:p>
            <a:r>
              <a:t>Reuses dead staged-operand storage for probabilities when every overwritten read belongs to the same warp/component. Read-to-maximum-to-store dependence orders reuse; otherwise scratch remains separate.</a:t>
            </a:r>
          </a:p>
          <a:p>
            <a:r>
              <a:t>Guard: Same warp/component ownership; finite negative identity; bounded full mapping.</a:t>
            </a:r>
          </a:p>
          <a:p>
            <a:r>
              <a:t>Source: compiler/passes/lifetime.py</a:t>
            </a:r>
          </a:p>
          <a:p/>
          <a:p>
            <a:r>
              <a:t>P20. Hybrid row normalizer</a:t>
            </a:r>
          </a:p>
          <a:p>
            <a:r>
              <a:t>Each warp obtains the row maximum, each thread exponentiates its owned values, and only scalar mass crosses warps. Requires a closed max/mass tree, bounded work, and approximate math enabled.</a:t>
            </a:r>
          </a:p>
          <a:p>
            <a:r>
              <a:t>Guard: Closed max/mass tree, finite seed, 64–256 threads, bounded rows, approximate math.</a:t>
            </a:r>
          </a:p>
          <a:p>
            <a:r>
              <a:t>Source: compiler/passes/hybrid_normalizer.py</a:t>
            </a:r>
          </a:p>
          <a:p/>
          <a:p>
            <a:r>
              <a:t>P21. Ordered hardware warp maximum</a:t>
            </a:r>
          </a:p>
          <a:p>
            <a:r>
              <a:t>Maps proven non-NaN FP32 values to ordered integer keys for `redux.sync.max.s32`, then reverses the mapping. Used for full warps in certified normalizers and multi-warp recurrences; single-warp recurrences retain shuffles.</a:t>
            </a:r>
          </a:p>
          <a:p>
            <a:r>
              <a:t>Guard: Full warp; non-NaN identity fold; recurrence CTA must have more than 32 threads.</a:t>
            </a:r>
          </a:p>
          <a:p>
            <a:r>
              <a:t>Source: compiler/codegen/lower.py</a:t>
            </a:r>
          </a:p>
          <a:p/>
          <a:p>
            <a:r>
              <a:t>P22. CTA/thread address factoring</a:t>
            </a:r>
          </a:p>
          <a:p>
            <a:r>
              <a:t>Separates leading CTA axes from trailing thread axes when their product matches the block width. Avoids repeated full-ticket division; guards bounds, rasterization, and partial-grid ownership.</a:t>
            </a:r>
          </a:p>
          <a:p>
            <a:r>
              <a:t>Guard: Trailing-axis product equals block width; no rasterization; bounded tile ownership.</a:t>
            </a:r>
          </a:p>
          <a:p>
            <a:r>
              <a:t>Source: compiler/codegen/lower.py</a:t>
            </a:r>
          </a:p>
          <a:p/>
          <a:p>
            <a:r>
              <a:t>P23. Loop cost policy</a:t>
            </a:r>
          </a:p>
          <a:p>
            <a:r>
              <a:t>Supplies structure-sensitive unroll/vectorization hints. Explicit options remain authoritative; this is a heuristic policy, not runtime autotuning.</a:t>
            </a:r>
          </a:p>
          <a:p>
            <a:r>
              <a:t>Guard: Recognized loop structure; explicit options; specialized coalesced-loop policy.</a:t>
            </a:r>
          </a:p>
          <a:p>
            <a:r>
              <a:t>Source: compiler/transforms.py</a:t>
            </a:r>
          </a:p>
          <a:p/>
          <a:p>
            <a:r>
              <a:t>P24. Reciprocal-square-root folding</a:t>
            </a:r>
          </a:p>
          <a:p>
            <a:r>
              <a:t>Folds adjacent sqrt→reciprocal dataflow to approximate reciprocal square root when enabled.</a:t>
            </a:r>
          </a:p>
          <a:p>
            <a:r>
              <a:t>Guard: Adjacent matching assignments, no self-overwrite, approximate math enabled.</a:t>
            </a:r>
          </a:p>
          <a:p>
            <a:r>
              <a:t>Source: compiler/transforms.py</a:t>
            </a:r>
          </a:p>
          <a:p/>
          <a:p>
            <a:r>
              <a:t>P25. Dead atomic-result elimination</a:t>
            </a:r>
          </a:p>
          <a:p>
            <a:r>
              <a:t>Changes unused-result atomic add to PTX reduction while retaining recognized predicate/order/scope qualifiers.</a:t>
            </a:r>
          </a:p>
          <a:p>
            <a:r>
              <a:t>Guard: Recognized FP32 global-add form and no later destination-register use.</a:t>
            </a:r>
          </a:p>
          <a:p>
            <a:r>
              <a:t>Source: compiler/ptx.py</a:t>
            </a:r>
          </a:p>
          <a:p/>
          <a:p>
            <a:r>
              <a:t>P26. Fixed block contract</a:t>
            </a:r>
          </a:p>
          <a:p>
            <a:r>
              <a:t>Changes `.maxntid` to `.reqntid` for the launch's fixed thread dimensions.</a:t>
            </a:r>
          </a:p>
          <a:p>
            <a:r>
              <a:t>Guard: Recognized maxntid directive and the compiler’s fixed-launch contract.</a:t>
            </a:r>
          </a:p>
          <a:p>
            <a:r>
              <a:t>Source: compiler/ptx.py</a:t>
            </a:r>
          </a:p>
          <a:p/>
          <a:p>
            <a:r>
              <a:t>P27. Approximate division cleanup</a:t>
            </a:r>
          </a:p>
          <a:p>
            <a:r>
              <a:t>Selects approximate division lowering only when the corresponding math option is enabled.</a:t>
            </a:r>
          </a:p>
          <a:p>
            <a:r>
              <a:t>Guard: approximate_math enabled and an exact div.rn.f32 opcode match.</a:t>
            </a:r>
          </a:p>
          <a:p>
            <a:r>
              <a:t>Source: compiler/ptx.py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9100"/>
            <a:ext cx="304800" cy="44450"/>
          </a:xfrm>
          <a:prstGeom prst="rect">
            <a:avLst/>
          </a:prstGeom>
          <a:solidFill>
            <a:srgbClr val="5CE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400" y="336550"/>
            <a:ext cx="793750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5CE4BF"/>
                </a:solidFill>
                <a:latin typeface="DejaVu Sans"/>
              </a:rPr>
              <a:t>DEUTERON / PASS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0" y="336550"/>
            <a:ext cx="95250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250">
                <a:solidFill>
                  <a:srgbClr val="A7B8CF"/>
                </a:solidFill>
                <a:latin typeface="DejaVu Sans"/>
              </a:rPr>
              <a:t>01 / 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" y="6375400"/>
            <a:ext cx="10972800" cy="0"/>
          </a:xfrm>
          <a:prstGeom prst="line">
            <a:avLst/>
          </a:prstGeom>
          <a:ln w="12700">
            <a:solidFill>
              <a:srgbClr val="2C3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000" y="6496050"/>
            <a:ext cx="7874000" cy="2108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A7B8CF"/>
                </a:solidFill>
                <a:latin typeface="DejaVu Sans"/>
              </a:rPr>
              <a:t>Reference only · outside the three-minute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9500" y="6496050"/>
            <a:ext cx="2857500" cy="218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RTX 5090  /  SM120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71550"/>
            <a:ext cx="10795000" cy="553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b="1" sz="3300">
                <a:solidFill>
                  <a:srgbClr val="F1F5FA"/>
                </a:solidFill>
                <a:latin typeface="DejaVu Sans"/>
              </a:rPr>
              <a:t>Indexing, reuse, and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1670050"/>
            <a:ext cx="10699750" cy="271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b="0" sz="1450">
                <a:solidFill>
                  <a:srgbClr val="A7B8CF"/>
                </a:solidFill>
                <a:latin typeface="DejaVu Sans"/>
              </a:rPr>
              <a:t>Entries 1–9 of 27 · Passes, analyses, policies, and lowering mechanisms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0" y="2425700"/>
            <a:ext cx="3111500" cy="423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Symbolic index and effect</a:t>
            </a:r>
          </a:p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Prove index equivalence, stride, variable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use, and effects.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compiler/analysis.py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1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3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900" y="24257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Storage typing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Keep half storage separate from explicit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FP32 arithmetic.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compiler/storage.py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4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6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6900" y="24257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Elementwise vectorization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6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Turn scalar thread-strided loops into four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values per lane.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6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compiler/passes/vectorize.py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8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Reduction load forwarding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Reuse reduction inputs in registers in the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following consumer.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compiler/passes/regforward.py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3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3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Recurrence-axis reordering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3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Move score-independent tile axes into the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lane-sharing position.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compiler/passes/recurrence.py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4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Split-K grid folding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6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Merge split-K partitions into deeper per-CTA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contractions.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compiler/passes/gridfold.py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8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900" y="52324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Cooperative dot reduction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Share a repeated dot product across a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power-of-two lane group.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compiler/transforms.py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1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3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3900" y="52324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Coalesced sum/square reduction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3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Coalesce sum/square loads and pipeline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long register reductions.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3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compiler/transforms.py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4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6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6900" y="52324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Small-tree elimination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6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Replace small shared reduction trees with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direct loads and adds.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6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compiler/passes/tailtree.py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9100"/>
            <a:ext cx="304800" cy="44450"/>
          </a:xfrm>
          <a:prstGeom prst="rect">
            <a:avLst/>
          </a:prstGeom>
          <a:solidFill>
            <a:srgbClr val="5CE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400" y="336550"/>
            <a:ext cx="793750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5CE4BF"/>
                </a:solidFill>
                <a:latin typeface="DejaVu Sans"/>
              </a:rPr>
              <a:t>DEUTERON / PASS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0" y="336550"/>
            <a:ext cx="95250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250">
                <a:solidFill>
                  <a:srgbClr val="A7B8CF"/>
                </a:solidFill>
                <a:latin typeface="DejaVu Sans"/>
              </a:rPr>
              <a:t>02 / 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" y="6375400"/>
            <a:ext cx="10972800" cy="0"/>
          </a:xfrm>
          <a:prstGeom prst="line">
            <a:avLst/>
          </a:prstGeom>
          <a:ln w="12700">
            <a:solidFill>
              <a:srgbClr val="2C3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000" y="6496050"/>
            <a:ext cx="7874000" cy="2108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A7B8CF"/>
                </a:solidFill>
                <a:latin typeface="DejaVu Sans"/>
              </a:rPr>
              <a:t>Reference only · outside the three-minute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9500" y="6496050"/>
            <a:ext cx="2857500" cy="218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RTX 5090  /  SM120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71550"/>
            <a:ext cx="10795000" cy="553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b="1" sz="3300">
                <a:solidFill>
                  <a:srgbClr val="F1F5FA"/>
                </a:solidFill>
                <a:latin typeface="DejaVu Sans"/>
              </a:rPr>
              <a:t>Tensor and recurrence mechanisms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1670050"/>
            <a:ext cx="10699750" cy="271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b="0" sz="1450">
                <a:solidFill>
                  <a:srgbClr val="A7B8CF"/>
                </a:solidFill>
                <a:latin typeface="DejaVu Sans"/>
              </a:rPr>
              <a:t>Entries 10–18 of 27 · Passes, analyses, policies, and lowering mechanisms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0" y="24257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Warp tree specialization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Let warp 0 finish a warp-partial tree and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broadcast the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compiler/codegen/lower.py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1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3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900" y="24257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Contraction tensorization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Recognize dense shared-memory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contractions for compensated MMA.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compiler/passes/contraction.py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4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6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6900" y="24257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Tensor shared-memory 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6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Match tensor producers and consumers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with bank-aware layouts.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6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compiler/codegen/tensor.py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8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Packed register staging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Replace a certified copy ring with register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prefetch and packed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compiler/passes/regstage.py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3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3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Tensor fragment pipelining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3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Load the next MMA fragment before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consuming the current fragment.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compiler/codegen/tensor.py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4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Pipeline drain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6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Skip the final unused prefetch and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consumer barrier.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compiler/passes/regstage.py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8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900" y="52324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Staged online recurrence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Stage recognized score/max/mass/value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recurrences into GPU phases.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compiler/passes/recurrence.py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1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3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3900" y="5232400"/>
            <a:ext cx="3111500" cy="423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Blocked recurrence loads and</a:t>
            </a:r>
          </a:p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address hoisting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3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Group contiguous key rounds and hoist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affine value addresses.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3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compiler/passes/recurrence.py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4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6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6900" y="5232400"/>
            <a:ext cx="3111500" cy="423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Warp-distributed vector PV</a:t>
            </a:r>
          </a:p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reduction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6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Distribute PV keys across four groups and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vectorize four columns.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6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compiler/passes/recurrence.py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9100"/>
            <a:ext cx="304800" cy="44450"/>
          </a:xfrm>
          <a:prstGeom prst="rect">
            <a:avLst/>
          </a:prstGeom>
          <a:solidFill>
            <a:srgbClr val="5CE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1400" y="336550"/>
            <a:ext cx="793750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1" sz="1250">
                <a:solidFill>
                  <a:srgbClr val="5CE4BF"/>
                </a:solidFill>
                <a:latin typeface="DejaVu Sans"/>
              </a:rPr>
              <a:t>DEUTERON / PASS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0" y="336550"/>
            <a:ext cx="95250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250">
                <a:solidFill>
                  <a:srgbClr val="A7B8CF"/>
                </a:solidFill>
                <a:latin typeface="DejaVu Sans"/>
              </a:rPr>
              <a:t>03 / 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" y="6375400"/>
            <a:ext cx="10972800" cy="0"/>
          </a:xfrm>
          <a:prstGeom prst="line">
            <a:avLst/>
          </a:prstGeom>
          <a:ln w="12700">
            <a:solidFill>
              <a:srgbClr val="2C3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000" y="6496050"/>
            <a:ext cx="7874000" cy="2108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A7B8CF"/>
                </a:solidFill>
                <a:latin typeface="DejaVu Sans"/>
              </a:rPr>
              <a:t>Reference only · outside the three-minute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9500" y="6496050"/>
            <a:ext cx="2857500" cy="2184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RTX 5090  /  SM120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71550"/>
            <a:ext cx="10795000" cy="553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b="1" sz="3300">
                <a:solidFill>
                  <a:srgbClr val="F1F5FA"/>
                </a:solidFill>
                <a:latin typeface="DejaVu Sans"/>
              </a:rPr>
              <a:t>Normalization and final lowering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1670050"/>
            <a:ext cx="10699750" cy="271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b="0" sz="1450">
                <a:solidFill>
                  <a:srgbClr val="A7B8CF"/>
                </a:solidFill>
                <a:latin typeface="DejaVu Sans"/>
              </a:rPr>
              <a:t>Entries 19–27 of 27 · Passes, analyses, policies, and lowering mechanisms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0" y="2425700"/>
            <a:ext cx="3111500" cy="423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Recurrence shared-storage</a:t>
            </a:r>
          </a:p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reuse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Reuse dead staged-operand storage for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shared probabilities.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compiler/passes/lifetime.py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1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3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900" y="24257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Hybrid row normalizer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Separate row maximum work from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owned-value exponentials and mass.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compiler/passes/hybrid_normalizer.py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4500" y="21399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6900" y="22415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6900" y="2425700"/>
            <a:ext cx="3111500" cy="423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Ordered hardware warp</a:t>
            </a:r>
          </a:p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maximum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6900" y="28765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Use integer warp redux for proven non-NaN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FP32 maximum.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6900" y="32575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compiler/codegen/lower.py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8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CTA/thread address factoring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Decode CTA axes and thread axes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separately.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compiler/codegen/lower.py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3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3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Loop cost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3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Choose structure-sensitive LLVM unroll and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vectorization hints.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3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compiler/transforms.py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4500" y="354330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900" y="364490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900" y="382905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Reciprocal-square-root folding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6900" y="427990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Recognize adjacent sqrt-to-reciprocal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dataflow for approximate rsqrt.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900" y="466090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compiler/transforms.py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8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900" y="52324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Dead atomic-result elimination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Use a PTX reduction when an atomic add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result is unused.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compiler/ptx.py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1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3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3900" y="52324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Fixed block contract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3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Express the fixed launch width as a PTX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block-size requirement.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3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compiler/ptx.py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64500" y="4946650"/>
            <a:ext cx="3416300" cy="1301750"/>
          </a:xfrm>
          <a:prstGeom prst="roundRect">
            <a:avLst>
              <a:gd name="adj" fmla="val 9756"/>
            </a:avLst>
          </a:prstGeom>
          <a:solidFill>
            <a:srgbClr val="14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6900" y="5048250"/>
            <a:ext cx="571500" cy="18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b="1" sz="900">
                <a:solidFill>
                  <a:srgbClr val="5CE4BF"/>
                </a:solidFill>
                <a:latin typeface="DejaVu Sans"/>
              </a:rPr>
              <a:t>P27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6900" y="5232400"/>
            <a:ext cx="3111500" cy="237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b="1" sz="1300">
                <a:solidFill>
                  <a:srgbClr val="F1F5FA"/>
                </a:solidFill>
                <a:latin typeface="DejaVu Sans"/>
              </a:rPr>
              <a:t>Approximate division cleanup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6900" y="5683250"/>
            <a:ext cx="3111500" cy="391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Select approximate FP32 division only when</a:t>
            </a:r>
          </a:p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b="0" sz="1100">
                <a:solidFill>
                  <a:srgbClr val="A7B8CF"/>
                </a:solidFill>
                <a:latin typeface="DejaVu Sans"/>
              </a:rPr>
              <a:t>enabled.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6900" y="6064250"/>
            <a:ext cx="3111500" cy="172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b="0" sz="800">
                <a:solidFill>
                  <a:srgbClr val="95B4FF"/>
                </a:solidFill>
                <a:latin typeface="Liberation Mono"/>
              </a:rPr>
              <a:t>compiler/ptx.py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Deuteron — complete pass reference</dc:title>
  <dc:subject>Implemented compiler transformations and verified RTX 5090 measurements</dc:subject>
  <dc:creator>Deuteron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